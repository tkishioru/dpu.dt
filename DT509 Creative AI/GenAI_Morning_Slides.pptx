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7184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แนะนำหัวข้อวันนี้: จากโมเดลที่ "ทำนาย" สู่โมเดลที่ "สร้าง"
เชื่อมต่อ: เปิดด้วยคำถาม: สัปดาห์ก่อนเราสอนให้โมเดล "ทำนาย" วันนี้จะสอนให้มัน "สร้าง"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ทบทวนสั้นๆ: NN, backprop, CNN, transfer learning จากสัปดาห์ก่อน แล้วชี้ว่า GenAI เป็นส่วนหนึ่งของ DL
เชื่อมต่อ: Generative AI เป็นส่วนย่อยของ DL ที่เรียนมา แต่เป้าหมายต่างกันอย่างไร → 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ชี้ภาพซ้าย: เส้นแบ่ง; ภาพขวา: รู้ว่าข้อมูล "แมว" กระจายตัวแบบไหน จึงสุ่มจุดใหม่ (ดาว) ที่หน้าตาเหมือนแมวได้
เชื่อมต่อ: generative ต้องรู้ว่าข้อมูลอยู่ตรงไหน (P(x)) — ประโยคนี้จะกลับมาอีกครั้งในส่วนที่ 2 (latent space)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ให้โหวตยกมือ/Mentimeter เก็บคำตอบไว้ เฉลยในหัวข้อ Hallucination (ส่วนใหญ่คำตอบที่เหมาะคือ B)
เชื่อมต่อ: เก็บคำตอบไว้ จะกลับมาในส่วนที่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เริ่มจากภาพรวมก่อน แล้วค่อยเปิดดูข้างใน โดยเริ่มจากภาพ (เห็นง่าย) แล้วต่อด้วยข้อความ (ซึ่งนำไปสู่ LLM)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เมื่อรู้นิยามแล้ว ดูว่าสร้างอะไรได้บ้าง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ไล่ดูทีละประเภท เริ่มจากข้อความ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ต่อด้วยภาพ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สื่อการเรียนต้นฉบับอธิบายชื่อ DALL-E เป็นตัวย่อ ซึ่งไม่ถูกต้อง
เชื่อมต่อ: และเสียง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รวมทุกประเภทแล้ว ใช้งานจริงที่ไหนบ้าง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รู้แล้วว่าทำอะไรได้ ต่อไปเปิดดูข้างใน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ย้อนไปสไลด์ Discriminative vs Generative — generative ต้องรู้ว่าข้อมูลกระจายตัวอย่างไร ส่วนนี้คือวิธีทำจริง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ทุกโมเดลในส่วนนี้ใช้แผนที่นี้ ต่างกันแค่วิธีสร้างและเดินบนแผนที่ เริ่มจาก VAE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บ่ายนี้ Lab 4 จะสร้าง VAE ด้วย Keras บน MNIST
เชื่อมต่อ: VAE ภาพมักเบลอ ถ้าอยากได้ภาพคมมาก → GAN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GAN คมแต่เทรนยาก ปัจจุบันงานสร้างภาพส่วนใหญ่ใช้ Diffusion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ภาพสร้างได้แล้ว แต่ข้อความต่างออกไป → ส่วนที่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ส่วนนี้ยาวที่สุด ไล่ตามประวัติศาสตร์ว่าแต่ละรุ่นแก้ปัญหาของรุ่นก่อนอย่างไร จนถึง Transformer และ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ไล่ดูทีละขั้นว่าแต่ละรุ่นแก้ปัญหาอะไรของรุ่นก่อน เริ่มจาก N-gram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N-gram มองได้สั้น → ถ้าให้ neural network "จำ" ได้ล่ะ? = RNN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RNN จำได้ แต่ลืมเมื่อประโยคยาว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LSTM จำได้ไกลขึ้นแต่ยังช้า และงานแปลต้องการ "โฟกัส" คำที่เกี่ยวข้อง → 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ถ้า attention ช่วยได้ขนาดนี้ ตัด RNN ทิ้งไปเลยได้ไหม? → Transformer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โครงของ Transformer ต้นฉบับ → 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Encoder = อ่านให้เข้าใจ · Decoder = เขียนทีละคำ (มองได้แค่คำก่อนหน้า + หันไปดู encoder) · ออกแบบมาเพื่อแปลภาษา
เชื่อมต่อ: นี่คือ seq2seq + attention จากสไลด์ก่อน แต่ตัด RNN ทิ้ง ต่อไปจะซูมเข้าไปดูว่าข้างในแต่ละกล่องทำอะไร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ซูมทีละขั้น เริ่มจาก ① 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token id = เลขบรรทัดในตาราง (ไม่มีความหมาย) · แถวที่ดึงออกมา = เวกเตอร์ความหมาย (ได้จากการเทรน)
เชื่อมต่อ: ตอนนี้ทุกคำกลายเป็นเวกเตอร์แล้ว แต่ยังไม่รู้บริบท เช่น bank แปลว่าอะไร → ขั้น ③ self-attention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ทำไม attention ถึงสำคัญ เทียบกับ CNN ที่เรียนมา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Conv และ Dense ใช้น้ำหนักตายตัวหลังเทรน · Attention คำนวณน้ำหนักใหม่ทุกครั้งจากประโยคที่เข้ามา → "bank" จึงแปลต่างกันตามบริบท
เชื่อมต่อ: attention เป็นส่วนที่ใหม่ แต่ทุกชิ้นที่เหลือคือของที่เรียนสัปดาห์ก่อน (สไลด์ถัดไป)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โครงเหมือน CNN: body สกัด feature + head ตัดสินใจ · ทุกกล่องสีม่วงคือ Dense · ทั้งหมดเทรนพร้อมกันด้วย backprop
เชื่อมต่อ: สถาปัตยกรรมนี้ถูกนำไปแยกใช้เป็น 3 สาย → 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GPT ตัดเหลือ decoder (เขียนต่อ) · BERT ตัดเหลือ encoder (เข้าใจ) · T5/BART ใช้ทั้งคู่ (แปล/สรุป)
เชื่อมต่อ: สามสายนี้ต่างกันที่ body และ head → 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หมายเหตุ: BERT = encoder-only (วิดีโอต้นฉบับอธิบายสลับกัน) · "head" ตรงนี้คนละเรื่องกับ multi-head attention
เชื่อมต่อ: LLM แชตส่วนใหญ่อยู่สาย decoder แบบ GPT → ดูชื่อ GPT และวิธีที่มันสร้างข้อความ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GPT สร้างข้อความอย่างไร → ทีละ token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ย้ำประเด็นนี้ให้ชัด จะถูกใช้อีกครั้งในหัวข้อ hallucination และ Lab temperature ช่วงบ่าย
เชื่อมต่อ: แล้ว "Large" ใน LLM หมายถึงอะไร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ใหญ่ขึ้นในทางไหนบ้าง → ภาพถัดไป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ใหญ่ขึ้นแล้วต่างกันอย่างไร → ลองใส่ข้อมูลเดียวกันเข้าไปดู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สาระสำคัญ: ใหญ่ขึ้น = เก็บความรู้ได้มากขึ้น + คิดได้หลายขั้นขึ้น · แลกกับต้นทุนการเทรนและการใช้งานที่สูงขึ้นมาก
เชื่อมต่อ: ขนาดอย่างเดียวยังได้แค่ base model ที่เขียนต่อเก่ง ต้อง "ฝึก" ต่อ → ส่วนถัดไป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หลักการเดียวกับ transfer learning ของ CNN ตัวอย่างการใช้งานจริง → 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fine-tune ที่สำคัญที่สุดคือสอนให้ "ทำตามคำสั่ง"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ChatGPT ไปไกลกว่า instruction tuning อีกขั้น คือ RLHF → 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RLHF สร้าง ChatGPT อย่างไร → 4 ขั้น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ขั้น 4 คือ reinforcement learning · ต่อไปสรุปทุกสถาปัตยกรรมที่เรียนมา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ใช้ตารางนี้ตอบโจทย์วิดีโอตอนเปิดส่วนที่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ถึงตรงนี้เรารู้ว่า LLM ทำงานอย่างไร แต่มันผิดได้ไหม? → ส่วนที่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ย้อนไปโจทย์สรุปผลตรวจคนไข้ตอนเปิดคาบ เราจะกลับมาโหวตอีกครั้งในส่วนนี้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ทำไมถึงเกิด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ผลกระทบคืออะไร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โหวตใหม่ แล้วดูวิธีป้องกัน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ข้อที่ผู้ใช้ทำได้ทันทีคือใส่ context ดูตัวอย่าง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ตัวอย่างเป็นเรื่องสมมติ ศ.สมชาย ไม่ใช่บุคคลจริง; บอกว่าสัปดาห์หน้าจะลงลึก RAG
เชื่อมต่อ: ต่อยอดเป็น RAG ในสัปดาห์หน้า · ต่อไปดูเครื่องมือที่ใช้ทำทั้งหมดนี้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บ่ายนี้เราใช้ Hugging Face เป็นหลัก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เชื่อมต่อ: สรุปวันนี้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Generative AI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 โมเดล และ Large Language Models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ดร.ธีรพงศ์ อรชร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3886200"/>
            <a:ext cx="347472" cy="347472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4023360"/>
            <a:ext cx="347472" cy="347472"/>
          </a:xfrm>
          <a:prstGeom prst="ellipse">
            <a:avLst/>
          </a:prstGeom>
          <a:solidFill>
            <a:srgbClr val="1FA398"/>
          </a:solidFill>
          <a:ln w="12700">
            <a:solidFill>
              <a:srgbClr val="1FA3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0" y="3886200"/>
            <a:ext cx="347472" cy="347472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4023360"/>
            <a:ext cx="347472" cy="34747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เปิดคาบ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จากสัปดาห์ก่อน สู่วันนี้</a:t>
            </a:r>
            <a:endParaRPr lang="en-US" sz="2600" dirty="0"/>
          </a:p>
        </p:txBody>
      </p:sp>
      <p:pic>
        <p:nvPicPr>
          <p:cNvPr id="6" name="Image 0" descr="/tmp/claude-0/genai/figs/f01_ai_ml_dl_gen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33625"/>
            <a:ext cx="4572000" cy="296778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32588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636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5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Machine Learning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เรียนรู้รูปแบบจากข้อมูล แทนการเขียนกฎเอง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029200" y="246888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66360" y="2560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5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Neural network หลายชั้น เรียนรู้ feature เองได้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029200" y="3611880"/>
            <a:ext cx="3657600" cy="1005840"/>
          </a:xfrm>
          <a:prstGeom prst="roundRect">
            <a:avLst>
              <a:gd name="adj" fmla="val 10909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66360" y="3703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Generative AI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 learning ที่ "สร้างข้อมูลใหม่" ได้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เปิดคาบ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Discriminative vs Generative</a:t>
            </a:r>
            <a:endParaRPr lang="en-US" sz="2600" dirty="0"/>
          </a:p>
        </p:txBody>
      </p:sp>
      <p:pic>
        <p:nvPicPr>
          <p:cNvPr id="6" name="Image 0" descr="/tmp/claude-0/genai/figs/f02_disc_vs_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16" y="1234440"/>
            <a:ext cx="7386568" cy="3291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โมเดลที่เรียนสัปดาห์ก่อน (เช่น CNN จำแนกภาพ) เป็นแบบ Discriminative — วันนี้เราจะเรียนแบบ Generative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เปิดคาบ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โจทย์: ให้ AI สรุปผลตรวจคนไข้เป็นภาษาที่อ่านง่าย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สถานการณ์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ทีมโรงพยาบาลอยากใช้ Generative AI สรุปผลตรวจเลือด เอ็กซเรย์ และบันทึกแพทย์ ให้คนไข้อ่านเข้าใจได้ง่าย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FA3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880360"/>
            <a:ext cx="457200" cy="457200"/>
          </a:xfrm>
          <a:prstGeom prst="ellipse">
            <a:avLst/>
          </a:prstGeom>
          <a:solidFill>
            <a:srgbClr val="1FA398"/>
          </a:solidFill>
          <a:ln w="12700">
            <a:solidFill>
              <a:srgbClr val="1FA39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ทำได้เลย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เก่งเรื่องสรุปความอยู่แล้ว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264408" y="2743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F4B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1568" y="2880360"/>
            <a:ext cx="457200" cy="45720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1568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ทำได้ แต่ต้องมีคนตรวจ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ต้องมีแพทย์ทวนก่อนส่งให้คนไข้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71616" y="274320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08776" y="2880360"/>
            <a:ext cx="457200" cy="45720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08776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08776" y="34290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ยังไม่ควรทำ</a:t>
            </a:r>
            <a:endParaRPr lang="en-US" sz="1450" dirty="0"/>
          </a:p>
          <a:p>
            <a:pPr marL="0" indent="0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ความเสี่ยงสูงเกินไป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480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ให้นักศึกษาโหวต แล้วเก็บคำตอบไว้ — เราจะกลับมาดูอีกครั้งตอนเรื่อง Hallucination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28930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เปิดคาบ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เส้นทางของวันนี้: 5 ส่วน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261872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126187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Generative AI คืออะไร   </a:t>
            </a: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สร้างอะไรได้ ใช้ที่ไหน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502920" cy="502920"/>
          </a:xfrm>
          <a:prstGeom prst="ellipse">
            <a:avLst/>
          </a:prstGeom>
          <a:solidFill>
            <a:srgbClr val="1FA398"/>
          </a:solidFill>
          <a:ln w="12700">
            <a:solidFill>
              <a:srgbClr val="1FA39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7280" y="1920240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192024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โมเดลสร้างภาพ   </a:t>
            </a: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VAE, GAN, Diffusion สร้างภาพใหม่ได้อย่างไร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502920" cy="50292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7280" y="2578608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257860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โมเดลสร้างข้อความ   </a:t>
            </a: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RNN → Transformer → LLM → ChatGPT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502920" cy="5029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3236976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34440" y="323697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Hallucination   </a:t>
            </a: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 LLM ตอบผิดอย่างมั่นใจ แก้อย่างไร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502920" cy="502920"/>
          </a:xfrm>
          <a:prstGeom prst="ellipse">
            <a:avLst/>
          </a:prstGeom>
          <a:solidFill>
            <a:srgbClr val="1FA398"/>
          </a:solidFill>
          <a:ln w="12700">
            <a:solidFill>
              <a:srgbClr val="1FA39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3895344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34440" y="389534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   </a:t>
            </a: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ของที่เราจะใช้ใน Colab บ่ายนี้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เส้นเรื่อง: ส่วน 2–3 ตอบว่า "ข้างในทำงานอย่างไร" · ส่วน 4 ตอบว่า "ระวังอะไร" · บ่ายนี้ลงมือทำจริง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Generative AI คืออะไร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 Generative AI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"Deep learning models ที่สร้างเนื้อหาคุณภาพสูง เช่น ข้อความ ภาพ และเนื้อหาอื่นๆ จากข้อมูลที่ใช้ฝึก"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เรียนรู้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ดูข้อมูลจำนวนมาก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(ภาพ ข้อความ เสียง)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จับรูปแบบ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เข้าใจโครงสร้างและ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รูปแบบที่ซ่อนอยู่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7432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26480" y="233172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สร้างใหม่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ผลิตเนื้อหาใหม่</a:t>
            </a:r>
            <a:endParaRPr lang="en-US" sz="17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ที่ไม่ซ้ำของเดิม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เปรียบเทียบ: เหมือนศิลปินที่ดูภาพวาดมามากมาย จับสไตล์ได้ แล้ววาดผลงานใหม่ของตัวเอง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Generative AI คืออะไร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Generative AI สร้างอะไรได้บ้าง</a:t>
            </a:r>
            <a:endParaRPr lang="en-US" sz="2600" dirty="0"/>
          </a:p>
        </p:txBody>
      </p:sp>
      <p:pic>
        <p:nvPicPr>
          <p:cNvPr id="6" name="Image 0" descr="/tmp/claude-0/genai/figs/f03_content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" y="1371600"/>
            <a:ext cx="8060436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วันนี้เจาะลึก 2 กลุ่ม: ภาพ (ส่วนที่ 2) และข้อความ (ส่วนที่ 3) — ซึ่งนำไปสู่ LLM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Generative AI คืออะไร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การสร้างข้อความ (Text Generation)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เข้าใจบริบทและความสัมพันธ์ระหว่างคำ/วลี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สร้างข้อความที่สอดคล้องกับบริบท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ตัวอย่างโมเดล: GPT (Generative Pre-trained Transformer)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9160" y="14173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แต่งเรื่องต่อ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Input: "หุ่นยนต์ตัวหนึ่งตื่นขึ้นมากลางดึก..."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Output: "...มันได้ยินเสียงเปียโนจากห้องข้างๆ"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572000" y="297180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3063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5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แปลภาษา (คงน้ำเสียงเดิม)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"Could you kindly send me the file?"</a:t>
            </a:r>
            <a:endParaRPr lang="en-US" sz="15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"รบกวนส่งไฟล์ให้หน่อยได้ไหมคะ"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Generative AI คืออะไร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การสร้างภาพ (Image Generation)</a:t>
            </a:r>
            <a:endParaRPr lang="en-US" sz="2600" dirty="0"/>
          </a:p>
        </p:txBody>
      </p:sp>
      <p:pic>
        <p:nvPicPr>
          <p:cNvPr id="6" name="Image 0" descr="/tmp/claude-0/genai/figs/f04_image_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36423"/>
            <a:ext cx="5760720" cy="23049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280160"/>
            <a:ext cx="2377440" cy="1600200"/>
          </a:xfrm>
          <a:prstGeom prst="roundRect">
            <a:avLst>
              <a:gd name="adj" fmla="val 6857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37160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รู้หรือไม่?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 DALL-E มาจาก Salvador Dalí + WALL-E (ไม่ได้เป็นตัวย่อ)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3017520"/>
            <a:ext cx="2377440" cy="1463040"/>
          </a:xfrm>
          <a:prstGeom prst="roundRect">
            <a:avLst>
              <a:gd name="adj" fmla="val 75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310896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Deepfake: ภาพ/วิดีโอปลอมที่สมจริง ใช้หลอกลวงได้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Generative AI คืออะไร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การสร้างเสียง (Audio Generation)</a:t>
            </a:r>
            <a:endParaRPr lang="en-US" sz="2600" dirty="0"/>
          </a:p>
        </p:txBody>
      </p:sp>
      <p:pic>
        <p:nvPicPr>
          <p:cNvPr id="6" name="Image 0" descr="/tmp/claude-0/genai/figs/f25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55" y="1280160"/>
            <a:ext cx="5073850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60720" y="1371600"/>
            <a:ext cx="30175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สร้างเสียงพูดที่ฟังเป็นธรรมชาติ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Text-to-Speech: แปลงข้อความเป็นเสียง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ตัวอย่างโมเดล: WaveNet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การใช้งาน: ผู้ช่วยเสียง หนังสือเสียง พากย์วิดีโอ ระบบตอบรับอัตโนมัติ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379976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379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1 · Generative AI คืออะไร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Generative AI ถูกใช้ที่ไหนบ้าง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1F1B3A"/>
          </a:solidFill>
          <a:ln w="12700">
            <a:solidFill>
              <a:srgbClr val="1F1B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459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$1.3T</a:t>
            </a:r>
            <a:endParaRPr lang="en-US" sz="40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มูลค่าตลาดที่คาดการณ์ภายในปี 2032</a:t>
            </a:r>
            <a:endParaRPr lang="en-US" sz="4000" dirty="0"/>
          </a:p>
          <a:p>
            <a:pPr marL="0" indent="0">
              <a:buNone/>
            </a:pPr>
            <a:r>
              <a:rPr lang="en-US" sz="1000" dirty="0">
                <a:solidFill>
                  <a:srgbClr val="A9A5C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Bloomberg Intelligence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291840" y="1325880"/>
            <a:ext cx="5394960" cy="685800"/>
          </a:xfrm>
          <a:prstGeom prst="roundRect">
            <a:avLst>
              <a:gd name="adj" fmla="val 16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17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งานทั่วไป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สร้างคอนเทนต์ · สรุปเอกสาร · แปลภาษา · Chatbot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1488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การแพทย์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วิเคราะห์ภาพทางการแพทย์ เขียนรายงานคนไข้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1488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2240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การเงิน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พยากรณ์จากข้อมูลการเงินขนาดใหญ่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33832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2900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เนื้อเรื่องและตัวละครที่เปลี่ยนตามผู้เล่น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35040" y="33832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474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IT / Data</a:t>
            </a:r>
            <a:endParaRPr lang="en-US" sz="14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synthetic data มาเทรนโมเดล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โมเดลสร้างภาพ: VAE · GAN · Diffusion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จากส่วนที่แล้ว: </a:t>
            </a:r>
            <a:r>
              <a:rPr lang="en-US" sz="13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เรารู้แล้วว่า GenAI สร้างข้อความ ภาพ เสียงได้ ต่อไปดูว่า "ข้างใน" ทำงานอย่างไร เริ่มจากภาพเพราะมองเห็นง่ายที่สุด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8046720" cy="1737360"/>
          </a:xfrm>
          <a:prstGeom prst="roundRect">
            <a:avLst>
              <a:gd name="adj" fmla="val 6316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คำถามของส่วนนี้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ถ้าเราสอนให้คอมพิวเตอร์ "รู้ว่าภาพแมวหน้าตาแบบไหน" แล้ว เราจะให้มันวาดภาพแมวตัวใหม่ได้อย่างไร?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(โจทย์ท้ายวัน: ถ้าต้องสร้าง "วิดีโอจากข้อความ" จะใช้โมเดลอะไร)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 · โมเดลสร้างภาพ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Latent Space: "แผนที่" ของข้อมูล</a:t>
            </a:r>
            <a:endParaRPr lang="en-US" sz="2600" dirty="0"/>
          </a:p>
        </p:txBody>
      </p:sp>
      <p:pic>
        <p:nvPicPr>
          <p:cNvPr id="6" name="Image 0" descr="/tmp/claude-0/genai/figs/f05_latent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608" y="1188720"/>
            <a:ext cx="3052544" cy="3611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754880" y="1325880"/>
            <a:ext cx="393192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 1 ภาพมีหลายแสนพิกเซล แต่ "สาระ" ของภาพอธิบายได้ด้วยตัวเลขไม่กี่ตัว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Latent space = พื้นที่ของตัวเลขชุดย่อนั้น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จุดที่อยู่ใกล้กัน = ข้อมูลที่หน้าตาคล้ายกัน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หยิบจุดใหม่บนแผนที่ → ได้ข้อมูลใหม่ = หัวใจของการ "สร้าง"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VAE, GAN, Diffusion ล้วนใช้แนวคิดนี้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 · โมเดลสร้างภาพ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Autoencoder → VAE</a:t>
            </a:r>
            <a:endParaRPr lang="en-US" sz="2600" dirty="0"/>
          </a:p>
        </p:txBody>
      </p:sp>
      <p:pic>
        <p:nvPicPr>
          <p:cNvPr id="6" name="Image 0" descr="/tmp/claude-0/genai/figs/f15_ae_v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289"/>
            <a:ext cx="5669280" cy="310958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0" y="1325880"/>
            <a:ext cx="256032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 บีบข้อมูลลง latent space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Decoder ขยายกลับเป็นข้อมูล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 เก็บ latent เป็น "ช่วง" (μ, σ) จึงสุ่มได้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ได้ผลลัพธ์หลากหลายจาก input เดียว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ใช้ในงานศิลปะ ออกแบบ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 · โมเดลสร้างภาพ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 (Generative Adversarial Network)</a:t>
            </a:r>
            <a:endParaRPr lang="en-US" sz="2600" dirty="0"/>
          </a:p>
        </p:txBody>
      </p:sp>
      <p:pic>
        <p:nvPicPr>
          <p:cNvPr id="6" name="Image 0" descr="/tmp/claude-0/genai/figs/f16_g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1899"/>
            <a:ext cx="5486400" cy="29283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0" y="1325880"/>
            <a:ext cx="274320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Generator: สร้างของปลอมจาก noise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Discriminator: แยกของจริงกับของปลอม และให้คะแนน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แข่งกันจน generator เก่งมาก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เด่นด้าน: ภาพและวิดีโอที่สมจริง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2 · โมเดลสร้างภาพ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Diffusion Model</a:t>
            </a:r>
            <a:endParaRPr lang="en-US" sz="2600" dirty="0"/>
          </a:p>
        </p:txBody>
      </p:sp>
      <p:pic>
        <p:nvPicPr>
          <p:cNvPr id="6" name="Image 0" descr="/tmp/claude-0/genai/figs/f17_dif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0" y="1188720"/>
            <a:ext cx="7533861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70332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เรียนรู้ "การลบ noise" จากภาพที่ถูกทำลาย แล้วใช้สร้างภาพใหม่จาก noise ล้วน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663440" y="370332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ตัวอย่างการใช้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สร้างภาพจากพรอมต์ · ซ่อมภาพเก่าที่เสียหายให้คมชัด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โมเดลสร้างข้อความ: จาก RNN สู่ LLM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จากส่วนที่แล้ว: </a:t>
            </a:r>
            <a:r>
              <a:rPr lang="en-US" sz="13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ภาพสร้างจาก latent space ได้ แต่ภาษาต่างออกไป: คำมี "ลำดับ" และความหมายขึ้นกับ "บริบท" จึงต้องใช้สถาปัตยกรรมอีกสายหนึ่ง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8046720" cy="1737360"/>
          </a:xfrm>
          <a:prstGeom prst="roundRect">
            <a:avLst>
              <a:gd name="adj" fmla="val 6316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คำถามของส่วนนี้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ธนาคารต้องการ virtual assistant ที่คุยกับลูกค้าเป็นภาษาธรรมชาติ — ต้อง "เข้าใจคำถาม · ตอบเป็นธรรมชาติ · จำบริบท · ไม่ให้ข้อมูลผิด" โมเดลแบบไหนทำได้?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904488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โมเดลสร้างข้อความ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วิวัฒนาการของ NLP</a:t>
            </a:r>
            <a:endParaRPr lang="en-US" sz="2600" dirty="0"/>
          </a:p>
        </p:txBody>
      </p:sp>
      <p:pic>
        <p:nvPicPr>
          <p:cNvPr id="6" name="Image 0" descr="/tmp/claude-0/genai/figs/f18_nlp_evol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39" y="1234440"/>
            <a:ext cx="8110923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สไลด์ถัดไป: ไล่ดูทีละรุ่น N-gram → RNN → LSTM → Attention → Transformer ว่าแต่ละรุ่นแก้ปัญหาอะไร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904488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โมเดลสร้างข้อความ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จุดเริ่มต้น: N-gram Language Model</a:t>
            </a:r>
            <a:endParaRPr lang="en-US" sz="2600" dirty="0"/>
          </a:p>
        </p:txBody>
      </p:sp>
      <p:pic>
        <p:nvPicPr>
          <p:cNvPr id="6" name="Image 0" descr="/tmp/claude-0/genai/figs/f06_n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94029"/>
            <a:ext cx="5303520" cy="29897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1371600"/>
            <a:ext cx="292608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นับสถิติว่าคำไหนมักตามหลังคำไหน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ทำนายคำถัดไปจาก N-1 คำก่อนหน้า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ข้อจำกัด: มองบริบทได้สั้นมาก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ไม่เข้าใจความหมาย แค่นับความถี่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904488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โมเดลสร้างข้อความ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RNN: Neural Network ที่มี "ความจำ"</a:t>
            </a:r>
            <a:endParaRPr lang="en-US" sz="2600" dirty="0"/>
          </a:p>
        </p:txBody>
      </p:sp>
      <p:pic>
        <p:nvPicPr>
          <p:cNvPr id="6" name="Image 0" descr="/tmp/claude-0/genai/figs/f07_rnn_unrol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35914"/>
            <a:ext cx="5394960" cy="21573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1325880"/>
            <a:ext cx="28346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loop ส่ง hidden state ต่อไปทุกขั้น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hidden state = สรุปทุกอย่างที่อ่านมาแล้ว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เหมาะกับข้อมูลที่มีลำดับ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93192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40233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ใช้กับ</a:t>
            </a:r>
            <a:endParaRPr lang="en-US" sz="13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NLP · แปลภาษา · รู้จำเสียงพูด · บรรยายภาพ (image captioning) · ข้อมูล time series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904488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โมเดลสร้างข้อความ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ปัญหาของ RNN → LSTM / GRU</a:t>
            </a:r>
            <a:endParaRPr lang="en-US" sz="2600" dirty="0"/>
          </a:p>
        </p:txBody>
      </p:sp>
      <p:pic>
        <p:nvPicPr>
          <p:cNvPr id="6" name="Image 0" descr="/tmp/claude-0/genai/figs/f08_lstm_g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66" y="1188720"/>
            <a:ext cx="6170669" cy="29260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LSTM/GRU จำได้ไกลขึ้น แต่ยังต้องอ่าน "ทีละคำ" → เทรนช้า ขยายขนาดยาก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904488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โมเดลสร้างข้อความ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Seq2seq + Attention</a:t>
            </a:r>
            <a:endParaRPr lang="en-US" sz="2600" dirty="0"/>
          </a:p>
        </p:txBody>
      </p:sp>
      <p:pic>
        <p:nvPicPr>
          <p:cNvPr id="6" name="Image 0" descr="/tmp/claude-0/genai/figs/f09_seq2seq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23595"/>
            <a:ext cx="5303520" cy="25477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1325880"/>
            <a:ext cx="29260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Encoder อ่านประโยคต้นทาง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Decoder เขียนประโยคปลายทางทีละคำ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Attention: ทุกครั้งที่เขียน ให้ "หันกลับไปดู" คำต้นทางที่เกี่ยวข้อง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ทำให้การแปลภาษาแม่นขึ้นมาก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904488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โมเดลสร้างข้อความ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Transformer (2017): Attention Is All You Need</a:t>
            </a:r>
            <a:endParaRPr lang="en-US" sz="2200" dirty="0"/>
          </a:p>
        </p:txBody>
      </p:sp>
      <p:pic>
        <p:nvPicPr>
          <p:cNvPr id="6" name="Image 0" descr="/tmp/claude-0/genai/figs/f10_seq_vs_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8327"/>
            <a:ext cx="5212080" cy="21611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7880" y="1234440"/>
            <a:ext cx="2788920" cy="1463040"/>
          </a:xfrm>
          <a:prstGeom prst="roundRect">
            <a:avLst>
              <a:gd name="adj" fmla="val 75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3258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ความคิดหลัก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 RNN ทิ้ง ใช้ attention อย่างเดียว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97880" y="2834640"/>
            <a:ext cx="2788920" cy="1463040"/>
          </a:xfrm>
          <a:prstGeom prst="roundRect">
            <a:avLst>
              <a:gd name="adj" fmla="val 75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292608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ประมวลผลขนานบน GPU → เทรนกับข้อมูลมหาศาลได้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Vaswani et al., 2017 — พื้นฐานของ GPT, BERT, T5 และ LLM แทบทุกตัวในปัจจุบัน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ข้างใน Transformer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Transformer ต้นฉบับ: Encoder + Decoder</a:t>
            </a:r>
            <a:endParaRPr lang="en-US" sz="2200" dirty="0"/>
          </a:p>
        </p:txBody>
      </p:sp>
      <p:pic>
        <p:nvPicPr>
          <p:cNvPr id="6" name="Image 0" descr="/tmp/claude-0/genai/figs/g14_encoder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112" y="1115568"/>
            <a:ext cx="6261776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ข้างใน Transformer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ข้างใน Transformer ทำอะไรบ้าง</a:t>
            </a:r>
            <a:endParaRPr lang="en-US" sz="2600" dirty="0"/>
          </a:p>
        </p:txBody>
      </p:sp>
      <p:pic>
        <p:nvPicPr>
          <p:cNvPr id="6" name="Image 0" descr="/tmp/claude-0/genai/figs/f11_transformer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39" y="1280160"/>
            <a:ext cx="8110923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บ่ายนี้เราจะได้เห็นขั้น ① Tokenization และ ② Embedding ด้วยตาตัวเองใน Colab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ข้างใน Transformer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① ②: จาก Token สู่ Vector</a:t>
            </a:r>
            <a:endParaRPr lang="en-US" sz="2600" dirty="0"/>
          </a:p>
        </p:txBody>
      </p:sp>
      <p:pic>
        <p:nvPicPr>
          <p:cNvPr id="6" name="Image 0" descr="/tmp/claude-0/genai/figs/g09_token_to_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5" y="1115568"/>
            <a:ext cx="759269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ข้างใน Transformer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Self-Attention: แต่ละคำ "มองหา" คำที่เกี่ยวข้อง</a:t>
            </a:r>
            <a:endParaRPr lang="en-US" sz="2200" dirty="0"/>
          </a:p>
        </p:txBody>
      </p:sp>
      <p:pic>
        <p:nvPicPr>
          <p:cNvPr id="6" name="Image 0" descr="/tmp/claude-0/genai/figs/f12_self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14" y="1188720"/>
            <a:ext cx="6785571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ทุกคำทำแบบนี้พร้อมกัน และทำซ้ำหลายชั้น → โมเดลเข้าใจความสัมพันธ์ในประโยคได้ลึกขึ้นเรื่อยๆ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ข้างใน Transformer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Attention ต่างจาก CNN / Dense อย่างไร</a:t>
            </a:r>
            <a:endParaRPr lang="en-US" sz="2200" dirty="0"/>
          </a:p>
        </p:txBody>
      </p:sp>
      <p:pic>
        <p:nvPicPr>
          <p:cNvPr id="6" name="Image 0" descr="/tmp/claude-0/genai/figs/g11_conv_dense_att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519086"/>
            <a:ext cx="8595360" cy="29877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402336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ข้างใน Transformer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Transformer ก็คือ Neural Network</a:t>
            </a:r>
            <a:endParaRPr lang="en-US" sz="2600" dirty="0"/>
          </a:p>
        </p:txBody>
      </p:sp>
      <p:pic>
        <p:nvPicPr>
          <p:cNvPr id="6" name="Image 0" descr="/tmp/claude-0/genai/figs/g10_transformer_is_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468" y="1115568"/>
            <a:ext cx="6471064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Transformer ต้นฉบับ แตกเป็น 3 สาย</a:t>
            </a:r>
            <a:endParaRPr lang="en-US" sz="2200" dirty="0"/>
          </a:p>
        </p:txBody>
      </p:sp>
      <p:pic>
        <p:nvPicPr>
          <p:cNvPr id="6" name="Image 0" descr="/tmp/claude-0/genai/figs/g16_family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462" y="1115568"/>
            <a:ext cx="8233076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Body + Head ของแต่ละสาย</a:t>
            </a:r>
            <a:endParaRPr lang="en-US" sz="2600" dirty="0"/>
          </a:p>
        </p:txBody>
      </p:sp>
      <p:pic>
        <p:nvPicPr>
          <p:cNvPr id="6" name="Image 0" descr="/tmp/claude-0/genai/figs/g15_body_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560" y="1115568"/>
            <a:ext cx="6312879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GPT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Generative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สร้างข้อความใหม่ได้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64408" y="1463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Pre-trained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ฝึกล่วงหน้าด้วยข้อความมหาศาล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71616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71616" y="14630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208776" y="246888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Transformer</a:t>
            </a:r>
            <a:endParaRPr lang="en-US" sz="160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ใช้สถาปัตยกรรม Transformer (decoder)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GPT เรียนรู้รูปแบบจากข้อมูล แล้วทำนาย/สร้างข้อความต่อ และ fine-tune ไปใช้งานอื่นได้หลากหลาย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Decoder สร้างข้อความทีละ Token</a:t>
            </a:r>
            <a:endParaRPr lang="en-US" sz="2600" dirty="0"/>
          </a:p>
        </p:txBody>
      </p:sp>
      <p:pic>
        <p:nvPicPr>
          <p:cNvPr id="6" name="Image 0" descr="/tmp/claude-0/genai/figs/f13_next_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1188720"/>
            <a:ext cx="81076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Large Language Model (LLM) คืออะไร</a:t>
            </a:r>
            <a:endParaRPr lang="en-US" sz="2600" dirty="0"/>
          </a:p>
        </p:txBody>
      </p:sp>
      <p:pic>
        <p:nvPicPr>
          <p:cNvPr id="6" name="Image 0" descr="/tmp/claude-0/genai/figs/f19_llm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020328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0" y="1325880"/>
            <a:ext cx="31089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Foundation model ฝึกด้วยข้อมูลมหาศาล (เว็บไซต์ หนังสือ) ระดับ petabyte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มีพารามิเตอร์หลักพันล้าน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พารามิเตอร์ = ค่าที่กำหนดพฤติกรรมโมเดล เช่น น้ำหนักของคำ "happy" / "sad"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เก่งที่สุดในการทำนายคำถัดไป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= บล็อกเดิมซ้อนซ้ำหลายชั้น</a:t>
            </a:r>
            <a:endParaRPr lang="en-US" sz="2600" dirty="0"/>
          </a:p>
        </p:txBody>
      </p:sp>
      <p:pic>
        <p:nvPicPr>
          <p:cNvPr id="6" name="Image 0" descr="/tmp/claude-0/genai/figs/g12_llm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13" y="1115568"/>
            <a:ext cx="7115175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LLM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ข้อมูลเดียวกัน: โมเดลเล็ก vs โมเดลใหญ่</a:t>
            </a:r>
            <a:endParaRPr lang="en-US" sz="2200" dirty="0"/>
          </a:p>
        </p:txBody>
      </p:sp>
      <p:pic>
        <p:nvPicPr>
          <p:cNvPr id="6" name="Image 0" descr="/tmp/claude-0/genai/figs/g13_small_vs_b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617" y="1115568"/>
            <a:ext cx="6020767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6674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ฝึก LLM อย่างไร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Fine-tuning: ปรับโมเดลสำเร็จรูปให้เก่งงานเฉพาะ</a:t>
            </a:r>
            <a:endParaRPr lang="en-US" sz="2200" dirty="0"/>
          </a:p>
        </p:txBody>
      </p:sp>
      <p:pic>
        <p:nvPicPr>
          <p:cNvPr id="6" name="Image 0" descr="/tmp/claude-0/genai/figs/f14_finet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4642"/>
            <a:ext cx="5120640" cy="24599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123444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3258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Fine-tune RNN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อาจต้องปรับ weight และโครงสร้างเครือข่ายให้เข้ากับงาน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669280" y="2697480"/>
            <a:ext cx="3017520" cy="1325880"/>
          </a:xfrm>
          <a:prstGeom prst="roundRect">
            <a:avLst>
              <a:gd name="adj" fmla="val 8276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06440" y="278892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Fine-tune Transformer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ส่วนใหญ่ freeze ไว้ เทรนแค่ชั้นท้ายๆ ของงานนั้น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206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เชื่อมกับ Transfer Learning ที่เรียนสัปดาห์ก่อน — หลักการเดียวกัน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6674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ฝึก LLM อย่างไร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Pretrain ครั้งเดียว → Fine-tune ได้หลายงาน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Pretrained LLM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เรียนรู้ภาษาทั่วไป เช่น จัดหมวดข้อความทั่วไป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0" y="1325880"/>
            <a:ext cx="2103120" cy="1828800"/>
          </a:xfrm>
          <a:prstGeom prst="roundRect">
            <a:avLst>
              <a:gd name="adj" fmla="val 6000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4173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ข้อมูลชุดเล็ก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คำอธิบายสินค้าของร้านค้าปลีก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06440" y="1920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09360" y="132588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4173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โมเดลเฉพาะทาง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จัดสินค้าเป็นหมวด: อิเล็กทรอนิกส์ / เสื้อผ้า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9600"/>
            </a:avLst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5204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ข้อควรระวัง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เขียนได้น่าเชื่อถือในทุกเรื่อง แต่อาจ "ผิดโดยฟังดูถูก" มี bias และส่งผลต่อสังคม → หัวข้อถัดไป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6674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ฝึก LLM อย่างไร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 model vs Instruction model</a:t>
            </a:r>
            <a:endParaRPr lang="en-US" sz="26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Base model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Instruction model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ฝึกด้วย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ข้อความทั่วไป (pretraining)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base + ตัวอย่าง "คำสั่ง → คำตอบที่ดี"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มองข้อความเราว่า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ต้นเรื่องที่ต้องเขียนต่อ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คำสั่งที่ต้องทำให้เสร็จ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"Translate to German: I love cats."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→ "Translate to French: ..." (เขียนต่อ)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→ "Ich liebe Katzen."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ชื่อบน Hugging Face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Qwen2.5-0.5B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Qwen2.5-0.5B-Instruct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ในแล็บบ่ายนี้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GPT-2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FLAN-T5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base = รู้เยอะแต่ไม่รู้ว่าเราต้องการอะไร · instruction = รู้เยอะและรู้ว่าต้องทำงานให้เรา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6674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ฝึก LLM อย่างไร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GPT vs ChatGPT</a:t>
            </a:r>
            <a:endParaRPr lang="en-US" sz="2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ประเด็น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GPT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ChatGPT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เป้าหมาย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สร้างข้อความหลากหลายรูปแบบ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สร้าง "บทสนทนา"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วิธีเทรน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Supervised learning เป็นหลัก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Supervised + Reinforcement learning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Feedback จากมนุษย์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ไม่ใช้ในการเรียนรู้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 RLHF (Reinforcement Learning from Human Feedback)</a:t>
                      </a:r>
                      <a:endParaRPr lang="en-US" sz="14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97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RLHF: ให้คนให้คะแนนคำตอบ → สร้าง reward model → ใช้ปรับโมเดลให้ตอบแบบที่คนชอบ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66674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3 · ฝึก LLM อย่างไร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ChatGPT ถูกสร้างขึ้นอย่างไร</a:t>
            </a:r>
            <a:endParaRPr lang="en-US" sz="2600" dirty="0"/>
          </a:p>
        </p:txBody>
      </p:sp>
      <p:pic>
        <p:nvPicPr>
          <p:cNvPr id="6" name="Image 0" descr="/tmp/claude-0/genai/figs/f21_chatgp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13" y="1188720"/>
            <a:ext cx="7445573" cy="30175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4 คือ Reinforcement Learning: โมเดลเรียนจาก "รางวัล" ที่ได้จากกรรมการ (reward model) — GenAI ใช้ RL แบบนี้ปรับพฤติกรรม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สรุปส่วนที่ 2–3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เปรียบเทียบ 5 สถาปัตยกรรม</a:t>
            </a:r>
            <a:endParaRPr lang="en-US" sz="26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โมเดล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วิธีเทรน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จุดเด่น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งานที่เหมาะ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RNN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Loop ส่ง hidden state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ข้อมูลที่มีลำดับ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แปลภาษา, เสียง, time series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Transformer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Self-attention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บริบทยาว, เทรนขนาน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LLM, แปลภาษา, chatbot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GAN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แข่งขัน G vs D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ภาพคมและสมจริง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สร้างภาพ/วิดีโอ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VAE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Encoder–decoder + distribution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สุ่มได้หลากหลาย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ศิลปะ, ออกแบบ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5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Diffusion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เรียนลบ noise (สถิติ)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คุณภาพสูง, ตามพรอมต์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1B3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Text-to-image, ซ่อมภาพ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24028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สรุปส่วนที่ 2–3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เฉลยโจทย์: สร้างวิดีโอจากข้อความ</a:t>
            </a:r>
            <a:endParaRPr lang="en-US" sz="2600" dirty="0"/>
          </a:p>
        </p:txBody>
      </p:sp>
      <p:pic>
        <p:nvPicPr>
          <p:cNvPr id="6" name="Image 0" descr="/tmp/claude-0/genai/figs/f24_text_to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8" y="1371600"/>
            <a:ext cx="8031785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9319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35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ย้อนดูสิ่งที่เรียน</a:t>
            </a:r>
            <a:endParaRPr lang="en-US" sz="13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Transformer (ส่วนที่ 3) เข้าใจข้อความ + Diffusion (ส่วนที่ 2) สร้างภาพ → รวมกันเป็นโมเดลวิดีโอ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44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Hallucination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จากส่วนที่แล้ว: </a:t>
            </a:r>
            <a:r>
              <a:rPr lang="en-US" sz="1300" dirty="0">
                <a:solidFill>
                  <a:srgbClr val="C9C5E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เลือกคำที่ "น่าจะเป็นที่สุด" ทีละ token ตามรูปแบบที่เรียนมา — ไม่ได้ค้นหาความจริง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8046720" cy="1737360"/>
          </a:xfrm>
          <a:prstGeom prst="roundRect">
            <a:avLst>
              <a:gd name="adj" fmla="val 6316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คำถามของส่วนนี้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LLM ไม่รู้คำตอบ มันจะทำอย่างไร? และเราจะป้องกันได้อย่างไร?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4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Hallucination คืออะไร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โมเดลสร้างคำตอบที่นำเสนอว่า "ถูกต้อง" แต่มนุษย์มองว่า ไม่สมจริง ผิด ไม่เกี่ยวข้อง หรือไร้สาระ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5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คล้าย "ภาพหลอน" ของมนุษย์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1325880"/>
            <a:ext cx="4114800" cy="3200400"/>
          </a:xfrm>
          <a:prstGeom prst="roundRect">
            <a:avLst>
              <a:gd name="adj" fmla="val 3429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9160" y="141732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กรณีจริง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ChatGPT อ้างว่านายกเทศมนตรีคนหนึ่งในออสเตรเลีย "ถูกตัดสินจำคุกคดีสินบน"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ความจริง: เขาเป็นคนแจ้งเบาะแสคดีสินบนต่อเจ้าหน้าที่</a:t>
            </a: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endParaRPr lang="en-US" sz="18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4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ที่มา: Reuters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4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สาเหตุของ Hallucination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63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Bias ในข้อมูลฝึก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ข้อมูลเอียง → คำตอบเอียง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463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เทรนไม่พอ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ข้อมูลน้อยหรือคุณภาพต่ำ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463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โมเดลซับซ้อน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ยากต่อการควบคุมและตรวจสอบ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03720" y="146304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ขาดคนตรวจ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human oversight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2461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รากของปัญหา (จำสไลด์ "Decoder สร้างข้อความทีละ token" ได้ไหม?)</a:t>
            </a:r>
            <a:endParaRPr lang="en-US" sz="15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ไม่ได้ "เข้าใจ" ความหมาย แต่เลือกคำที่น่าจะเป็นที่สุดจากรูปแบบทางสถิติ → ประโยคจึงลื่นไหลแม้เนื้อหาผิด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4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Hallucination สร้างปัญหาอะไรได้บ้าง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FF6B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FF6B5B"/>
          </a:solidFill>
          <a:ln w="12700">
            <a:solidFill>
              <a:srgbClr val="FF6B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ข้อมูลผิด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สรุปเอกสารกฎหมายผิด → ข้อพิพาท/ฟ้องร้อง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64408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F4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1554480"/>
            <a:ext cx="548640" cy="5486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4728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286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มุมมองเอียง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สร้างความเห็นที่มี bias หรือชี้นำผิด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71616" y="137160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554480"/>
            <a:ext cx="548640" cy="54864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28600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ระบบที่อ่อนไหว</a:t>
            </a:r>
            <a:endParaRPr lang="en-US" sz="16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3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ส่งข้อมูลผิดให้ระบบการแพทย์ หรือรถยนต์ไร้คนขับ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343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กลับไปที่โจทย์สรุปผลตรวจคนไข้ตอนเปิดคาบ: ตอนนี้คุณจะโหวตข้อไหน?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4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ป้องกันและลด Hallucination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ฝั่งผู้พัฒนาโมเดล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 bias และฝึกด้วยข้อมูลคุณภาพสูง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ป้องกันการบิดเบือน input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ประเมินและปรับปรุงต่อเนื่อง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Fine-tune ด้วยข้อมูลเฉพาะทาง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1732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1FA39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ฝั่งผู้ใช้งาน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828800"/>
            <a:ext cx="36576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ระวังเสมอ: โมเดลเดาคำ ไม่ได้เข้าใจ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ให้มนุษย์ตรวจสอบข้อเท็จจริง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ใส่บริบท (context) เพิ่มในพรอมต์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ทดสอบซ้ำอย่างต่อเนื่อง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429000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4 · Hallucination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พลังของ Context: ถามแบบไหนได้คำตอบดีกว่า</a:t>
            </a:r>
            <a:endParaRPr lang="en-US" sz="2200" dirty="0"/>
          </a:p>
        </p:txBody>
      </p:sp>
      <p:pic>
        <p:nvPicPr>
          <p:cNvPr id="6" name="Image 0" descr="/tmp/claude-0/genai/figs/f22_hallucination_con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20" y="1188720"/>
            <a:ext cx="78397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07238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5 · เครื่องมือ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Libraries และเครื่องมือสำหรับ Generative AI</a:t>
            </a:r>
            <a:endParaRPr lang="en-US" sz="2200" dirty="0"/>
          </a:p>
        </p:txBody>
      </p:sp>
      <p:pic>
        <p:nvPicPr>
          <p:cNvPr id="6" name="Image 0" descr="/tmp/claude-0/genai/figs/f23_tools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797" y="1234440"/>
            <a:ext cx="6172406" cy="3108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PyTorch เด่นเรื่องความยืดหยุ่น (นิยมในงานวิจัย) · TensorFlow/Keras เด่นเรื่องขยายสู่ production · สัปดาห์ก่อนเราใช้ Keras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3072384" cy="274320"/>
          </a:xfrm>
          <a:prstGeom prst="roundRect">
            <a:avLst>
              <a:gd name="adj" fmla="val 5000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ส่วนที่ 5 · เครื่องมือ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09CB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Hugging Face และสิ่งที่เราจะใช้บ่ายนี้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 Hub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คลังโมเดล pretrained หลายแสนตัว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971800" y="132588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08960" y="14173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Transformers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โหลดและใช้โมเดลด้วยโค้ดไม่กี่บรรทัด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Datasets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ชุดข้อมูลพร้อมใช้หลายภาษา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2971800" y="2880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EEEAF8"/>
          </a:solidFill>
          <a:ln w="12700">
            <a:solidFill>
              <a:srgbClr val="EEEA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08960" y="29718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450" b="1" dirty="0">
                <a:solidFill>
                  <a:srgbClr val="6C5CE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Tokenizers</a:t>
            </a:r>
            <a:endParaRPr lang="en-US" sz="145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20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ตัดคำให้โมเดลแบบรวดเร็ว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77840" y="1325880"/>
            <a:ext cx="3108960" cy="2926080"/>
          </a:xfrm>
          <a:prstGeom prst="roundRect">
            <a:avLst>
              <a:gd name="adj" fmla="val 3750"/>
            </a:avLst>
          </a:prstGeom>
          <a:solidFill>
            <a:srgbClr val="FFE9E6"/>
          </a:solidFill>
          <a:ln w="12700">
            <a:solidFill>
              <a:srgbClr val="FFE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15000" y="141732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F6B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บ่ายนี้ใน Colab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1828800"/>
            <a:ext cx="27432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AutoTokenizer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AutoModel + generate()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BlenderBot, FLAN-T5, GPT-2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1B3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Keras สร้าง VAE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F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932688" cy="274320"/>
          </a:xfrm>
          <a:prstGeom prst="roundRect">
            <a:avLst>
              <a:gd name="adj" fmla="val 50000"/>
            </a:avLst>
          </a:prstGeom>
          <a:solidFill>
            <a:srgbClr val="3A3560"/>
          </a:solidFill>
          <a:ln w="12700">
            <a:solidFill>
              <a:srgbClr val="3A356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สรุปและคำถามทบทวน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47548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① GenAI เรียนรู้การกระจายของข้อมูล แล้วสร้างข้อมูลใหม่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② ภาพ: สุ่มจุดใน latent space → VAE / GAN / Diffusion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③ ข้อความ: RNN → Attention → Transformer = NN ที่ให้คำคุยกัน → LLM = ซ้อนหลายชั้น + ฝึกเป็นขั้น (instruction, RLHF)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④ Hallucination: เลือกคำตามสถิติ → ใช้ context และคนตรวจ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⑤ บ่ายนี้: ลงมือใน Colab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280160"/>
            <a:ext cx="3200400" cy="3291840"/>
          </a:xfrm>
          <a:prstGeom prst="roundRect">
            <a:avLst>
              <a:gd name="adj" fmla="val 3429"/>
            </a:avLst>
          </a:prstGeom>
          <a:solidFill>
            <a:srgbClr val="2E2952"/>
          </a:solidFill>
          <a:ln w="12700">
            <a:solidFill>
              <a:srgbClr val="2E29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417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F4B94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คำถามทบทวน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GAN ต่างจาก VAE อย่างไร?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ทำไม Transformer เทรนเร็วกว่า RNN?</a:t>
            </a:r>
            <a:endParaRPr lang="en-US" sz="13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Hallucination เกิดจากอะไร และลดได้อย่างไร?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3867</Words>
  <Application>Microsoft Office PowerPoint</Application>
  <PresentationFormat>นำเสนอทางหน้าจอ (16:9)</PresentationFormat>
  <Paragraphs>534</Paragraphs>
  <Slides>52</Slides>
  <Notes>52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2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52</vt:i4>
      </vt:variant>
    </vt:vector>
  </HeadingPairs>
  <TitlesOfParts>
    <vt:vector size="55" baseType="lpstr">
      <vt:lpstr>Arial</vt:lpstr>
      <vt:lpstr>Tahoma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 Architecture</dc:title>
  <dc:subject>PptxGenJS Presentation</dc:subject>
  <dc:creator>PptxGenJS</dc:creator>
  <cp:lastModifiedBy>TK Khampeerada</cp:lastModifiedBy>
  <cp:revision>1</cp:revision>
  <dcterms:created xsi:type="dcterms:W3CDTF">2026-09-20T01:59:59Z</dcterms:created>
  <dcterms:modified xsi:type="dcterms:W3CDTF">2026-10-24T16:12:17Z</dcterms:modified>
</cp:coreProperties>
</file>