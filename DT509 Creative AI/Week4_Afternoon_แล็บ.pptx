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ไฟล์ Week4_Lab_Sprites.ipynb เปิดใน Colab → Runtime → Change runtime type → T4 GPU · อาจารย์รันทีละเซลล์บนจอ นักศึกษารันตาม ทุกเซลล์มี 'ทำอะไร / ควรเห็นอะไร / อ่านผลอย่างไร' ใน markdown ด้านบน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ย้ำเรื่อง seed: ผลของนักศึกษาจะใกล้เคียงบนจอ แต่ไม่เท่ากันเป๊ะ (การคำนวณบน GPU บางส่วนไม่ deterministic และ GPU อาจคนละรุ่น) ไม่ใช่ความผิดพลาด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สั้น ๆ 3 เซลล์ จุดที่ต้องชี้: ช่วงค่า −1..1 (เพราะ Tanh) และ shape (N, 3, 16, 16) แบบ PyTorch (channel first) ต่างจาก Keras สัปดาห์ 1 ที่ channel last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เซลล์เดียวครบ ไม่มี torchao/peft วันนี้ (ไม่ได้ใช้ transformers) จึงไม่ต้อง uninstall อะไร ถ้า pip ช้าให้รอ ~30 วินาที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ชี้ว่าช่วง −1..1 เป็นข้อตกลงของโมเดลสร้างภาพ (ปลายทางใช้ Tanh) ส่วน show_grid / to_img เป็น helper ที่ใช้ทั้งวัน ดู output ที่พิมพ์: shape, ช่วงค่า, จำนวน batch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ให้นักศึกษาดูภาพแล้วลองบอกว่าแต่ละกลุ่มมีลักษณะร่วมอะไร นี่คือ 'การกระจาย' ที่พูดถึงตอนเช้า ป้ายกลุ่มจะยังไม่ใช้จนถึงแล็บ 4 (แล็บ 1–3 เป็น unsupervised)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โค้ดโมเดลดูไปแล้วตอนเช้า ตอนนี้เน้นที่ loss, การเทรน และการอ่านผล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เซลล์นี้เร็วมาก ใช้ยืนยันว่าโมเดลต่อกันถูก ถาม: ทำไม z มี 16 ตัว แต่ภาพมี 768? (บีบ 48 เท่า — บังเอิญเท่ากับอัตราบีบของ Stable Diffusion)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ชี้สูตร KL ว่า 'ไม่ต้องจำ' แค่รู้ว่ามันเล็กเมื่อ mu≈0 และ logvar≈0 (sigma≈1) คือบริเวณเท่ากับวงกลมมาตรฐาน ระหว่างเทรนให้ดูตัวเลข recon/KL ที่พิมพ์ทุก 3 epoch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กราฟซ้าย: เส้น recon ลงเรียบ เส้น KL ขึ้นเล็กน้อยแล้วนิ่ง (เพราะ encoder เริ่มใช้ latent มากขึ้น) ขวา: เทียบแถวบน-ล่าง สีและท่าทางถูก แต่ขอบเบลอ — ให้นักศึกษาชี้ว่าภาพไหนเบลอที่สุด (มักเป็นภาพที่มีรายละเอียดเล็ก ๆ)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โยงกลับสไลด์ 'latent มีรู' ตอนเช้า: ถ้าเป็น autoencoder ธรรมดา ภาพสุ่มหลายใบจะเป็นขยะ ลองให้นักศึกษาเปลี่ยน seed ใน torch.randn(32, Z_DIM) แล้วดูว่าได้ภาพใหม่ทุกครั้ง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บางกลุ่มซ้อนกัน (เช่น ฮีโร่กับหันข้าง) เป็นเรื่องปกติ เพราะหน้าตาคล้ายกันจริง ๆ ชี้ว่านี่คือ unsupervised: ไม่มีป้ายแต่โครงสร้างโผล่ออกมาเอง เหมือน embedding ของคำในสัปดาห์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เน้นให้เห็น 2 อย่างด้วยตา: loss ไม่ลดเรียบ และภาพคมกว่า VAE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เทียบกับ VAE: G ≈ decoder, D ≈ encoder + 1 เลข โค้ดต่างกันไม่กี่บรรทัด แต่วิธีเทรนคนละโลก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ให้ดู print ทุก 5 epoch: lossD กับ lossG จะสลับกันขึ้นลง ถาม: ถ้า lossD → 0 แปลว่าอะไร? (ตำรวจชนะขาด G ไม่ได้ gradient ที่มีประโยชน์ = เทรนล้ม) ถ้าเกิดขึ้นจริงให้ลด lr ของ 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เลื่อนดู snapshot epoch 1 → 5 → 10 → … ใน notebook: epoch 1 เป็น noise สี ๆ, epoch 5 เริ่มเห็นก้อน, epoch 15+ เป็นตัวละครคมชัด ชี้ว่า noise ชุดเดิม (z_fixed) ให้ภาพ 'ตัวเดิม' ที่ค่อย ๆ ชัดขึ้น = G เรียน mapping จาก z ไปภาพ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ตัวเลขจริงต่างกันตาม GPU/seed: ในการรันทดสอบ (CPU) VAE ≈ 19.7 ต่ำกว่าข้อมูลจริง 25.0 เพราะภาพเบลอ/สีจาง ส่วน GAN ≈ 25.0 ไม่ collapse รอบนี้ — ถ้า GAN ต่ำมาก (&lt; 10) = mode collapse ให้ลองรันเซลล์ 2.2 ซ้ำหลายรอบแล้ววัดใหม่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ให้นักศึกษานับว่าใน 32 ภาพของ GAN มีกี่แบบที่ดูซ้ำกัน แล้วเทียบกับตัวเลข diversity ถ้าเวลาเหลือ: ลองเทรน GAN ต่ออีก 25 epoch (รันเซลล์ 2.2 ซ้ำ — ไม่มีตัวกันรันซ้ำ จงใจ) ดูว่าดีขึ้นหรือพัง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แล็บหลักของวัน ใช้ diffusers: DDPMScheduler (ตารางเติม noise + สูตรเดิน), UNet2DModel (ตัวทาย noise), DDIMScheduler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ย้ำว่า forward ไม่มีการเรียนรู้ เป็นสูตรล้วน ๆ ถาม: ที่ t ≈ 300 ยังเห็นโครงไหม? (เห็น) นี่คือเหตุผลที่สัปดาห์หน้า img2img เริ่มจาก t กลาง ๆ จะเก็บโครงของภาพเดิมได้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ภาพ forward บนสไลด์ตอนเช้า (f_diffusion_idea) ใช้ linear schedule ส่วนในแล็บใช้ cosine — สังเกตว่ากราฟ cosine ลดช้ากว่าตอนต้น ภาพที่ t=100 จึงยังชัดกว่า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ไม่ต้องอธิบายทุก argument ชี้ 3 อย่าง: in=out, มี attention, รับ t (และ class_labels ในแล็บ 4) เป็น U-Net เดียวกับที่ Stable Diffusion ใช้ แค่เล็กกว่ามาก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ระหว่างรอเทรน 4 นาที: เปิด train_diffusion ให้ดูอีกครั้งแล้วเทียบกับ GAN — ไม่มีสองฝ่าย ไม่มี detach ไม่มี BCE มีแค่ mse_loss(pred, noise) ตัวเดียว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ฟังก์ชันเดียวใช้ได้ทั้ง DDPM/DDIM (เปลี่ยน scheduler) และมี/ไม่มีเงื่อนไข (labels) ชี้ว่า scheduler.step คือ 'สูตรเดิน' — DDPM เติม noise กลับ, DDIM ไม่เติม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ให้เทียบตารางภาพนี้กับ GAN ในแล็บ 2 ด้วยตา แล้วรัน diversity(imgs_ddpm) เพิ่มเองได้ (เซลล์ 3.5 จะพิมพ์ให้) ชี้ว่าเวลาที่ใช้ 1,000 ก้าวคือ 'ราคา' ที่สไลด์ถัดไปจะลด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ตารางที่พิมพ์ออกมาคือข้อสรุปของแล็บ 3: ลดก้าวได้ 20 เท่าโดยคุณภาพแทบไม่ตก นี่คือสิ่งที่ Stable Diffusion ใช้จริง (20–50 ก้าว)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ตัวเลขบน T4 จะเร็วกว่านี้มาก (1,000 ก้าวน่าจะไม่กี่สิบวินาที, 50 ก้าวไม่กี่วินาที — ยังไม่ได้วัดจริง) ให้ดู 'อัตราส่วน' ระหว่างแถว ความหลากหลายของ DDIM ≈ DDPM (รัน CPU: 22.9–23.0) ยืนยันว่าความหลากหลายมาจาก noise ตั้งต้น ไม่ใช่จากการสุ่มระหว่างทาง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ให้ดู notebook ที่มีครบ 4 แถว (1,000 / 50 / 20 / 10) ถามว่าจุดคุ้มอยู่ตรงไหน คำตอบขึ้นกับงาน: ถ้าแค่ preview ใช้ 10, ถ้าภาพสุดท้ายใช้ 50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สะพานสู่สัปดาห์หน้า: กลไกเดียวกับ Stable Diffusion ทุกอย่าง ยกเว้นเงื่อนไขเป็นป้าย 5 แบบแทนข้อความ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ชี้บรรทัด drop / torch.where ใน train_diffusion อีกครั้ง: นี่คือ 'ซ่อนป้าย 10%' ที่พูดตอนเช้า ถาม: ถ้าไม่ซ่อนเลย (p_uncond=0) จะทำ guidance ได้ไหม? (ไม่ได้ เพราะโมเดลไม่รู้จักป้าย 5)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นี่คือปุ่ม guidance scale / CFG ของ Stable Diffusion ที่สัปดาห์หน้าจะหมุนกับข้อความจริง ให้สังเกตตัวเลข diversity ที่พิมพ์ในหัวภาพ: ลดลงเมื่อ guidance สูงขึ้น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ถ้าบางแถวมีภาพหลุดกลุ่ม (เช่น อาหารที่ดูเหมือนคาถา) ให้ชี้ว่านี่คือสิ่งที่ guidance จะแก้ในสไลด์ถัดไป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ดู notebook มีครบ 3 ค่า (1 / 3 / 6) พร้อมตัวเลข diversity ในหัวภาพ ให้นักศึกษาเทียบภาพตำแหน่งเดียวกัน (noise เดิม) ว่าเปลี่ยนไปอย่างไรเมื่อ guidance เพิ่ม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กลับไปดูตารางตอนเช้า ทุกช่องควรมี 'หลักฐาน' จากแล็บแล้ว ให้นักศึกษาเติมตัวเลข diversity ของตัวเองลงไป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เก็บสไลด์นี้ไว้เปิดเมื่อมีคนติด ปัญหาส่วนใหญ่คือรันข้ามเซลล์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รูปแบบเดียวกับการบ้านสัปดาห์ 3 (พิสูจน์ด้วยตัวเลข) ชุดข้อมูลหาได้จาก Kaggle / สร้างเอง / ภาพไอคอน ถ้าหาไม่ได้ใช้ Fashion-MNIST ก็ได้แต่คะแนนส่วน 'ข้อมูล' จะได้ไม่เต็ม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ปิดด้วยการทวนเส้นด้าย: เรียนการกระจายแล้วสุ่ม — วันนี้เห็น 3 วิธีสุ่มแล้ว สัปดาห์หน้าใช้ของจริงขนาดใหญ่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22325A"/>
          </a:solidFill>
          <a:ln w="12700">
            <a:solidFill>
              <a:srgbClr val="2232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108960"/>
            <a:ext cx="2743200" cy="274320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แล็บ: เทรน VAE, GAN และ Diffusion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ด้วยมือเราเอง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4 · ช่วงบ่าย — Google Colab (T4) · ชุดข้อมูล Sprites 16×16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0233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ดร.ธีรพงศ์ อรชร · ANT-DPU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บ่ายนี้: notebook ไฟล์เดียว 4 แล็บ ชุดข้อมูลเดียว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1906524" cy="1988820"/>
          </a:xfrm>
          <a:prstGeom prst="roundRect">
            <a:avLst>
              <a:gd name="adj" fmla="val 479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1613916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สร้างโมเดล → เทรน 15 epoch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ดูภาพคลายกลับ / สุ่มใหม่ / interpolate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 latent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564892" y="1298448"/>
            <a:ext cx="1906524" cy="1988820"/>
          </a:xfrm>
          <a:prstGeom prst="roundRect">
            <a:avLst>
              <a:gd name="adj" fmla="val 479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1196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1119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168396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2711196" y="1901952"/>
            <a:ext cx="1613916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G, D → เทรน 25 epoch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loss แกว่ง + ภาพทุก 5 epoch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 VAE vs GAN + วัดความหลากหลาย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72584" y="1298448"/>
            <a:ext cx="1906524" cy="1988820"/>
          </a:xfrm>
          <a:prstGeom prst="roundRect">
            <a:avLst>
              <a:gd name="adj" fmla="val 479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18888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18888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 / DDIM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818888" y="1901952"/>
            <a:ext cx="1613916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forward noising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 U-Net 30 epoch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sample 1,000 ก้าว → DDIM 50 / 20 / 10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780276" y="1298448"/>
            <a:ext cx="1906524" cy="1988820"/>
          </a:xfrm>
          <a:prstGeom prst="roundRect">
            <a:avLst>
              <a:gd name="adj" fmla="val 4796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26580" y="1444752"/>
            <a:ext cx="365760" cy="365760"/>
          </a:xfrm>
          <a:prstGeom prst="ellipse">
            <a:avLst/>
          </a:prstGeom>
          <a:solidFill>
            <a:srgbClr val="5F6B7A"/>
          </a:solidFill>
          <a:ln w="12700">
            <a:solidFill>
              <a:srgbClr val="5F6B7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2658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383780" y="1426464"/>
            <a:ext cx="11567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 · เงื่อนไข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926580" y="1901952"/>
            <a:ext cx="1613916" cy="1275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U-Net รับป้ายกลุ่ม → เทรน 30 epoch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สั่งสร้างทีละกลุ่ม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หมุน guidance 1 / 3 / 6</a:t>
            </a:r>
            <a:endParaRPr lang="en-US" sz="1250" dirty="0"/>
          </a:p>
        </p:txBody>
      </p:sp>
      <p:pic>
        <p:nvPicPr>
          <p:cNvPr id="28" name="Image 0" descr="/home/claude/week4/slides/fig/t_lab_va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202" y="3424428"/>
            <a:ext cx="1296236" cy="854964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769202" y="3424428"/>
            <a:ext cx="1296236" cy="85496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5720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</a:t>
            </a:r>
            <a:endParaRPr lang="en-US" sz="1000" dirty="0"/>
          </a:p>
        </p:txBody>
      </p:sp>
      <p:pic>
        <p:nvPicPr>
          <p:cNvPr id="31" name="Image 1" descr="/home/claude/week4/slides/fig/t_lab_ga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2322" y="3424428"/>
            <a:ext cx="1296236" cy="854964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2872322" y="3424428"/>
            <a:ext cx="1296236" cy="85496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56032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</a:t>
            </a:r>
            <a:endParaRPr lang="en-US" sz="1000" dirty="0"/>
          </a:p>
        </p:txBody>
      </p:sp>
      <p:pic>
        <p:nvPicPr>
          <p:cNvPr id="34" name="Image 2" descr="/home/claude/week4/slides/fig/t_lab_ddpm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442" y="3424428"/>
            <a:ext cx="1296236" cy="854964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4975442" y="3424428"/>
            <a:ext cx="1296236" cy="85496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466344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</a:t>
            </a:r>
            <a:endParaRPr lang="en-US" sz="1000" dirty="0"/>
          </a:p>
        </p:txBody>
      </p:sp>
      <p:pic>
        <p:nvPicPr>
          <p:cNvPr id="37" name="Image 3" descr="/home/claude/week4/slides/fig/t_lab_cond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562" y="3424428"/>
            <a:ext cx="1296236" cy="854964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078562" y="3424428"/>
            <a:ext cx="1296236" cy="854964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676656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9212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921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ก่อนเริ่ม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ข้อตกลงก่อนเริ่ม</a:t>
            </a:r>
            <a:endParaRPr lang="en-US" sz="2400" dirty="0"/>
          </a:p>
        </p:txBody>
      </p:sp>
      <p:pic>
        <p:nvPicPr>
          <p:cNvPr id="8" name="Image 0" descr="/home/claude/week4/slides/fig/f_a_co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906" y="1298448"/>
            <a:ext cx="2998508" cy="21854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5906" y="1298448"/>
            <a:ext cx="2998508" cy="218541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95906" y="3511296"/>
            <a:ext cx="299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เปลี่ยน runtime เป็น T4 ก่อนเริ่ม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298448"/>
            <a:ext cx="4810106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Runtime → Change runtime type → T4 GPU — เซลล์แรกจะพิมพ์ชื่อ GPU ถ้าขึ้น cpu ให้เปลี่ยนก่อน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รันจากบนลงล่างทีละเซลล์ ไม่ข้าม — เซลล์หลังใช้ตัวแปรจากเซลล์ก่อน (loader, show_grid, diversity, sample)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ข้อมูลฝังอยู่ในเซลล์ 0.2 (base64) ไม่ต้องอัปโหลดอะไร · ไลบรารีเพิ่มแค่ diffusers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ทุกการสุ่มกำหนด seed → รันซ้ำได้ผลใกล้เคียงเดิม (GPU อาจต่างเล็กน้อย) · เซลล์เทรน DDPM / แบบมีเงื่อนไข มีตัวกันรันซ้ำ</a:t>
            </a:r>
            <a:endParaRPr lang="en-US" sz="11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9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เวลาเทรนรวมราว 10–15 นาทีบน T4 (ประมาณการ) — ระหว่างรอให้ดูกราฟ loss และคุยว่า 'ควรเห็นอะไร'</a:t>
            </a:r>
            <a:endParaRPr lang="en-US" sz="11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9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 CUDA out of memory: Runtime → Restart แล้วรันใหม่ตั้งแต่เซลล์แรก (โมเดลวันนี้เล็กมาก ปกติไม่เกิด)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4087368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84048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ตัวเลข/ภาพผลลัพธ์บนสไลด์มาจากการรัน notebook ฉบับเดียวกันบน CPU (ยังไม่ได้รันบน T4 จริง) — ผลบน T4 จะใกล้เคียงแต่ไม่เท่ากันเป๊ะ และเวลาจะสั้นกว่ามาก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แผนภาพขั้นตอนใน Colab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0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เตรียมเครื่องมือ และดูข้อมูล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diffusers · โหลด Sprites 10,000 ภาพ 5 กลุ่ม · แปลงเป็น tensor ช่วง −1..1</a:t>
            </a:r>
            <a:endParaRPr lang="en-US" sz="1300" dirty="0"/>
          </a:p>
        </p:txBody>
      </p:sp>
      <p:pic>
        <p:nvPicPr>
          <p:cNvPr id="9" name="Image 0" descr="/home/claude/week4/slides/fig/t_lab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87749"/>
            <a:ext cx="3200400" cy="2110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687749"/>
            <a:ext cx="3200400" cy="211090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0.1 ติดตั้งและตั้งค่า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!pip install -q -U "diffusers&gt;=0.30" 2&gt;/dev/null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os, io, time, math, base64, zlib, warnings, random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np, torch, torch.nn as nn, torch.nn.functional as 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plt, matplotlib.font_manager as fm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PIL import Image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warnings.filterwarnings("ignore")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set_seed(s=42):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random.seed(s); np.random.seed(s); torch.manual_seed(s); torch.cuda.manual_seed_all(s)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set_seed(42)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diffusers = ไลบรารี diffusion ของ Hugging Face (ให้ scheduler + U-Net)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PyTorch / torchvision มีใน Colab แล้ว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set_seed: random / numpy / torch / cuda ทั้งหมด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ฟอนต์ Sarabun สำหรับกราฟ (ถ้าโหลดไม่ได้ก็ไม่ล้ม)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อุปกรณ์: Tesla T4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0.2–0.3 โหลดข้อมูลและเตรียม tensor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x_all = torch.from_numpy(X).permute(0, 3, 1, 2).float() / 127.5 - 1.0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y_all = torch.from_numpy(Y)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print("x_all:", tuple(x_all.shape), "ช่วงค่า", x_all.min().item(), "ถึง", x_all.max().item())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BATCH = 128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= torch.utils.data.TensorDataset(x_all, y_all)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 = torch.utils.data.DataLoader(dataset, batch_size=BATCH, shuffle=True, drop_last=True)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print("จำนวน batch ต่อ epoch:", len(loader))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X: (10000, 16, 16, 3) uint8 · Y: (10000,) กลุ่ม 0–4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CLASS_NAMES = ฮีโร่ · ตัวประกอบ · อาหาร · คาถา · หันข้าง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x_all = X/127.5 − 1 → ช่วง −1..1 และสลับเป็น (N, 3, 16, 16)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BATCH = 128 → 78 batch ต่อ epoch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ภาพต่อกลุ่ม: [2000 2000 2000 2000 2000]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 0.2 เป็น form ซ่อนข้อความ base64 ยาว ๆ — กด ▶ ได้เลย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Sprites 40 ภาพพร้อมชื่อกลุ่ม</a:t>
            </a:r>
            <a:endParaRPr lang="en-US" sz="2400" dirty="0"/>
          </a:p>
        </p:txBody>
      </p:sp>
      <p:pic>
        <p:nvPicPr>
          <p:cNvPr id="8" name="Image 0" descr="/home/claude/week4/slides/fig/lab_data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05559"/>
            <a:ext cx="4754880" cy="337363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1298448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6869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1371600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ตัวละครเกมพิกเซล 16×16 สีสด — กลุ่มเดียวกันมีท่าทางคล้ายกัน (ฮีโร่ยืนตรง, อาหารเป็นก้อน)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40680" y="2482596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869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2555748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'โครงสร้าง' แบบนี้คือสิ่งที่ทั้ง 3 โมเดลต้องเรียน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0680" y="3666744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6869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3739896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2,000 ภาพต่อกลุ่ม สมดุลทุกกลุ่ม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 — บีบภาพเป็นรหัส 16 ตัวเลข แล้วคลายกลับ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สร้างโมเดล → เทรน 15 epoch → คลายภาพ / สุ่มใหม่ / interpolate → แผนที่ latent</a:t>
            </a:r>
            <a:endParaRPr lang="en-US" sz="1300" dirty="0"/>
          </a:p>
        </p:txBody>
      </p:sp>
      <p:pic>
        <p:nvPicPr>
          <p:cNvPr id="9" name="Image 0" descr="/home/claude/week4/slides/fig/t_lab_va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87749"/>
            <a:ext cx="3200400" cy="2110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687749"/>
            <a:ext cx="3200400" cy="211090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1.1 ทดสอบโมเดล 1 batch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decode(self, z):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self.dec(self.dec_fc(z).view(-1, 64, 4, 4))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mu, logvar = self.encode(x); z = self.reparameterize(mu, logvar)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self.decode(z), mu, logvar, z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vae = VAE().to(device)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xb, yb = next(iter(loader)); xb = xb.to(device)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recon, mu, logvar, z = vae(xb)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print("ภาพเข้า", tuple(xb.shape), "→ z", tuple(z.shape), "→ ภาพออก", tuple(recon.shape))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forward คืน 4 อย่าง: recon, mu, logvar, z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ภาพเข้า (128, 3, 16, 16) → z (128, 16) → ภาพออก (128, 3, 16, 16)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ภาพออกขนาดเท่าภาพเข้า — นี่คือ autoencoder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shape ก่อนเทรนเสมอ (นิสัยจากสัปดาห์ 1)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 loss และการเทรน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vae_loss(recon, x, mu, logvar, beta=1.0):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ทั้งสองเทอมคิดเป็น "ต่อภาพ"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recon_err = F.mse_loss(recon, x, reduction="sum") / x.size(0)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kl = -0.5 * torch.sum(1 + logvar - mu.pow(2) - logvar.exp()) / x.size(0)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recon_err + beta * kl, recon_err, kl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VAE_EPOCHS = 15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 = torch.optim.Adam(vae.parameters(), lr=1e-3)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 = {"recon": [], "kl": []}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set_seed(0); t0 = time.time()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range(VAE_EPOCHS):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vae.train(); s_r = s_k = 0.0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xb, _ in loader: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xb = xb.to(device)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recon, mu, logvar, _ = vae(xb)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loss, r, k = vae_loss(recon, xb, mu, logvar, beta=1.0)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opt.zero_grad(); loss.backward(); opt.step()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s_r += r.item(); s_k += k.item()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recon_err = MSE รวมทุกพิกเซล หารจำนวนภาพ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kl = ค่าปรับที่บริเวณของภาพหนีจาก N(0, I)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beta = 1.0 (ลองเปลี่ยนเป็น 4 ดูในการบ้าน)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VAE_EPOCHS = 15 · Adam lr 1e-3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recon ลดเร็ว, KL ค่อย ๆ นิ่ง — ไม่มีอะไรแกว่ง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~1 นาทีบน T4 (ประมาณการ)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loss ของ VAE ลดเรียบ และภาพคลายกลับเบลอ</a:t>
            </a:r>
            <a:endParaRPr lang="en-US" sz="2400" dirty="0"/>
          </a:p>
        </p:txBody>
      </p:sp>
      <p:pic>
        <p:nvPicPr>
          <p:cNvPr id="8" name="Image 0" descr="/home/claude/week4/slides/fig/f_a_va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115" y="1298448"/>
            <a:ext cx="571577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ภาพคลายกลับ 'จำโครงได้แต่เบลอ' — ตรงกับที่ทำนายไว้ตอนเช้า (MSE ชอบค่าเฉลี่ย)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ตัวเลข/ภาพผลลัพธ์บนสไลด์มาจากการรัน notebook ฉบับเดียวกันบน CPU (ยังไม่ได้รันบน T4 จริง) — ผลบน T4 จะใกล้เคียงแต่ไม่เท่ากันเป๊ะ และเวลาจะสั้นกว่ามาก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สุ่มภาพใหม่ และเดินใน latent</a:t>
            </a:r>
            <a:endParaRPr lang="en-US" sz="2400" dirty="0"/>
          </a:p>
        </p:txBody>
      </p:sp>
      <p:pic>
        <p:nvPicPr>
          <p:cNvPr id="8" name="Image 0" descr="/home/claude/week4/slides/fig/f_a_va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506" y="1298448"/>
            <a:ext cx="5574987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สุ่ม z ตรงไหนก็ได้ภาพที่ 'ดูเป็นตัวละคร' เพราะ KL บังคับให้ latent ไม่มีรู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interpolation ภาพค่อย ๆ morph ไม่กระโดด = latent ต่อเนื่อง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1 · VAE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แผนที่ latent แยกกลุ่มได้เอง</a:t>
            </a:r>
            <a:endParaRPr lang="en-US" sz="2400" dirty="0"/>
          </a:p>
        </p:txBody>
      </p:sp>
      <p:pic>
        <p:nvPicPr>
          <p:cNvPr id="8" name="Image 0" descr="/home/claude/week4/slides/fig/lab_vae_la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3707589" cy="338785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40680" y="1298448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6869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0" y="1371600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encode ภาพทั้ง 10,000 → mu 16 มิติ → ฉายลง 2 มิติ (PCA)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40680" y="2482596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6869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852160" y="2555748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จุดสีเดียวกันเกาะกลุ่ม ทั้งที่ VAE ไม่เคยเห็นป้ายกลุ่มเลย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40680" y="3666744"/>
            <a:ext cx="324612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6869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0" y="3739896"/>
            <a:ext cx="269748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ตำแหน่งใกล้กัน = ภาพคล้ายกัน — สัปดาห์หน้า Stable Diffusion ทำงานบน 'แผนที่' แบบนี้ (ใหญ่กว่า)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 — เกมสองฝ่าย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G, D → เทรน 25 epoch → ดู loss แกว่ง + ภาพทุก 5 epoch → เทียบกับ VAE + วัดความหลากหลาย</a:t>
            </a:r>
            <a:endParaRPr lang="en-US" sz="1300" dirty="0"/>
          </a:p>
        </p:txBody>
      </p:sp>
      <p:pic>
        <p:nvPicPr>
          <p:cNvPr id="9" name="Image 0" descr="/home/claude/week4/slides/fig/t_lab_gan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87749"/>
            <a:ext cx="3200400" cy="2110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687749"/>
            <a:ext cx="3200400" cy="211090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2.1 Generator และ Discriminator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788152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5458968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Generator(nn.Module):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nz=NZ):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self.fc = nn.Linear(nz, 256 * 4 * 4)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self.net = nn.Sequential(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nn.BatchNorm2d(256), nn.ReLU(),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nn.ConvTranspose2d(256, 128, 4, 2, 1), nn.BatchNorm2d(128), nn.ReLU(),  # 4→8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nn.ConvTranspose2d(128, 64, 4, 2, 1), nn.BatchNorm2d(64), nn.ReLU(),    # 8→16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nn.Conv2d(64, 3, 3, 1, 1), nn.Tanh())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z): return self.net(self.fc(z).view(-1, 256, 4, 4))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Discriminator(nn.Module):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self.net = nn.Sequential(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nn.Conv2d(3, 64, 4, 2, 1), nn.LeakyReLU(0.2),                          # 16→8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nn.Conv2d(64, 128, 4, 2, 1), nn.BatchNorm2d(128), nn.LeakyReLU(0.2),   # 8→4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nn.Flatten(), nn.Linear(128 * 4 * 4, 1))     # 1 logit: บวก = จริง, ลบ = ปลอม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 return self.net(x)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298448"/>
            <a:ext cx="2212848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G: z(64) → fc → 4×4×256 → 8×8 → 16×16 → Tanh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D: 16×16 → 8×8 → 4×4 → Linear → 1 logit (บวก = จริง)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ทั้งคู่มี BatchNorm, D ใช้ LeakyReLU(0.2) — ทริกของ DCGAN ให้เทรนนิ่งขึ้น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 ออกเป็น logit (คะแนนดิบก่อน sigmoid) แล้วใช้ BCEWithLogitsLoss (นิ่งกว่า)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G(z): (128, 3, 16, 16) | D(ภาพ): (128, 1)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2.2 เทรนสลับสองขั้น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GAN_EPOCHS = 25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optD = torch.optim.Adam(D.parameters(), lr=2e-4, betas=(0.5, 0.999))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optG = torch.optim.Adam(G.parameters(), lr=2e-4, betas=(0.5, 0.999))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bce = nn.BCEWithLogitsLoss()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set_seed(0); z_fixed = torch.randn(16, NZ, device=device)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ghist, dhist, snapshots = [], [], []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t0 = time.time()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ep in range(GAN_EPOCHS):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xb, _ in loader: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xb = xb.to(device)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real_lbl = torch.ones(BATCH, 1, device=device)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fake_lbl = torch.zeros(BATCH, 1, device=device)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--- (1) ฝึกกรรมการ D 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fake = G(torch.randn(BATCH, NZ, device=device))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lossD = bce(D(xb), real_lbl) + bce(D(fake.detach()), fake_lbl)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optD.zero_grad(); lossD.backward(); optD.step()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--- (2) ฝึกคนปลอม G: อยากให้ D ตอบ "จริง" ---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lossG = bce(D(fake), real_lbl)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optG.zero_grad(); lossG.backward(); optG.step()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ghist.append(lossG.item()); dhist.append(lossD.item())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(1) D: จริง→1, G(z).detach()→0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 (2) G: D(G(z))→1 'โกหกตำรวจ'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z_fixed = noise 16 ชุดเดิม ไว้ดูพัฒนาการของ G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Adam lr 2e-4 betas (0.5, 0.999) ทั้งคู่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GAN_EPOCHS = 25 · ~2 นาทีบน T4 (ประมาณการ)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lossD / lossG ขึ้น ๆ ลง ๆ ไม่ใช่ลดเรียบ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loss แกว่ง และภาพจาก z_fixed ค่อย ๆ ชัด</a:t>
            </a:r>
            <a:endParaRPr lang="en-US" sz="2400" dirty="0"/>
          </a:p>
        </p:txBody>
      </p:sp>
      <p:pic>
        <p:nvPicPr>
          <p:cNvPr id="8" name="Image 0" descr="/home/claude/week4/slides/fig/f_a_ga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506" y="1298448"/>
            <a:ext cx="5574987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loss ของ GAN บอกว่า 'ใครกำลังชนะ' ไม่ได้บอกว่าภาพดีแค่ไหน — ต้องดูภาพเสมอ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ตัวเลข/ภาพผลลัพธ์บนสไลด์มาจากการรัน notebook ฉบับเดียวกันบน CPU (ยังไม่ได้รันบน T4 จริง) — ผลบน T4 จะใกล้เคียงแต่ไม่เท่ากันเป๊ะ และเวลาจะสั้นกว่ามาก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2.3 เทียบ VAE vs GAN + วัดความหลากหลาย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diversity(imgs, n_pairs=2000, seed=0):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"""ระยะ L2 เฉลี่ยระหว่างภาพคู่สุ่ม (ภาพ tensor −1..1 รูปร่าง (N,3,16,16))"""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 = torch.Generator().manual_seed(seed); flat = imgs.detach().cpu().flatten(1)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torch.randint(0, len(flat), (n_pairs,), generator=g)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torch.randint(0, len(flat), (n_pairs,), generator=g)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(flat[i] - flat[j]).norm(dim=1).mean().item()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diversity = ระยะ L2 เฉลี่ยระหว่างภาพคู่สุ่ม 2,000 คู่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ยิ่งต่ำ = ภาพยิ่งคล้ายกัน: ซ้ำ (mode collapse) หรือเบลอ (VAE)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 3 ค่า: ข้อมูลจริง 256 ภาพ · VAE 256 ภาพ · GAN 256 ภาพ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ผลจากการรันบน CPU (ตัวอย่าง): ความหลากหลาย (ยิ่งสูงยิ่งหลากหลาย):  ข้อมูลจริง 25.02   VAE 19.70   GAN 24.98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ตัวชี้วัดง่าย ๆ นี้แทน FID ที่จะเจอสัปดาห์หน้า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22529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2 · GAN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GAN คมกว่า VAE ชัดเจน</a:t>
            </a:r>
            <a:endParaRPr lang="en-US" sz="2400" dirty="0"/>
          </a:p>
        </p:txBody>
      </p:sp>
      <p:pic>
        <p:nvPicPr>
          <p:cNvPr id="8" name="Image 0" descr="/home/claude/week4/slides/fig/f_a_ga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359" y="1298448"/>
            <a:ext cx="6763281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ช่อง 'คุณภาพ' ของตารางตอนเช้าเห็นด้วยตา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63440" y="3630168"/>
            <a:ext cx="402336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74920" y="3703320"/>
            <a:ext cx="347472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ช่อง 'ความหลากหลาย' ต้องวัด: GAN รอบนี้ยังไม่ collapse แต่เกมสองฝ่ายไม่รับประกันว่าจะเป็นแบบนี้ทุกรอบ — ลองเทรนต่อแล้ววัดซ้ำ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 — เดินจาก noise ทีละก้าว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forward noising → U-Net → เทรน 30 epoch → sample 1,000 ก้าว → DDIM 50 / 20 / 10 ก้าว</a:t>
            </a:r>
            <a:endParaRPr lang="en-US" sz="1300" dirty="0"/>
          </a:p>
        </p:txBody>
      </p:sp>
      <p:pic>
        <p:nvPicPr>
          <p:cNvPr id="9" name="Image 0" descr="/home/claude/week4/slides/fig/t_lab_ddp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87749"/>
            <a:ext cx="3200400" cy="2110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687749"/>
            <a:ext cx="3200400" cy="211090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3.1 Forward: เติม noise ด้วย scheduler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diffusers import DDPMScheduler, DDIMScheduler, UNet2DModel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1000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ตารางเติม noise แบบ cosine (เหมาะกับภาพเล็ก)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noise_sched = DDPMScheduler(num_train_timesteps=T, beta_schedule="squaredcos_cap_v2")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x0 = x_all[3:4].repeat(11, 1, 1, 1)        # sprite ตัวเดียว 11 ก๊อปปี้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 = torch.tensor([0, 50, 100, 200, 300, 400, 500, 600, 700, 850, 999])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set_seed(0); noise = torch.randn_like(x0)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 = noise_sched.add_noise(x0, noise, ts)  # x_t = √ᾱ_t·x0 + √(1−ᾱ_t)·noise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DDPMScheduler(T=1000, 'squaredcos_cap_v2') = ตารางเติม noise แบบ cosine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add_noise(x0, noise, t) = x_t = √ᾱ_t·x0 + √(1−ᾱ_t)·noise — กระโดดไป t ใดก็ได้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sprite ตัวเดียว 11 ก๊อปปี้ ที่ t ต่างกัน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cosine ค่อย ๆ เติมช้ากว่า linear ตอนต้น เหมาะกับภาพเล็ก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แถวภาพค่อย ๆ จม + กราฟ ᾱ_t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ภาพจมใน noise และตารางเติม noise</a:t>
            </a:r>
            <a:endParaRPr lang="en-US" sz="2400" dirty="0"/>
          </a:p>
        </p:txBody>
      </p:sp>
      <p:pic>
        <p:nvPicPr>
          <p:cNvPr id="8" name="Image 0" descr="/home/claude/week4/slides/fig/f_a_fw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115" y="1298448"/>
            <a:ext cx="5715770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'ระดับความยาก' ต่างกันตาม t — t เล็ก แค่ลบ noise บาง ๆ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 ใหญ่ ต้องจินตนาการโครงเอง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U-Net ตัวเดียวต้องทำได้ทุกระดับ (จึงรับ t เป็น input)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3.2 U-Net ตัวทาย noise (diffusers)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make_unet(num_class_embeds=None):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UNet2DModel(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sample_size=16, in_channels=3, out_channels=3, layers_per_block=1,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block_out_channels=(64, 128, 128),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16 → 8 → 4 มี self-attention ที่ชั้น 8×8 และ 4×4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down_block_types=("DownBlock2D", "AttnDownBlock2D", "AttnDownBlock2D"),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up_block_types=("AttnUpBlock2D", "AttnUpBlock2D", "UpBlock2D"),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num_class_embeds=num_class_embeds)   # แล็บ 4 จะใส่ป้ายกลุ่มตรงนี้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unet = make_unet().to(device)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globals().pop("ddpm_losses", None)      # สร้างโมเดลใหม่ = ล้างสถานะ "เทรนแล้ว" ของเซลล์ 3.3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torch.no_grad():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 = unet(x_t.to(device), ts.to(device)).sample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UNet2DModel: in = out = 3 ช่อง, sample_size 16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block_out_channels (64, 128, 128): 16 → 8 → 4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Attn…Block2D = ใส่ self-attention ที่ชั้น 8×8 และ 4×4 (attention สัปดาห์ 2 บนพิกเซล)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num_class_embeds = None วันนี้ → แล็บ 4 ใส่ 6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เรียกใช้: unet(x_t, t).sample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ภาพเข้า (11, 3, 16, 16) → noise ที่ทาย (11, 3, 16, 16)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3.3 เทรน: เกมทาย noise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DDPM_EPOCHS = 30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"ddpm_losses" in globals():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print("เทรนไปแล้ว — ข้าม (ถ้าต้องการเทรนใหม่: รันเซลล์ 3.2 อีกครั้ง แล้วค่อยรันเซลล์นี้)")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ddpm_losses = train_diffusion(unet, DDPM_EPOCHS, tag="DDPM")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train_diffusion = ลูป 5 ขั้นตอนเช้า (ดูโค้ดเต็มใน notebook)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AdamW lr 2e-4 + cosine lr schedule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ตัวกันรันซ้ำ: ถ้ามี ddpm_losses แล้วจะข้าม — อยากเทรนใหม่ให้รันเซลล์ 3.2 (สร้าง unet ใหม่ + ล้างสถานะ) ก่อน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DDPM_EPOCHS = 30 · ~4 นาทีบน T4 (ประมาณการ)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loss ลดเรียบจาก ~0.4 ลงต่ำกว่า 0.1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ผลจากการรันบน CPU (ตัวอย่าง): [DDPM] epoch 30/30  loss 0.0762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3.4 Sampling: ฟังก์ชัน sample (ใช้ทั้งแล็บ 3 และ 4)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788152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5458968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@torch.no_grad()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sample(model, scheduler, n=32, steps=None, labels=None, guidance=1.0, keep_every=None, seed=0):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"""สร้างภาพจาก noise · steps=None = ใช้ทุกก้าวของ scheduler · labels/guidance ใช้ในแล็บ 4"""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model.eval(); g = torch.Generator(device=device).manual_seed(seed)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scheduler.set_timesteps(steps or scheduler.config.num_train_timesteps)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torch.randn(n, 3, 16, 16, device=device, generator=g); frames = []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t in enumerate(scheduler.timesteps):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labels is None: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eps = model(x, t).sample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eps_c = model(x, t, class_labels=labels).sample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guidance == 1.0: eps = eps_c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else: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null = torch.full_like(labels, 5)                     # ป้าย "ไม่บอกกลุ่ม"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eps_u = model(x, t, class_labels=null).sample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eps = eps_u + guidance * (eps_c - eps_u)              # classifier-free guidance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scheduler.step(eps, t, x, generator=g).prev_sample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 = i == len(scheduler.timesteps) - 1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keep_every and (i % keep_every == 0 or last): frames.append((int(t), x[0:1].clone()))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x, frames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6473952" y="1298448"/>
            <a:ext cx="2212848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scheduler.set_timesteps(steps) = เลือกว่าจะเดินกี่ก้าว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ลูป: eps = model(x, t) → x = scheduler.step(eps, t, x).prev_sample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generator seed → noise ตั้งต้นเดิม = ภาพเดิม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labels / guidance ใช้ในแล็บ 4 (CFG) — วันนี้ None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keep_every เก็บภาพแรกระหว่างทางไว้ดูเส้นทาง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DDPM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ภาพโผล่จาก noise และภาพคมหลากหลาย</a:t>
            </a:r>
            <a:endParaRPr lang="en-US" sz="2400" dirty="0"/>
          </a:p>
        </p:txBody>
      </p:sp>
      <p:pic>
        <p:nvPicPr>
          <p:cNvPr id="8" name="Image 0" descr="/home/claude/week4/slides/fig/f_a_dd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9526" y="1298448"/>
            <a:ext cx="5304949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โครงใหญ่ (สี ท่าทาง) ถูกตัดสินตอน t สูง รายละเอียดมาตอน t ต่ำ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ภาพคมเหมือน GAN และหลากหลายใกล้เคียง GAN ที่เทรนสำเร็จ — โดยไม่มีความเสี่ยง collapse และไม่ต้องจูน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ตัวเลข/ภาพผลลัพธ์บนสไลด์มาจากการรัน notebook ฉบับเดียวกันบน CPU (ยังไม่ได้รันบน T4 จริง) — ผลบน T4 จะใกล้เคียงแต่ไม่เท่ากันเป๊ะ และเวลาจะสั้นกว่ามาก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3.5 DDIM: โมเดลเดิม เดินก้าวใหญ่ขึ้น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ddim_sched = DDIMScheduler.from_config(noise_sched.config)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 = [("DDPM", 1000, t_ddpm, imgs_ddpm)]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steps in [50, 20, 10]: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t0 = time.time()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imgs, _ = sample(unet, ddim_sched, n=32, steps=steps)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rows.append(("DDIM", steps, time.time() - t0, imgs))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print(f"{'วิธี':6s} {'ก้าว':&gt;5s} {'เวลา (s)':&gt;9s} {'ความหลากหลาย':&gt;14s}")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name, steps, sec, imgs in rows: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print(f"{name:6s} {steps:5d} {sec:9.1f} {diversity(imgs):14.2f}")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DDIMScheduler.from_config(noise_sched.config) = ตารางเติม noise เดิม สูตรเดินใหม่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ไม่ต้องเทรนอะไรใหม่ — unet ตัวเดิม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sample ด้วย 50 / 20 / 10 ก้าว จับเวลา + วัดความหลากหลาย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50 ก้าว ≈ 1,000 ก้าว แต่เร็วกว่า ~20 เท่า · 10 ก้าวเริ่มเบลอ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ตารางเวลา — ผลจากการรันบน CPU (ตัวอย่าง)</a:t>
            </a:r>
            <a:endParaRPr lang="en-US" sz="2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943600" cy="914400"/>
        </p:xfrm>
        <a:graphic>
          <a:graphicData uri="http://schemas.openxmlformats.org/drawingml/2006/table">
            <a:tbl>
              <a:tblPr/>
              <a:tblGrid>
                <a:gridCol w="1320800"/>
                <a:gridCol w="1320800"/>
                <a:gridCol w="1651000"/>
                <a:gridCol w="1651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วิธี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จำนวนก้าว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 (s) — CPU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ความหลากหลาย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DDPM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82.0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22.89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DDIM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4.3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22.97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DDIM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1.8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23.02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DDIM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0.8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22.49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home/claude/week4/slides/fig/t_lab_ddpm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941" y="1298448"/>
            <a:ext cx="1462598" cy="9646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03941" y="1298448"/>
            <a:ext cx="1462598" cy="96469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0" y="228142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 1,000 ก้าว</a:t>
            </a:r>
            <a:endParaRPr lang="en-US" sz="1000" dirty="0"/>
          </a:p>
        </p:txBody>
      </p:sp>
      <p:pic>
        <p:nvPicPr>
          <p:cNvPr id="12" name="Image 1" descr="/home/claude/week4/slides/fig/t_lab_ddim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941" y="2601468"/>
            <a:ext cx="1462598" cy="96469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903941" y="2601468"/>
            <a:ext cx="1462598" cy="96469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83680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DDIM 10 ก้าว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38770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" y="4105656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14400" y="3877056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ตัวเลขเวลาบนสไลด์มาจาก CPU — บน T4 ทุกแถวจะเร็วขึ้นหลายสิบเท่า แต่อัตราส่วนใกล้เคียงเดิม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30302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3030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3 · DDIM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1,000 ก้าว vs 50 / 20 / 10 ก้าว</a:t>
            </a:r>
            <a:endParaRPr lang="en-US" sz="2400" dirty="0"/>
          </a:p>
        </p:txBody>
      </p:sp>
      <p:pic>
        <p:nvPicPr>
          <p:cNvPr id="8" name="Image 0" descr="/home/claude/week4/slides/fig/f_d_dd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90922"/>
            <a:ext cx="5486400" cy="240290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ก้าวน้อยเกินไป = ลบ noise ก้าวละมาก ๆ จนเพี้ยน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20–50 ก้าวคือจุดคุ้ม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sampler รุ่นใหม่ (DPM-Solver) ลงได้ถึง ~10 ก้าวโดยไม่เบลอ — สัปดาห์หน้าจะได้ลองใน Stable Diffusion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766560" y="1280160"/>
            <a:ext cx="2194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0" b="1" dirty="0">
                <a:solidFill>
                  <a:srgbClr val="27406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7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394960" y="1005840"/>
            <a:ext cx="3657600" cy="3657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6459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Diffusion แบบมีเงื่อนไข — สั่งได้ว่าจะเอากลุ่มไหน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U-Net รับป้ายกลุ่ม → เทรน 30 epoch (ซ่อนป้าย 10%) → สั่งสร้างทีละกลุ่ม → หมุน guidance 1 / 3 / 6</a:t>
            </a:r>
            <a:endParaRPr lang="en-US" sz="1300" dirty="0"/>
          </a:p>
        </p:txBody>
      </p:sp>
      <p:pic>
        <p:nvPicPr>
          <p:cNvPr id="9" name="Image 0" descr="/home/claude/week4/slides/fig/t_lab_cond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87749"/>
            <a:ext cx="3200400" cy="21109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77840" y="1687749"/>
            <a:ext cx="3200400" cy="211090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DB8D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 · เงื่อนไข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4.1 เทรน U-Net แบบมีเงื่อนไข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unet_c = make_unet(num_class_embeds=6).to(device)   # 0–4 = กลุ่ม, 5 = "ไม่บอกกลุ่ม"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cond_losses = train_diffusion(unet_c, DDPM_EPOCHS, cond=True, p_uncond=0.1, tag="cond")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num_class_embeds = 6: กลุ่ม 0–4 + ป้าย 5 = 'ไม่บอกกลุ่ม'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cond=True → ลูปเดิม แต่ป้อน class_labels=yb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p_uncond = 0.1: สุ่มซ่อนป้าย 10% ตอนเทรน → โมเดลเดียวทายได้ทั้งมี/ไม่มีเงื่อนไข (หัวใจของ CFG)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มีตัวกันรันซ้ำเหมือนแล็บ 3 · ~4 นาทีบน T4 (ประมาณการ)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loss ลดเรียบใกล้เคียงแล็บ 3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 · เงื่อนไข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4.2 สั่งสร้างทีละกลุ่ม และหมุน guidance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5294376" cy="3387852"/>
          </a:xfrm>
          <a:prstGeom prst="roundRect">
            <a:avLst>
              <a:gd name="adj" fmla="val 2159"/>
            </a:avLst>
          </a:prstGeom>
          <a:solidFill>
            <a:srgbClr val="1E2733"/>
          </a:solidFill>
          <a:ln w="12700">
            <a:solidFill>
              <a:srgbClr val="1E27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426464"/>
            <a:ext cx="4965192" cy="3131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labels = torch.arange(5, device=device).repeat_interleave(8)   # กลุ่ม 0..4 กลุ่มละ 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imgs_c, _ = sample(unet_c, ddim_sched, n=40, steps=50, labels=labels, guidance=1.0)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show_grid(imgs_c, titles=[CLASS_NAMES[c] for c in labels.tolist()], nrow=8,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suptitle="สั่งสร้างทีละกลุ่ม (guidance = 1)")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 = torch.full((16,), 2, device=device)   # กลุ่ม 2 = อาหาร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 in [1.0, 3.0, 6.0]: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imgs_w, _ = sample(unet_c, ddim_sched, n=16, steps=50, labels=food, guidance=w, seed=7)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980176" y="1298448"/>
            <a:ext cx="2706624" cy="33878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labels = 0,0,…,4,4 กลุ่มละ 8 → sample DDIM 50 ก้าว guidance = 1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food = ป้าย 2 ทั้ง 16 ภาพ · seed เดิม (7) · guidance 1 / 3 / 6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 sample(): eps = eps_u + guidance × (eps_c − eps_u)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eps_u = ทายด้วยป้าย 5 ('ไม่บอก')</a:t>
            </a:r>
            <a:endParaRPr lang="en-US" sz="125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105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แต่ละแถวตรงกลุ่ม · guidance สูง → สีจัด ตรงกลุ่ม แต่ซ้ำกันมากขึ้น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 · เงื่อนไข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สั่งสร้างทีละกลุ่ม (guidance = 1)</a:t>
            </a:r>
            <a:endParaRPr lang="en-US" sz="2400" dirty="0"/>
          </a:p>
        </p:txBody>
      </p:sp>
      <p:pic>
        <p:nvPicPr>
          <p:cNvPr id="8" name="Image 0" descr="/home/claude/week4/slides/fig/f_d_co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77369"/>
            <a:ext cx="5486400" cy="283001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172200" y="1298448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0216" y="142646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371600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แถวละกลุ่ม (ฮีโร่ / ตัวประกอบ / อาหาร / คาถา / หันข้าง): U-Net ตัวเดียวสร้างได้ทุกกลุ่มตามป้ายที่สั่ง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482596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0216" y="2610612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83680" y="2555748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เทียบแล็บ 3 ที่สุ่มได้แต่เลือกกลุ่มไม่ได้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72200" y="3666744"/>
            <a:ext cx="2514600" cy="1019556"/>
          </a:xfrm>
          <a:prstGeom prst="roundRect">
            <a:avLst>
              <a:gd name="adj" fmla="val 7175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00216" y="3794760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83680" y="3739896"/>
            <a:ext cx="1965960" cy="873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กลไกเดียวกับ 'ข้อความ → ภาพ' สัปดาห์หน้า แค่เปลี่ยนป้ายเป็นเวกเตอร์จาก CLIP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161391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1613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แล็บ 4 · เงื่อนไข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ควรเห็น: guidance สูง → ตรงกลุ่มขึ้น แต่หลากหลายลด</a:t>
            </a:r>
            <a:endParaRPr lang="en-US" sz="2400" dirty="0"/>
          </a:p>
        </p:txBody>
      </p:sp>
      <p:pic>
        <p:nvPicPr>
          <p:cNvPr id="8" name="Image 0" descr="/home/claude/week4/slides/fig/f_d_cf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1701" y="1298448"/>
            <a:ext cx="5520597" cy="2148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" y="3758184"/>
            <a:ext cx="201168" cy="201168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6868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อ่านผล: guidance = 'ขยายส่วนที่เงื่อนไขเปลี่ยน'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136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9376" y="3758184"/>
            <a:ext cx="201168" cy="201168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7284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สูงไป → สีจัด ซ้ำ เพี้ยน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65520" y="3630168"/>
            <a:ext cx="2621280" cy="1056132"/>
          </a:xfrm>
          <a:prstGeom prst="roundRect">
            <a:avLst>
              <a:gd name="adj" fmla="val 6926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93536" y="3758184"/>
            <a:ext cx="201168" cy="201168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77000" y="3703320"/>
            <a:ext cx="2072640" cy="90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Stable Diffusion ใช้ค่าราว 5–8 — สัปดาห์หน้าจะได้หาค่าที่เหมาะเอง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สรุปแล็บ: 3 โมเดล ชุดข้อมูลเดียว — เห็นอะไรบ้าง</a:t>
            </a:r>
            <a:endParaRPr lang="en-US" sz="24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5943600" cy="914400"/>
        </p:xfrm>
        <a:graphic>
          <a:graphicData uri="http://schemas.openxmlformats.org/drawingml/2006/table">
            <a:tbl>
              <a:tblPr/>
              <a:tblGrid>
                <a:gridCol w="1584960"/>
                <a:gridCol w="1386840"/>
                <a:gridCol w="1386840"/>
                <a:gridCol w="1584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VAE (แล็บ 1)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GAN (แล็บ 2)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Diffusion (แล็บ 3–4)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loss ตอนเทรน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ลดเรียบ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แกว่ง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ลดเรียบ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ภาพที่ได้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เบลอ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ความหลากหลาย (วัดได้)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ต่ำกว่าจริง (เบลอ)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ใกล้จริงเมื่อเทรนสำเร็จ — แต่ collapse ได้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ใกล้ GAN ที่สำเร็จ — ทุกรอบ ไม่ต้องจูน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เวลาสร้าง 32 ภาพ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ทันที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ทันที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1,000 ก้าวช้า → DDIM 50 ก้าว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สั่งกลุ่มได้ไหม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 (วันนี้)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 (วันนี้)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ได้ + หมุน guidance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home/claude/week4/slides/fig/t_lab_vae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33199" y="1298448"/>
            <a:ext cx="80408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233199" y="1298448"/>
            <a:ext cx="804082" cy="53035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583680" y="184708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VAE: เบลอ</a:t>
            </a:r>
            <a:endParaRPr lang="en-US" sz="1000" dirty="0"/>
          </a:p>
        </p:txBody>
      </p:sp>
      <p:pic>
        <p:nvPicPr>
          <p:cNvPr id="12" name="Image 1" descr="/home/claude/week4/slides/fig/t_lab_gan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3199" y="2167128"/>
            <a:ext cx="804082" cy="53035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233199" y="2167128"/>
            <a:ext cx="804082" cy="53035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583680" y="271576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GAN: คม</a:t>
            </a:r>
            <a:endParaRPr lang="en-US" sz="1000" dirty="0"/>
          </a:p>
        </p:txBody>
      </p:sp>
      <p:pic>
        <p:nvPicPr>
          <p:cNvPr id="15" name="Image 2" descr="/home/claude/week4/slides/fig/t_lab_ddpm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199" y="3035808"/>
            <a:ext cx="804082" cy="53035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233199" y="3035808"/>
            <a:ext cx="804082" cy="530352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6583680" y="35844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Diffusion: คม หลากหลาย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57200" y="3877056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21792" y="4105656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914400" y="3877056"/>
            <a:ext cx="7635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สัปดาห์หน้า: VAE (แล็บ 1) + U-Net (แล็บ 3) + เงื่อนไขเป็นข้อความ (แล็บ 4) = Stable Diffusion ของจริง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แก้ปัญหา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ปัญหาที่อาจเจอ และวิธีแก้</a:t>
            </a:r>
            <a:endParaRPr lang="en-US" sz="2400" dirty="0"/>
          </a:p>
        </p:txBody>
      </p:sp>
      <p:pic>
        <p:nvPicPr>
          <p:cNvPr id="8" name="Image 0" descr="/home/claude/week4/slides/fig/f_a_co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906" y="1298448"/>
            <a:ext cx="2998508" cy="218541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95906" y="1298448"/>
            <a:ext cx="2998508" cy="218541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95906" y="3511296"/>
            <a:ext cx="29985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เกือบทุกปัญหา: เช็ก runtime แล้วรันใหม่จากบนสุด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298448"/>
            <a:ext cx="4810106" cy="242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b="1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เซลล์แรกขึ้น 'อุปกรณ์: cpu' → Runtime → Change runtime type → T4 GPU แล้วรันใหม่ตั้งแต่ต้น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NameError (เช่น loader, show_grid, sample ไม่รู้จัก) → ข้ามเซลล์มา ให้ย้อนไปรันเซลล์ก่อนหน้า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 พัง (lossD ≈ 0 ภาพเป็น noise ตลอด) → ลด lr ของ optD เป็น 1e-4 หรือรันเซลล์ 2.1 + 2.2 ใหม่ (seed เดิมควรไม่พัง)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 ไม่เทรนใหม่ทั้งที่แก้โค้ด → ตัวกันรันซ้ำ: รันเซลล์ 3.2 (สร้าง unet ใหม่และล้างสถานะ) แล้วค่อยรัน 3.3 · แล็บ 4: del cond_losses แล้วรัน 4.1 ใหม่</a:t>
            </a:r>
            <a:endParaRPr lang="en-US" sz="1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ภาพผลต่างจากบนจอเล็กน้อย → ปกติถ้า GPU ต่างรุ่น (seed เท่ากันแต่การคำนวณไม่เหมือนกันเป๊ะ)</a:t>
            </a:r>
            <a:endParaRPr lang="en-US" sz="1100" dirty="0"/>
          </a:p>
          <a:p>
            <a:pPr lvl="1" marL="355600" indent="-177800">
              <a:spcAft>
                <a:spcPts val="500"/>
              </a:spcAft>
              <a:buSzPct val="100000"/>
              <a:buChar char="–"/>
            </a:pPr>
            <a:r>
              <a:rPr lang="en-US" sz="9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Colab ตัด session → ต้องเทรนใหม่ทั้งหมด (รวม ~15 นาที) — วันนี้โมเดลเล็ก ยอมรับได้; สัปดาห์หน้าจะสอนบันทึก weight ลง Drive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4087368"/>
            <a:ext cx="164592" cy="164592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3840480"/>
            <a:ext cx="7635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ชุดข้อมูลและโค้ดทั้งหมดอยู่ในไฟล์เดียว ถ้าพังให้ Restart runtime แล้วรันใหม่จากบนสุด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แผนภาพขั้นตอนใน Colab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836676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836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การบ้านสัปดาห์ 4: "3 โมเดล 1 ชุดข้อมูล"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98448"/>
            <a:ext cx="2609088" cy="2022348"/>
          </a:xfrm>
          <a:prstGeom prst="roundRect">
            <a:avLst>
              <a:gd name="adj" fmla="val 4521"/>
            </a:avLst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60704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โจทย์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" y="1901952"/>
            <a:ext cx="2316480" cy="130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เลือกชุดภาพเล็ก ๆ ของตัวเอง (≥ 2,000 ภาพ, ย่อเป็น 16×16 หรือ 32×32)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เทรน VAE / GAN / DDPM ด้วยโค้ดวันนี้ (HW4_Starter.ipynb)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เทียบ: ภาพ · ความหลากหลาย · เวลา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7456" y="1298448"/>
            <a:ext cx="2609088" cy="2022348"/>
          </a:xfrm>
          <a:prstGeom prst="roundRect">
            <a:avLst>
              <a:gd name="adj" fmla="val 4521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3760" y="1444752"/>
            <a:ext cx="365760" cy="365760"/>
          </a:xfrm>
          <a:prstGeom prst="ellipse">
            <a:avLst/>
          </a:prstGeom>
          <a:solidFill>
            <a:srgbClr val="1D6F5B"/>
          </a:solidFill>
          <a:ln w="12700">
            <a:solidFill>
              <a:srgbClr val="1D6F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13760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70960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ทดลองเพิ่ม 1 อย่าง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13760" y="1901952"/>
            <a:ext cx="2316480" cy="130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1: β ของ VAE (1 vs 4) · DDIM step sweep (100/50/20/10) · guidance sweep (ถ้ามีป้าย) · จำนวน epoch ของ GAN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รายงานเป็นตาราง + ภาพ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7712" y="1298448"/>
            <a:ext cx="2609088" cy="2022348"/>
          </a:xfrm>
          <a:prstGeom prst="roundRect">
            <a:avLst>
              <a:gd name="adj" fmla="val 4521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24016" y="1444752"/>
            <a:ext cx="365760" cy="36576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24016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81216" y="1426464"/>
            <a:ext cx="185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24016" y="1901952"/>
            <a:ext cx="2316480" cy="1309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notebook ที่รันแล้ว + my_images.npy + hw4_results.json + memo 1 หน้า (โมเดลไหนเหมาะกับข้อมูลของคุณ เพราะอะไร) + สไลด์ 2 หน้า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ส่งก่อนคาบสัปดาห์ 5 · นำเสนอ 3 นาที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รายละเอียดและเกณฑ์ในเอกสารรายวิชา</a:t>
            </a:r>
            <a:endParaRPr lang="en-US" sz="1100" dirty="0"/>
          </a:p>
        </p:txBody>
      </p:sp>
      <p:pic>
        <p:nvPicPr>
          <p:cNvPr id="23" name="Image 0" descr="/home/claude/week4/slides/fig/t_lab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9" y="3457956"/>
            <a:ext cx="1245403" cy="821436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794619" y="3457956"/>
            <a:ext cx="1245403" cy="82143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ตัวอย่างชุดข้อมูล (ของคุณจะต่างไป)</a:t>
            </a:r>
            <a:endParaRPr lang="en-US" sz="1000" dirty="0"/>
          </a:p>
        </p:txBody>
      </p:sp>
      <p:pic>
        <p:nvPicPr>
          <p:cNvPr id="26" name="Image 1" descr="/home/claude/week4/slides/fig/t_lab_vae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7739" y="3457956"/>
            <a:ext cx="1245403" cy="82143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2897739" y="3457956"/>
            <a:ext cx="1245403" cy="82143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56032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VAE</a:t>
            </a:r>
            <a:endParaRPr lang="en-US" sz="1000" dirty="0"/>
          </a:p>
        </p:txBody>
      </p:sp>
      <p:pic>
        <p:nvPicPr>
          <p:cNvPr id="29" name="Image 2" descr="/home/claude/week4/slides/fig/t_lab_gan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859" y="3457956"/>
            <a:ext cx="1245403" cy="821436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000859" y="3457956"/>
            <a:ext cx="1245403" cy="82143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466344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GAN</a:t>
            </a:r>
            <a:endParaRPr lang="en-US" sz="1000" dirty="0"/>
          </a:p>
        </p:txBody>
      </p:sp>
      <p:pic>
        <p:nvPicPr>
          <p:cNvPr id="32" name="Image 3" descr="/home/claude/week4/slides/fig/t_lab_ddpm6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979" y="3457956"/>
            <a:ext cx="1245403" cy="821436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103979" y="3457956"/>
            <a:ext cx="1245403" cy="82143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6766560" y="4297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DDPM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ผลจริงจากการรัน notebook แล็บ (CPU)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14316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LLM &amp; Agentic AI · สัปดาห์ 4 · ช่วงบ่าย (แล็บ)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357616" y="4759452"/>
            <a:ext cx="329184" cy="329184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357616" y="4759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"/>
            <a:ext cx="758952" cy="274320"/>
          </a:xfrm>
          <a:prstGeom prst="roundRect">
            <a:avLst>
              <a:gd name="adj" fmla="val 50000"/>
            </a:avLst>
          </a:prstGeom>
          <a:solidFill>
            <a:srgbClr val="DDF1EA"/>
          </a:solidFill>
          <a:ln w="12700">
            <a:solidFill>
              <a:srgbClr val="DDF1E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56032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5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ปิดวัน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48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สัปดาห์หน้า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44168"/>
            <a:ext cx="4572000" cy="1783080"/>
          </a:xfrm>
          <a:prstGeom prst="roundRect">
            <a:avLst>
              <a:gd name="adj" fmla="val 6154"/>
            </a:avLst>
          </a:prstGeom>
          <a:solidFill>
            <a:srgbClr val="FCF0D9"/>
          </a:solidFill>
          <a:ln w="12700">
            <a:solidFill>
              <a:srgbClr val="FCF0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44168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เอา VAE (แล็บ 1) + U-Net (แล็บ 3) + เงื่อนไข (แล็บ 4) มาต่อกันเป็น Stable Diffusion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แล้วเรียนวิธีควบคุม (img2img, ControlNet) และปรับแต่งเป็นของเรา (LoRA)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6440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คำถามที่ทิ้งไว้ตอนเช้า: 'สร้างภาพสินค้าของบริษัทตัวเอง' ควรเทรนตั้งแต่ศูนย์ หรือปรับโมเดลที่มีอยู่? — สัปดาห์หน้าได้คำตอบด้วยมือ</a:t>
            </a:r>
            <a:endParaRPr lang="en-US" sz="1200" dirty="0"/>
          </a:p>
        </p:txBody>
      </p:sp>
      <p:pic>
        <p:nvPicPr>
          <p:cNvPr id="11" name="Image 0" descr="/home/claude/week4/slides/fig/f_sd_si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2142315"/>
            <a:ext cx="3429000" cy="151266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257800" y="2142315"/>
            <a:ext cx="3429000" cy="1512666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4576572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4A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แผนภาพ Stable Diffusion (ภาพห้องนอนจาก Siyu Zhu Lecture 4&amp;5 หน้า 52)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ดร.ธีรพงศ์ อรชร</dc:creator>
  <cp:lastModifiedBy>ดร.ธีรพงศ์ อรชร</cp:lastModifiedBy>
  <cp:revision>1</cp:revision>
  <dcterms:created xsi:type="dcterms:W3CDTF">2026-10-17T15:41:31Z</dcterms:created>
  <dcterms:modified xsi:type="dcterms:W3CDTF">2026-10-17T15:41:31Z</dcterms:modified>
</cp:coreProperties>
</file>