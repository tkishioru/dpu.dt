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</p:sldIdLst>
  <p:sldSz cy="5143500" cx="9144000"/>
  <p:notesSz cx="5143500" cy="9144000"/>
  <p:embeddedFontLst>
    <p:embeddedFont>
      <p:font typeface="Tahoma"/>
      <p:regular r:id="rId72"/>
      <p:bold r:id="rId7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74" roundtripDataSignature="AMtx7mh4roZYPxiqiUlj3cxzk55xjeYcm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8235127-4059-4FEF-A48D-6CC648F02DD3}">
  <a:tblStyle styleId="{78235127-4059-4FEF-A48D-6CC648F02DD3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73" Type="http://schemas.openxmlformats.org/officeDocument/2006/relationships/font" Target="fonts/Tahoma-bold.fntdata"/><Relationship Id="rId72" Type="http://schemas.openxmlformats.org/officeDocument/2006/relationships/font" Target="fonts/Tahoma-regular.fntdata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74" Type="http://customschemas.google.com/relationships/presentationmetadata" Target="metadata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71" Type="http://schemas.openxmlformats.org/officeDocument/2006/relationships/slide" Target="slides/slide66.xml"/><Relationship Id="rId70" Type="http://schemas.openxmlformats.org/officeDocument/2006/relationships/slide" Target="slides/slide65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20" Type="http://schemas.openxmlformats.org/officeDocument/2006/relationships/slide" Target="slides/slide15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22" Type="http://schemas.openxmlformats.org/officeDocument/2006/relationships/slide" Target="slides/slide17.xml"/><Relationship Id="rId66" Type="http://schemas.openxmlformats.org/officeDocument/2006/relationships/slide" Target="slides/slide61.xml"/><Relationship Id="rId21" Type="http://schemas.openxmlformats.org/officeDocument/2006/relationships/slide" Target="slides/slide16.xml"/><Relationship Id="rId65" Type="http://schemas.openxmlformats.org/officeDocument/2006/relationships/slide" Target="slides/slide60.xml"/><Relationship Id="rId24" Type="http://schemas.openxmlformats.org/officeDocument/2006/relationships/slide" Target="slides/slide19.xml"/><Relationship Id="rId68" Type="http://schemas.openxmlformats.org/officeDocument/2006/relationships/slide" Target="slides/slide63.xml"/><Relationship Id="rId23" Type="http://schemas.openxmlformats.org/officeDocument/2006/relationships/slide" Target="slides/slide18.xml"/><Relationship Id="rId67" Type="http://schemas.openxmlformats.org/officeDocument/2006/relationships/slide" Target="slides/slide62.xml"/><Relationship Id="rId60" Type="http://schemas.openxmlformats.org/officeDocument/2006/relationships/slide" Target="slides/slide55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69" Type="http://schemas.openxmlformats.org/officeDocument/2006/relationships/slide" Target="slides/slide64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59" Type="http://schemas.openxmlformats.org/officeDocument/2006/relationships/slide" Target="slides/slide54.xml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" name="Google Shape;2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เปิดด้วยการทบทวนสั้น ๆ: สัปดาห์ 1 เราฝึก CNN ให้ดูภาพแล้วตอบชื่อคลาส สัปดาห์ 2–3 เราผ่า LLM และเห็นว่ามันคือฟังก์ชันทำนาย token ถัดไป วันนี้เราจะเอาความคิด 'generative' จาก LLM มาใช้กับภาพ: แทนที่จะทำนายคำถัดไป เราจะ 'สร้างภาพใหม่' ที่ไม่เคยมีอยู่จริง จุดเชื่อม: LLM = โมเดลสร้างข้อความ วันนี้ = โมเดลสร้างภาพ หลักการเดียวกัน (เรียนการกระจายของข้อมูลแล้วสุ่ม) ต่างกันที่ 'วิธีสุ่ม'</a:t>
            </a:r>
            <a:endParaRPr/>
          </a:p>
        </p:txBody>
      </p:sp>
      <p:sp>
        <p:nvSpPr>
          <p:cNvPr id="24" name="Google Shape;24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" name="Google Shape;4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บอกโครงของวัน ย้ำว่าชุดข้อมูลเดียวกันทั้งวัน (sprite ตัวละครเกม 16×16) เพื่อให้เทียบสามโมเดลกันได้ตรง ๆ ไม่ต้องบอกเวลาแต่ละช่วง</a:t>
            </a:r>
            <a:endParaRPr/>
          </a:p>
        </p:txBody>
      </p:sp>
      <p:sp>
        <p:nvSpPr>
          <p:cNvPr id="45" name="Google Shape;45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" name="Google Shape;8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ประโยคนี้จะกลับมาทุกส่วน ให้นักศึกษาจำ: 'เรียนการกระจาย แล้วสุ่ม' — และคำถามเดียวที่แยกโมเดลคือ 'สุ่มอย่างไร' สัปดาห์ 3 เราก็เห็นแล้วว่า LLM สุ่ม token ทีละตัวจาก softmax (temperature/top-p) วันนี้จะเห็นวิธีสุ่มอีก 3 แบบ</a:t>
            </a:r>
            <a:endParaRPr/>
          </a:p>
        </p:txBody>
      </p:sp>
      <p:sp>
        <p:nvSpPr>
          <p:cNvPr id="84" name="Google Shape;84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" name="Google Shape;10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ส่วนแรกสั้น ๆ: ตั้งโจทย์ให้ชัดก่อนว่า 'สร้าง' ต่างจาก 'จำแนก' อย่างไร แล้ววางแผนที่ของตระกูลโมเดล</a:t>
            </a:r>
            <a:endParaRPr/>
          </a:p>
        </p:txBody>
      </p:sp>
      <p:sp>
        <p:nvSpPr>
          <p:cNvPr id="101" name="Google Shape;101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" name="Google Shape;11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ชี้ให้เห็นว่าลูกศรกลับทิศ: classifier รับเยอะ-ตอบน้อย (768 → 1) ส่วน generator รับน้อย-ตอบเยอะ (1 → 768) ถาม: ถ้าให้นักศึกษาวาดฮีโร่จากคำว่า 'ฮีโร่' คำเดียว ต้องตัดสินใจกี่อย่าง? ทุกพิกเซลต้องถูกพร้อมกันและต้องสอดคล้องกันเอง — นี่คือเหตุผลที่ต้องมีวิธีคิดใหม่</a:t>
            </a:r>
            <a:endParaRPr/>
          </a:p>
        </p:txBody>
      </p:sp>
      <p:sp>
        <p:nvSpPr>
          <p:cNvPr id="115" name="Google Shape;115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ภาพของ Hung-yi Lee สรุปทั้งวัน: ทุกโมเดลวันนี้คือ 'Network ที่แปลง noise เป็นภาพ' ต่างกันแค่วิธีฝึก ข้อความจีนในภาพขวา = 'สุนัขกำลังวิ่ง'</a:t>
            </a:r>
            <a:endParaRPr/>
          </a:p>
        </p:txBody>
      </p:sp>
      <p:sp>
        <p:nvSpPr>
          <p:cNvPr id="136" name="Google Shape;136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0" name="Google Shape;160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นี่คือหัวใจของส่วนที่ 1 ในสัปดาห์ 1 loss คือ 'ตอบตรงเฉลยไหม' แต่ตอนนี้เฉลยมีเป็นล้านแบบ ถ้าเราบังคับให้โมเดลตอบเฉลยเดียว (เช่นเอาค่าเฉลี่ยของภาพอาหารทั้งหมด) จะได้ภาพเบลอ ๆ ที่ไม่ใช่อาหารชนิดไหนเลย โยงกลับสัปดาห์ 2: LLM ก็ไม่ได้มีคำถัดไปคำเดียวที่ถูก มันเรียน 'ความน่าจะเป็นของทุกคำ' แล้วสุ่ม</a:t>
            </a:r>
            <a:endParaRPr/>
          </a:p>
        </p:txBody>
      </p:sp>
      <p:sp>
        <p:nvSpPr>
          <p:cNvPr id="161" name="Google Shape;161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1" name="Google Shape;181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ใช้อุปมาครูสอนวาดการ์ตูน ย้ำคำว่า 'ไม่ได้ท่องจำ' เพราะนักศึกษามักเข้าใจผิดว่าโมเดลตัดแปะภาพจากชุดข้อมูล แล้วตั้งเกณฑ์ 3 ข้อที่จะใช้เทียบ VAE/GAN/Diffusion ทั้งวัน</a:t>
            </a:r>
            <a:endParaRPr/>
          </a:p>
        </p:txBody>
      </p:sp>
      <p:sp>
        <p:nvSpPr>
          <p:cNvPr id="182" name="Google Shape;182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0" name="Google Shape;200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ภาพนี้คือแผนที่ของทั้งวัน ชี้ว่าเราจะทำ 3 ตัวขวาในแล็บ ส่วน autoregressive จะพูดสั้น ๆ เพราะนักศึกษารู้จักจาก LLM แล้ว บอกล่วงหน้าว่า Stable Diffusion สัปดาห์หน้าจะใช้ VAE + Diffusion ร่วมกัน (และ GAN แอบอยู่ใน decoder ด้วย)</a:t>
            </a:r>
            <a:endParaRPr/>
          </a:p>
        </p:txBody>
      </p:sp>
      <p:sp>
        <p:nvSpPr>
          <p:cNvPr id="201" name="Google Shape;201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1" name="Google Shape;221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โยงตรง ๆ กับสัปดาห์ 2: ถ้าเปลี่ยน 'คำ' เป็น 'พิกเซล' ก็ได้ PixelCNN ถามนักศึกษา: ภาพ 512×512 ต้องวนกี่รอบ? (262,144) — นี่คือเหตุผลที่ตระกูลนี้เงียบไปพักหนึ่ง แต่กลับมาใหม่เมื่อมี 'image token' (VQ-VAE ที่จะพูดถึงในส่วน 2) ทำให้ภาพเหลือไม่กี่ร้อย token เช่นโมเดลสร้างภาพของ GPT-4o</a:t>
            </a:r>
            <a:endParaRPr/>
          </a:p>
        </p:txBody>
      </p:sp>
      <p:sp>
        <p:nvSpPr>
          <p:cNvPr id="222" name="Google Shape;222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2" name="Google Shape;242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อ่านภาพจากซ้ายไปขวา (1) ภาพถ่ายจริงจาก CIFAR-10 — ชุดข้อมูลภาพ 32×32 สิบกลุ่ม เครื่องบิน รถ นก แมว ... ใช้เป็นตัวอย่างสอนโมเดล ภาพพวกนี้ไม่ได้อยู่ในผลลัพธ์ (2) หลังเรียนแล้ว โมเดลวาดภาพใหม่จากกระดาษเปล่า เติมทีละพิกเซลจากมุมซ้ายบนไปขวาล่าง จุดแดงคือจุดที่กำลังทาย มันดูทุกจุดที่วาดไปแล้วเพื่อทายจุดนี้ — เหมือน LLM ทาย token ถัดไปในสัปดาห์ 2–3 ภาพ 32×32 จึงต้องทาย 1,024 ครั้ง (ภาพที่ใช้สาธิตลำดับคือภาพที่ PixelRNN สร้างจริง ใส่สีเทาบังส่วนที่ยังไม่วาด) (3) ทำซ้ำหลายรอบได้ภาพหลายภาพ — ทั้งหมดเป็นภาพที่โมเดลวาดเอง ไม่ใช่ภาพถ่าย ให้นักศึกษาลองทายว่าแต่ละภาพเป็นอะไร: สีและพื้นผิวคล้ายจริง (ฟ้า หญ้า รถ) แต่บอกไม่ได้ชัด นี่คือระดับของปี 2016 จำภาพขวาไว้เทียบกับ VAE GAN Diffusion ในหน้าถัดไป</a:t>
            </a:r>
            <a:endParaRPr/>
          </a:p>
        </p:txBody>
      </p:sp>
      <p:sp>
        <p:nvSpPr>
          <p:cNvPr id="243" name="Google Shape;243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6" name="Google Shape;256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ตารางนี้คือ 'คำตอบ' ที่ส่วน 2–4 จะพิสูจน์ด้วยแล็บ ให้ดูแล้วผ่านไปก่อน ตอนปิดวันจะกลับมาดูอีกครั้งพร้อมภาพจริงจากแล็บ จุดขาย: Diffusion ได้ 3 ข้อแรก แลกกับความช้า ซึ่งแก้ได้ด้วย DDIM และ latent diffusion ภาพคอลัมน์ซ้ายเป็นภาพที่โมเดลแต่ละตระกูลสร้างเองทั้งหมด (ไม่ใช่ภาพถ่าย) ให้ดูลักษณะเด่น: PixelRNN 2016 ยังหยาบ (รุ่นใหม่ของตระกูลนี้ เช่น Parti หรือการสร้างภาพของ GPT-4o คุณภาพดีมากแต่ยังสร้างทีละส่วน) · VAE หน้าเบลอ · DCGAN ห้องนอนคม · Stable Diffusion คมและหลากหลาย ภาพมาจากต่างปีต่างชุดข้อมูล จึงไม่ใช่การแข่งบนโจทย์เดียวกัน</a:t>
            </a:r>
            <a:endParaRPr/>
          </a:p>
        </p:txBody>
      </p:sp>
      <p:sp>
        <p:nvSpPr>
          <p:cNvPr id="257" name="Google Shape;257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1" name="Google Shape;281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VAE คือตัวแรกเพราะ (1) โครงสร้างต่อจาก CNN สัปดาห์ 1 ตรง ๆ (2) เทรนง่ายที่สุด (3) เป็นชิ้นส่วนของ Stable Diffusion</a:t>
            </a:r>
            <a:endParaRPr/>
          </a:p>
        </p:txBody>
      </p:sp>
      <p:sp>
        <p:nvSpPr>
          <p:cNvPr id="282" name="Google Shape;282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5" name="Google Shape;295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อุปมา: zip ไฟล์แล้ว unzip หรือ 'สรุปย่อ' แล้วเขียนกลับ ถ้าสรุปแค่ 16 ตัวเลขแล้วยังวาดกลับได้ แปลว่า 16 ตัวเลขนั้นเก็บ 'สาระ' ของภาพ (สี ท่าทาง ประเภท) ไม่ใช่พิกเซลทีละจุด เน้นว่าไม่ต้องใช้ป้าย — self-supervised (เรียนจากข้อมูลตัวเองโดยไม่มีป้ายกำกับ)</a:t>
            </a:r>
            <a:endParaRPr/>
          </a:p>
        </p:txBody>
      </p:sp>
      <p:sp>
        <p:nvSpPr>
          <p:cNvPr id="296" name="Google Shape;296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6" name="Google Shape;316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z สั้นกว่าภาพมาก จึงเก็บได้แค่สาระ แล็บบ่ายบีบ 768 ตัวเลขเหลือ 16</a:t>
            </a:r>
            <a:endParaRPr/>
          </a:p>
        </p:txBody>
      </p:sp>
      <p:sp>
        <p:nvSpPr>
          <p:cNvPr id="317" name="Google Shape;317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4" name="Google Shape;344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นี่คือแรงจูงใจของตัว V ใน VAE ให้นักศึกษาคิดตาม: ถ้า encoder ได้วางรหัสตรงไหนก็ได้ มันจะวางห่าง ๆ กันเพื่อให้ decoder แยกง่าย (เหมือนนักเรียนนั่งคนละมุมห้อง) ที่ว่างตรงกลางไม่มีใครรับผิดชอบ VAE บังคับให้ทุกคนมานั่งรวมกลางห้องเป็นวงกลม (N(0, I))</a:t>
            </a:r>
            <a:endParaRPr/>
          </a:p>
        </p:txBody>
      </p:sp>
      <p:sp>
        <p:nvSpPr>
          <p:cNvPr id="345" name="Google Shape;345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5" name="Google Shape;365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อธิบายว่าทำไมต้องมีทริกนี้: ถ้าเขียน 'สุ่ม z จาก N(mu, sigma)' ตรง ๆ จะหา gradient ของการสุ่มไม่ได้ แต่ถ้าเขียน z = mu + sigma × ε ตัวที่สุ่มคือ ε ซึ่งไม่มีพารามิเตอร์ ส่วน mu และ sigma เป็นแค่การบวกคูณธรรมดา backprop สัปดาห์ 1 ทำงานได้ปกติ</a:t>
            </a:r>
            <a:endParaRPr/>
          </a:p>
        </p:txBody>
      </p:sp>
      <p:sp>
        <p:nvSpPr>
          <p:cNvPr id="366" name="Google Shape;366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6" name="Google Shape;386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ไม่ต้องลงสูตร KL ให้พูดเป็นภาพ: ค่าปรับเวลา encoder 'หนีออกจากวงกลม' ชี้ว่า loss สองส่วนดึงกันคนละทาง: MSE อยากให้แต่ละภาพมีรหัสเฉพาะตัว (ห่าง ๆ กัน) KL อยากให้ทุกภาพอยู่รวมกลาง สมดุลของสองอย่างนี้คือ VAE</a:t>
            </a:r>
            <a:endParaRPr/>
          </a:p>
        </p:txBody>
      </p:sp>
      <p:sp>
        <p:nvSpPr>
          <p:cNvPr id="387" name="Google Shape;387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7" name="Google Shape;407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ภาพนี้คือ VAE ที่เทรนจริงบน sprite (โครงเดียวกับแล็บ 1, z 16 ตัวเลข) ตัวเลขทุกช่องเป็นค่าจริงของภาพแครอทนี้ อ่านแถวบนจากซ้ายไปขวา: ภาพ 768 ตัวเลข → encoder (CNN แบบสัปดาห์ 1) ให้ตัวเลข 2 ชุด ชุดละ 16 ตัว คือ mu = จุดกลาง และ sigma = ความกว้างของบริเวณ → สุ่ม z = mu + sigma × ε โดย ε คือเลขสุ่มใหม่ทุกครั้ง (reparameterization trick: ความสุ่มแยกไปอยู่ที่ ε gradient จึงไหลผ่าน mu, sigma ได้) → decoder คลาย z กลับเป็นภาพ แถวล่างคือ loss 2 ส่วน: ① เทียบภาพออกกับภาพเข้าทีละจุด (MSE) — ช่องแดงคือจุดที่ต่าง เหมือน autoencoder ธรรมดา ② KL — เทียบบริเวณของภาพนี้ (ส้ม) กับกลางแผนที่ N(0,1) (เทา) ถ้าอยู่ไกลหรือแคบเกินจะถูกปรับให้ดึงเข้ากลาง ทุกภาพจึงมาซ้อนกันกลางแผนที่ แผนที่ไม่มีรู β คือน้ำหนักระหว่างสองข้อ ภาพนี้ตรงกับ forward() ของ class VAE ในแล็บ 1 ทีละกล่อง: encode / reparameterize / decode</a:t>
            </a:r>
            <a:endParaRPr/>
          </a:p>
        </p:txBody>
      </p:sp>
      <p:sp>
        <p:nvSpPr>
          <p:cNvPr id="408" name="Google Shape;408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1" name="Google Shape;421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โค้ดนี้ตรงกับ notebook แล็บ 1 ทุกตัวอักษร ชี้ 4 จุด: enc (CNN เดิม) · fc_mu/fc_logvar · reparameterize · dec ไม่ต้องอ่านทุกบรรทัด</a:t>
            </a:r>
            <a:endParaRPr/>
          </a:p>
        </p:txBody>
      </p:sp>
      <p:sp>
        <p:nvSpPr>
          <p:cNvPr id="422" name="Google Shape;422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8" name="Google Shape;438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ภาพสุ่มจาก VAE จำโครงได้ (เป็นตัวละคร) แต่ขอบไม่คม สีจาง — สาเหตุ: MSE ให้รางวัลคำตอบ 'ค่าเฉลี่ย' — เมื่อโมเดลไม่แน่ใจว่าพิกเซลนี้ควรเป็นอะไร การตอบกลาง ๆ ปลอดภัยที่สุด — นี่คือปัญหาที่ GAN (ส่วน 3) และ Diffusion (ส่วน 4) จะแก้คนละวิธี ‖ ทดลองความคิด: ถ้าภาพจริงครึ่งหนึ่งมีแถบซ้าย อีกครึ่งมีแถบขวา และ MSE ต้องเลือกภาพเดียว คำตอบที่ MSE ต่ำสุดคือภาพที่มีแถบจาง ๆ ทั้งสองข้าง ซึ่งไม่เหมือนภาพจริงใบไหนเลย ตอนบ่ายจะเห็นภาพเบลอจริง ๆ ให้จำสาเหตุนี้ไว้</a:t>
            </a:r>
            <a:endParaRPr/>
          </a:p>
        </p:txBody>
      </p:sp>
      <p:sp>
        <p:nvSpPr>
          <p:cNvPr id="439" name="Google Shape;439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2" name="Google Shape;452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แถวบน: เอาภาพจริง A (ฮีโร่) และ B (อาหาร) เข้า encoder ได้ z สองจุด แล้วเลื่อน z จาก A ไป B ทีละ 1/7 ให้ decoder วาดทุกจุด — ภาพค่อย ๆ เปลี่ยน ไม่มีภาพเละตรงกลาง แปลว่าแผนที่ latent ต่อเนื่อง ไม่มีรู (KL ทำงาน) แถวล่าง: สุ่ม z จาก N(0,1) 10 ชุด ไม่มีภาพเข้าเลย decoder วาดออกมาเป็น sprite ใหม่ที่ไม่มีในชุดข้อมูล หลากหลายแต่เบลอทุกใบ — ตรงกับหน้าก่อน (MSE ชอบค่าเฉลี่ย) งานต้นฉบับ (Kingma &amp; Welling 2014) ทำแบบเดียวกันกับใบหน้า: แกนหนึ่งคุมรอยยิ้ม อีกแกนคุมมุมหน้า แล็บ 1 จะได้ทำทั้งสองอย่างเอง</a:t>
            </a:r>
            <a:endParaRPr/>
          </a:p>
        </p:txBody>
      </p:sp>
      <p:sp>
        <p:nvSpPr>
          <p:cNvPr id="453" name="Google Shape;453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6" name="Google Shape;466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เปลี่ยน latent จากค่าต่อเนื่องเป็น 'หมายเลข' ที่เลือกจาก codebook (เช่น 512 แบบ) — เหมือน vocab ของ LLM สัปดาห์ 2 — ภาพ 1 ใบ = ตาราง token (เช่น 4×4 = 16 token) → เอา Transformer มาทำนาย token ถัดไปได้ = autoregressive ที่ไม่ช้า — ข้อดี: ภาพคมกว่า VAE ธรรมดา — แนวคิดนี้ใช้ใน DALL·E รุ่นแรก (dVAE) และเป็นฐานของ VQ-GAN ‖ จุดเชื่อมสวย ๆ กับสัปดาห์ 2–3: VQ-VAE ทำให้ 'ภาพ' กลายเป็น 'ประโยค' ของ token ภาพ แล้ว LLM-style ก็ทำงานต่อได้ DALL·E 1 ใช้แนวนี้ (ตัวบีบเป็น dVAE แบบ discrete) และโมเดลสร้างภาพของ GPT-4o ก็เป็น autoregressive (OpenAI ไม่เปิดเผยรายละเอียดตัว tokenizer — พูดว่า 'น่าจะ' ไม่ใช่ 'คือ') ไม่ต้องลงรายละเอียดว่า quantize อย่างไร แค่ให้เห็นไอเดีย 'ปัดเข้าหาตัวที่ใกล้ที่สุดใน codebook'</a:t>
            </a:r>
            <a:endParaRPr/>
          </a:p>
        </p:txBody>
      </p:sp>
      <p:sp>
        <p:nvSpPr>
          <p:cNvPr id="467" name="Google Shape;467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0" name="Google Shape;480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อ่านแถวบนทีละขั้น ① ภาพ 16×16 ② encoder (CNN) บีบเหลือตาราง 8×8 ช่อง แต่ละช่องเป็นเวกเตอร์ 16 ตัวเลขทศนิยม (สีในภาพคือตัวเลข 3 ตัวแรก) ③ แต่ละช่องไปเทียบกับ codebook ซึ่งมี 64 'คำ' (เวกเตอร์ที่โมเดลเรียนเอง) แล้วเลือกคำที่ใกล้สุด — เหมือนปัดเศษ ④ ได้ตารางหมายเลขคำ 64 ตัว = 'ประโยค' ของภาพนี้ ช่องสีส้มคือคำ #62 ที่โมเดลใช้เป็นพื้นหลังขาว ⑤ ตอนคลาย เปิด codebook แปลงหมายเลขกลับเป็นเวกเตอร์ ⑥ decoder วาดภาพ — คมกว่า VAE เพราะแต่ละช่องเลือกจากคำที่ชัดเจน ไม่ได้เฉลี่ย แถวล่าง: หน้าตาของคำที่ใช้บ่อย (สีพื้น ลายตาราง ขอบ) เหมือนกระเบื้องที่มีจำกัดให้เลือกต่อภาพ โยงสัปดาห์ 2: codebook = vocab, หมายเลขคำ = token id เมื่อภาพเป็นประโยคของ token แล้ว เอา Transformer มาทาย token ถัดไปเพื่อสร้างภาพใหม่ได้ (DALL·E 1, VQ-GAN) โครงต้นฉบับ: van den Oord et al. 2017 (Lecture 2 หน้า 83)</a:t>
            </a:r>
            <a:endParaRPr/>
          </a:p>
        </p:txBody>
      </p:sp>
      <p:sp>
        <p:nvSpPr>
          <p:cNvPr id="481" name="Google Shape;481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4" name="Google Shape;494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สรุปส่วน 2 ด้วยการบอกว่า VAE ไม่ใช่ของเก่าที่เลิกใช้ แต่เป็น 'ตัวบีบ' ที่อยู่ในทุกโมเดลสร้างภาพสมัยใหม่ ตัวเลข 64×64×4 vs 512×512×3 ให้พูดเป็นภาพ: บีบ 48 เท่า</a:t>
            </a:r>
            <a:endParaRPr/>
          </a:p>
        </p:txBody>
      </p:sp>
      <p:sp>
        <p:nvSpPr>
          <p:cNvPr id="495" name="Google Shape;495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3" name="Google Shape;513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GAN คือคำตอบแรกของวงการต่อปัญหา 'ภาพเบลอ' ของ VAE (2014–2020 ครองวงการ) ให้เล่าเป็นเกม</a:t>
            </a:r>
            <a:endParaRPr/>
          </a:p>
        </p:txBody>
      </p:sp>
      <p:sp>
        <p:nvSpPr>
          <p:cNvPr id="514" name="Google Shape;514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7" name="Google Shape;527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Generator (G) = คนปลอมแบงก์: รับ noise z แล้วผลิตภาพ พยายามให้เหมือนของจริง — Discriminator (D) = ตำรวจ: รับภาพ ตอบว่า 'จริง' หรือ 'ปลอม' — ทั้งคู่เก่งขึ้นพร้อมกัน: ตำรวจจับได้แม่นขึ้น → คนปลอมต้องเนียนขึ้น → วนไป ‖ อุปมาคนปลอมแบงก์กับตำรวจเป็นอุปมาดั้งเดิมของ Goodfellow (2014) จุดสำคัญที่สไลด์ถัดไปจะขยาย: G ไม่เคยเห็นภาพจริงเลย มันรู้แค่ว่า 'ตำรวจจับได้หรือไม่' นี่ต่างจาก VAE ที่เทียบพิกเซลกับภาพจริงตรง ๆ</a:t>
            </a:r>
            <a:endParaRPr/>
          </a:p>
        </p:txBody>
      </p:sp>
      <p:sp>
        <p:nvSpPr>
          <p:cNvPr id="528" name="Google Shape;528;p2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1" name="Google Shape;541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VAE: เทียบภาพออกกับภาพเข้า 'ทีละพิกเซล' (MSE) → ได้ค่าเฉลี่ย → เบลอ / GAN: ไม่มีการเทียบพิกเซลเลย — G ได้รับแค่สัญญาณเดียว: "D เชื่อหรือไม่" / ภาพคมที่มีแถบซ้าย และภาพคมที่มีแถบขวา ผ่านตำรวจได้ทั้งคู่ · ภาพเบลอที่มีแถบจาง ๆ สองข้าง ถูกจับทันที / ผลลัพธ์: G ถูกบังคับให้ผลิตภาพที่ 'แยกไม่ออกจากของจริง' ไม่ใช่ภาพที่ 'ใกล้ค่าเฉลี่ย' → คมกว่า VAE มาก / ราคาที่จ่าย: loss ไม่ได้บอกว่าภาพดีแค่ไหน บอกแค่ว่าใครกำลังชนะในเกม — ต้องดูภาพเองเสมอ ‖ เชื่อมกับสไลด์ 'ทำไม VAE เบลอ': GAN เลี่ยงปัญหาค่าเฉลี่ยเพราะไม่เคยเอาพิกเซลมาลบกันเลย ‖ ให้เวลานักศึกษาคิดตามประโยคกลาง: ภาพเบลอ 'ถูกจับทันที' เพราะไม่มีภาพจริงใบไหนเบลอ นี่คือเหตุผลเชิงกลไกว่าทำไม GAN คม</a:t>
            </a:r>
            <a:endParaRPr/>
          </a:p>
        </p:txBody>
      </p:sp>
      <p:sp>
        <p:nvSpPr>
          <p:cNvPr id="542" name="Google Shape;542;p2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5" name="Google Shape;555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ขั้นที่ 1 ของทุก batch: สอนตำรวจ D อย่างเดียว G อยู่นิ่ง (ในโค้ดคือ fake.detach()) แถวบน: ภาพจริงจากชุดข้อมูล เฉลยคือ 'จริง' = 1 แถวล่าง: ภาพที่ G สร้าง เฉลยคือ 'ปลอม' = 0 — เฉลยมาฟรีเพราะรู้อยู่แล้วว่าภาพมาจากไหน D ตอบเป็นคะแนน 0–1 ตัวเลขในภาพเป็นค่าจริงจาก D ที่เทรนมา 2 epoch: ก่อนปรับ D ตอบผิดบางภาพ (✗) เช่น ให้ภาพจริงแค่ 0.22 หรือให้ภาพปลอม 0.51 หลังปรับ D 5 ครั้งบน batch นี้ ตอบถูกทุกภาพ คะแนนภาพจริงขึ้นเข้าหา 1 ภาพปลอมลงเข้าหา 0 นี่คือ binary classifier ธรรมดาแบบสัปดาห์ 1 (BCE จริง/ปลอม) ในโค้ด: lossD = bce(D(xb), real_lbl) + bce(D(fake.detach()), fake_lbl)</a:t>
            </a:r>
            <a:endParaRPr/>
          </a:p>
        </p:txBody>
      </p:sp>
      <p:sp>
        <p:nvSpPr>
          <p:cNvPr id="556" name="Google Shape;556;p3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9" name="Google Shape;569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ขั้น 1 ฝึก D (แช่แข็ง G): ภาพจริงต้องตอบ 1, G(z) ต้องตอบ 0 — เป็น binary classifier ธรรมดาเหมือนสัปดาห์ 1 (D ออกเป็น logit = คะแนนดิบก่อน sigmoid) — ขั้น 2 ฝึก G (แช่แข็ง D): ปรับ G ให้ D ตอบ 1 กับ G(z) — gradient ไหลผ่าน D เข้าไปใน G — ไม่มี loss ตัวเดียวที่ 'ลดลงเรื่อย ๆ' ให้ดู: ถ้า D ชนะ loss_G ขึ้น, ถ้า G ชนะ loss_D ขึ้น ‖ ย้ำว่าขั้น 1 คือ classifier สัปดาห์ 1 เป๊ะ ๆ (BCE จริง/ปลอม) ส่วนขั้น 2 คือจุดฉลาด: เราใช้ D เป็น 'loss function ที่เรียนรู้ได้' ของ G เตือนล่วงหน้าว่าตอนบ่ายกราฟ loss จะแกว่ง อย่าตกใจ นั่นปกติ</a:t>
            </a:r>
            <a:endParaRPr/>
          </a:p>
        </p:txBody>
      </p:sp>
      <p:sp>
        <p:nvSpPr>
          <p:cNvPr id="570" name="Google Shape;570;p3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3" name="Google Shape;583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รวมสองขั้นเป็นหนึ่งรอบต่อ batch: สอน D → สอน G → batch ถัดไป (78 batch = 1 epoch, แล็บเทรน 25 epoch ≈ 2,000 รอบ) ภาพซ้าย: ใช้ noise ชุดเดิม 8 ชุดป้อน G หลังเทรน 1, 5, 10, 25 epoch — epoch 1 ยังเป็นลายสีซ้ำ ๆ, epoch 5 เริ่มมีก้อนสี, epoch 10 เริ่มเป็นรูปร่าง, epoch 25 เป็นตัวละคร/ของที่คม กราฟขวา: คะแนนเฉลี่ยที่ D ให้ภาพจริง (เขียว) และภาพปลอม (แดง) ต่อ epoch — D แยกได้ดีขึ้นช้า ๆ แต่ไม่เคยถึง 1 กับ 0 เพราะ G ไล่ตามตลอด นี่คือเหตุผลที่กราฟ loss ของ GAN แกว่งและไม่ลดเรียบเหมือน VAE: loss บอกแค่ใครกำลังได้เปรียบ ไม่ได้บอกว่าภาพดีแค่ไหน ต้องดูภาพเอง อัลกอริทึมต้นฉบับ: Goodfellow et al. 2014 (Lecture 3 หน้า 28) — ตอนบ่ายทำแบบนี้ในแล็บ 2</a:t>
            </a:r>
            <a:endParaRPr/>
          </a:p>
        </p:txBody>
      </p:sp>
      <p:sp>
        <p:nvSpPr>
          <p:cNvPr id="584" name="Google Shape;584;p3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7" name="Google Shape;597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โค้ดตรงกับ notebook แล็บ 2 ชี้ detach() ว่าทำไมต้องมี (ขั้น 1 ห้ามแก้ G) และชี้ว่า loss ของ G ใช้ป้าย 1 ทั้งที่ภาพเป็นของปลอม — นั่นคือ 'การโกหกตำรวจ'</a:t>
            </a:r>
            <a:endParaRPr/>
          </a:p>
        </p:txBody>
      </p:sp>
      <p:sp>
        <p:nvSpPr>
          <p:cNvPr id="598" name="Google Shape;598;p3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4" name="Google Shape;614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 = decoder ของ VAE แทบจะเป๊ะ: z → 4×4 → 8×8 → 16×16 (ConvTranspose) — D = encoder ของ VAE + ออก 1 เลข (logit จริง/ปลอม) — สิ่งที่ต่างจากแล็บ 1 ไม่ใช่โครงสร้าง แต่คือ 'เกม' ที่ใช้เทรน — โครงเดียวกัน loss ต่างกัน ผลต่างกันมาก ‖ ประเด็นสอน: สถาปัตยกรรมไม่ใช่พระเอก loss/วิธีเทรนต่างหาก ให้นักศึกษาเทียบกับสัปดาห์ 3 ที่ Typhoon กับ Llama โครงเดียวกันแต่ข้อมูลเทรนต่างกัน DCGAN (Radford 2015) เพิ่ม BatchNorm, LeakyReLU ฝั่ง D เพื่อให้เทรนนิ่งขึ้น</a:t>
            </a:r>
            <a:endParaRPr/>
          </a:p>
        </p:txBody>
      </p:sp>
      <p:sp>
        <p:nvSpPr>
          <p:cNvPr id="615" name="Google Shape;615;p3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8" name="Google Shape;628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ภาพจาก DCGAN ที่เทรนบน sprite แบบเดียวกับแล็บ 2 ซ้าย: สุ่ม z 12 ชุด ได้ 12 ภาพ — เป็นตัวละคร ของ อาหาร หลายแบบ คมกว่า VAE (เทียบสไลด์ 23) แต่บางภาพยังเพี้ยน เพราะเทรนแค่ 25 epoch บน CPU ขวา: คำถามที่นักศึกษามักถาม — G แอบจำภาพจริงมาหรือเปล่า? ทดสอบโดยหาภาพจริงที่ใกล้ที่สุดจาก 10,000 ภาพ (วัดระยะทีละพิกเซล) ไม่มีภาพไหนซ้ำ → G สร้างภาพใหม่ ไม่ได้ลอก งานต้นฉบับ (Radford et al. 2016) ทำแบบเดียวกันกับภาพห้องนอน 64×64 และได้ห้องนอนที่ไม่มีอยู่จริง (Lecture 3 หน้า 33)</a:t>
            </a:r>
            <a:endParaRPr/>
          </a:p>
        </p:txBody>
      </p:sp>
      <p:sp>
        <p:nvSpPr>
          <p:cNvPr id="629" name="Google Shape;629;p3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2" name="Google Shape;642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งาน DCGAN แสดงว่า z(ผู้ชายใส่แว่น) − z(ผู้ชาย) + z(ผู้หญิง) ≈ z(ผู้หญิงใส่แว่น) — เหมือน word2vec: king − man + woman ≈ queen — แปลว่าโมเดลไม่ได้จำภาพ แต่เรียน 'ปัจจัย' ที่ประกอบเป็นภาพ (เพศ แว่น มุมหน้า) แยกกัน — ใช้ได้จริง: เลื่อน z ไปทางเดียว = แก่ขึ้น / ยิ้มขึ้น / หมุนหน้า (StyleGAN) ‖ ตัวอย่างสมมติ (ไม่ได้รันเอง) อิงผลจากงาน DCGAN บนชุดข้อมูลใบหน้า เชื่อมกับ embedding สัปดาห์ 2 ที่ทิศทางใน vector space มีความหมาย ตอนบ่ายแล็บ 1 จะได้ทำ interpolation ใน latent ของ VAE ซึ่งเป็นปรากฏการณ์เดียวกัน</a:t>
            </a:r>
            <a:endParaRPr/>
          </a:p>
        </p:txBody>
      </p:sp>
      <p:sp>
        <p:nvSpPr>
          <p:cNvPr id="643" name="Google Shape;643;p3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4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6" name="Google Shape;656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เลือก z สองจุด (A ซ้ายสุด, B ขวาสุด) แล้วเดินเป็นเส้นตรงจาก A ไป B ทีละ 1/8 ให้ G วาดทุกจุด 3 แถว = 3 คู่ ภาพค่อย ๆ เปลี่ยนรูปร่างและสี ไม่มีภาพเละหรือกระโดดกลางทาง แปลว่า latent ของ GAN ต่อเนื่องเหมือนของ VAE (สไลด์ 23) แต่ภาพคมกว่า และเป็นเหตุผลที่บวกลบ z ในหน้าก่อนได้ผล งานต้นฉบับทำแบบเดียวกันกับห้องนอน: เดินระหว่างห้องสองแบบ ห้องค่อย ๆ เปลี่ยน (Lecture 3 หน้า 34)</a:t>
            </a:r>
            <a:endParaRPr/>
          </a:p>
        </p:txBody>
      </p:sp>
      <p:sp>
        <p:nvSpPr>
          <p:cNvPr id="657" name="Google Shape;657;p3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0" name="Google Shape;670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mode collapse: G เจอ 'ท่าไม้ตาย' ภาพแบบเดียวที่หลอก D ได้ แล้วผลิตแต่แบบนั้น — หลากหลายหาย แต่ loss ดูดี — เทรนแกว่ง: สองฝ่ายไล่กันเป็นวง ไม่ลู่เข้า ต้องจูน lr, สถาปัตยกรรม, ทริกพิเศษมากมาย — ไม่มีตัวเลขเดียวบอกว่า 'เทรนเสร็จแล้ว' — ต้องดูภาพและวัดความหลากหลายเอง ‖ mode collapse คือเหตุผลหลักที่วงการย้ายไป diffusion อธิบายด้วยอุปมา: ถ้าตำรวจจับแบงก์ 100 ไม่ได้ คนปลอมก็ปั๊มแต่แบงก์ 100 ไม่สนใจปลอมแบงก์อื่น ตอนบ่ายแล็บ 2 จะวัด 'ความหลากหลาย' (ระยะเฉลี่ยระหว่างภาพคู่สุ่ม) ของ GAN เทียบกับข้อมูลจริง</a:t>
            </a:r>
            <a:endParaRPr/>
          </a:p>
        </p:txBody>
      </p:sp>
      <p:sp>
        <p:nvSpPr>
          <p:cNvPr id="671" name="Google Shape;671;p3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2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p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4" name="Google Shape;684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VQ-GAN แบ่งเป็น 2 ขั้น ขั้นที่ 1: เทรนตัวแปลงภาพ ⇄ token แบบ VQ-VAE ของส่วน 2 (encoder → ตาราง token → decoder) แต่เพิ่มกรรมการ D แบบ GAN มาตัดสินภาพคลายกลับ ถ้าดูไม่จริง ความผิดส่งกลับไปแก้ decoder → ภาพคลายกลับคม ไม่เบลอ (ต้นฉบับยังใช้ perceptual loss = เทียบ feature แทนพิกเซล) ขั้นที่ 2: เทรน Transformer ให้เขียนตาราง token ทีละช่อง เหมือน LLM เขียนประโยค (ช่องแดง '?' คือช่องที่กำลังทาย) เขียนครบแล้วให้ decoder วาดเป็นภาพใหม่ จุดสำคัญ: ตัวแปลงในขั้นที่ 1 คือที่มาของ autoencoder ใน Stable Diffusion — GAN จึงยังอยู่ในระบบยุคใหม่ในบทบาท 'กรรมการ' ภาพตัวอย่างเป็นตัวแปลงที่เทรนบน sprite (หน้า 25) ส่วน D และ Transformer เป็นแผนภาพ ต้นฉบับ: Esser et al. 2021 (Lecture 3 หน้า 44)</a:t>
            </a:r>
            <a:endParaRPr/>
          </a:p>
        </p:txBody>
      </p:sp>
      <p:sp>
        <p:nvSpPr>
          <p:cNvPr id="685" name="Google Shape;685;p3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p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8" name="Google Shape;698;p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ไม่ต้องจำทุกตัว ชี้ 2 จุด: Conditional GAN คือไอเดียเดียวกับแล็บ 4 (ป้อนเงื่อนไข) และ VQ-GAN คือที่ GAN ยังมีชีวิตอยู่ — autoencoder ของ Stable Diffusion ใช้ latent ต่อเนื่องแบบ KL (ไม่ใช่ VQ) แต่ยืมสูตร loss ของ VQ-GAN (กรรมการ + perceptual) มาเทรนให้ภาพคม</a:t>
            </a:r>
            <a:endParaRPr/>
          </a:p>
        </p:txBody>
      </p:sp>
      <p:sp>
        <p:nvSpPr>
          <p:cNvPr id="699" name="Google Shape;699;p4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p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0" name="Google Shape;720;p4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ก่อนเข้า diffusion ให้ตั้งคำถาม: มีวิธีไหนที่ได้ 'เทรนนิ่งแบบ VAE' + 'คมแบบ GAN' + 'หลากหลาย' พร้อมกันไหม? คำตอบคือส่วนที่ 4</a:t>
            </a:r>
            <a:endParaRPr/>
          </a:p>
        </p:txBody>
      </p:sp>
      <p:sp>
        <p:nvSpPr>
          <p:cNvPr id="721" name="Google Shape;721;p4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0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p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2" name="Google Shape;742;p4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ส่วนที่ยาวที่สุด (ราวครึ่งหนึ่งของเช้า) เริ่มจากอุปมา → forward → reverse → เทรน → sample → DDIM → เทียบกับ VAE/GAN → เงื่อนไข (สะพานสู่สัปดาห์หน้า)</a:t>
            </a:r>
            <a:endParaRPr/>
          </a:p>
        </p:txBody>
      </p:sp>
      <p:sp>
        <p:nvSpPr>
          <p:cNvPr id="743" name="Google Shape;743;p4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4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p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6" name="Google Shape;756;p4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Forward (เติม noise): เอาภาพจริงมาเติม noise ทีละนิด 1,000 ก้าว จนกลายเป็น noise ล้วน — สูตรตายตัว ไม่ต้องเรียน — Reverse (ลบ noise): สอนเครือข่ายให้ 'กรอกลับ' ทีละก้าว — นี่คือสิ่งเดียวที่ต้องเรียน — ตอนใช้งาน: สุ่ม noise ล้วน แล้วกรอกลับ 1,000 ก้าว → ได้ภาพใหม่ ‖ อุปมา: หยดหมึกในน้ำ (diffusion = การแพร่) มันกระจายเองตามฟิสิกส์ ไม่ต้องเรียน สิ่งที่ยากคือกรอกลับ อีกอุปมา: ประติมากรที่บอกว่า 'รูปปั้นอยู่ในหินอยู่แล้ว แค่เอาส่วนที่ไม่ใช่ออก' — diffusion เอา noise ส่วนที่ไม่ใช่ภาพออกทีละนิด ชี้ว่าแต่ละก้าวเล็กมาก (ลบ noise นิดเดียว) จึงเป็นงานง่ายที่เครือข่ายทำได้แม่น</a:t>
            </a:r>
            <a:endParaRPr/>
          </a:p>
        </p:txBody>
      </p:sp>
      <p:sp>
        <p:nvSpPr>
          <p:cNvPr id="757" name="Google Shape;757;p4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8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Google Shape;769;p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0" name="Google Shape;770;p4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แต่ละก้าว t คือการผสมภาพเดิมกับ noise ในสัดส่วนที่ตายตัว แถวบน: ภาพแครอทที่ t ต่าง ๆ (ใช้ noise ชุดเดียวกัน) แถวล่าง: แท่งสัดส่วน — เขียวคือส่วนของภาพเดิมที่ยังเหลือ (ᾱ_t อ่านว่าแอลฟาบาร์) เทาคือส่วนของ noise ตัวเลขมาจากตาราง cosine ที่แล็บ 3 ใช้ (squaredcos_cap_v2): t=250 เหลือภาพ 85% t=550 เหลือ 41% t=999 เหลือ 0% ไม่มีอะไรต้องเรียนในขั้นนี้ ทุกอย่างเป็นสูตร</a:t>
            </a:r>
            <a:endParaRPr/>
          </a:p>
        </p:txBody>
      </p:sp>
      <p:sp>
        <p:nvSpPr>
          <p:cNvPr id="771" name="Google Shape;771;p4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2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p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4" name="Google Shape;784;p4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ᾱ_t (alpha bar) = สัดส่วนของ 'ภาพเดิม' ที่ยังเหลือที่ก้าว t — ลดจาก 1 ไป 0 ตามตารางที่เราเลือก (linear, cosine) — ทริก: ไม่ต้องเติมทีละก้าวจริง ๆ กระโดดไปก้าว t ไหนก็ได้ในบรรทัดเดียว x_t = √ᾱ_t·x_0 + √(1−ᾱ_t)·ε — ทำให้เทรนเร็ว: ใน batch เดียวสุ่ม t คนละค่าให้แต่ละภาพ ‖ สูตรเดียวของวันนี้ ให้พูดเป็นคำก่อน: 'ภาพเดิมจาง ๆ บวก noise ชุดเดียว' แล้วค่อยชี้สัญลักษณ์ ᾱ_t คือ 'ปริมาณภาพที่เหลือ' (เชิงเทคนิค ᾱ_t เป็นสัดส่วนของความแปรปรวน ตัวคูณของภาพคือ √ᾱ_t — พูดแบบสัญชาตญาณพอ) ตอนบ่ายใช้ noise_sched.add_noise(x0, noise, t) บรรทัดเดียว ไม่ต้องเขียนสูตรเอง กราฟซ้ายเป็นตัวอย่าง linear schedule ส่วนในแล็บใช้ cosine ซึ่งค่อย ๆ ลดช้ากว่าตอนต้น</a:t>
            </a:r>
            <a:endParaRPr/>
          </a:p>
        </p:txBody>
      </p:sp>
      <p:sp>
        <p:nvSpPr>
          <p:cNvPr id="785" name="Google Shape;785;p4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6" name="Shape 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7" name="Google Shape;797;p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8" name="Google Shape;798;p4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รับ x_t (ภาพมี noise) + หมายเลขก้าว t → ทายว่า noise ε ที่ถูกเติมเข้ามาคืออะไร — รู้ noise แล้วก็ลบออกได้ → ประมาณภาพเดิม x_0 แล้วถอยไปก้าว t−1 — ทำไมทาย noise: noise 'หน้าตาเหมือนกัน' ทุก t ทุกภาพ (Gaussian) → งานนิ่งกว่าทายภาพซึ่งเปลี่ยนไปตาม t มาก ‖ นักศึกษามักถามว่าทำไมไม่ทายภาพตรง ๆ คำตอบเชิงปฏิบัติ: DDPM paper ลองแล้ว ทาย noise ได้ผลดีกว่า เหตุผลเชิงสัญชาตญาณ: เป้าหมาย (noise) มีการกระจายคงที่ ส่วนภาพสะอาดที่ t สูงแทบเดาไม่ได้ ชี้ด้วยว่าภาพเข้า = ภาพออก ขนาดเท่ากัน ไม่ใช่ classifier</a:t>
            </a:r>
            <a:endParaRPr/>
          </a:p>
        </p:txBody>
      </p:sp>
      <p:sp>
        <p:nvSpPr>
          <p:cNvPr id="799" name="Google Shape;799;p4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0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p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2" name="Google Shape;812;p4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แต่ละแถวคือ t หนึ่งค่า: x_t ที่ป้อนเข้า, noise จริงที่เราสุ่มเติม (เฉลย), noise ที่ U-Net ทาย และแผนที่ความผิด (ε̂ − ε)² สีแดงเข้ม = ทายผิดมาก loss คือค่าเฉลี่ยของแผนที่นี้ — regression แบบสัปดาห์ 1 ทุกประการ ไม่มีเกมสองฝ่าย ไม่มี KL สังเกต: t ต่ำ (noise น้อย) loss สูงกว่า เพราะ noise จาง ๆ แยกออกจากรายละเอียดภาพยาก ส่วน t สูงภาพเกือบเป็น noise ล้วน ทายง่าย ตัวเลขทุกตัวมาจากโมเดลที่เทรนจริง ในโค้ด: loss = F.mse_loss(pred, noise)</a:t>
            </a:r>
            <a:endParaRPr/>
          </a:p>
        </p:txBody>
      </p:sp>
      <p:sp>
        <p:nvSpPr>
          <p:cNvPr id="813" name="Google Shape;813;p4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4" name="Shape 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5" name="Google Shape;825;p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6" name="Google Shape;826;p4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5 ขั้นต่อ batch: สุ่มภาพ → สุ่ม t → สุ่ม ε แล้วเติม → U-Net ทาย ε̂ → loss = MSE(ε̂, ε) — ไม่มีกรรมการ ไม่มีสองฝ่าย ไม่มี KL — loss ตัวเดียว ลดลงเรียบ ๆ เหมือน VAE — แต่ภาพที่ได้คมเหมือน GAN เพราะโมเดลไม่เคยถูกบังคับให้ 'ทายภาพเฉลี่ย' — มันทายแค่ noise ก้าวเล็ก ๆ ‖ นี่คือสไลด์ที่ตอบคำถามปิดส่วน 3: ได้ 'เทรนนิ่ง' + 'คม' พร้อมกัน ทำไมไม่เบลอทั้งที่ใช้ MSE? เพราะ MSE ทายต่อ noise ก้าวเดียวโดยมี x_t เป็นเงื่อนไข ไม่ใช่ต่อภาพสุดท้าย — ขยายความในสไลด์ sampling</a:t>
            </a:r>
            <a:endParaRPr/>
          </a:p>
        </p:txBody>
      </p:sp>
      <p:sp>
        <p:nvSpPr>
          <p:cNvPr id="827" name="Google Shape;827;p4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8" name="Shape 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" name="Google Shape;839;p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0" name="Google Shape;840;p4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โค้ดตรงกับ notebook แล็บ 3 (ส่วนในของ train_diffusion) ชี้ว่าทั้งหมดคือ regression 5 บรรทัด ความซับซ้อนทั้งหมดอยู่ใน scheduler และ U-Net ที่ diffusers ให้มา</a:t>
            </a:r>
            <a:endParaRPr/>
          </a:p>
        </p:txBody>
      </p:sp>
      <p:sp>
        <p:nvSpPr>
          <p:cNvPr id="841" name="Google Shape;841;p4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5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p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7" name="Google Shape;857;p5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ซ้าย: loss จริงตอนเทรน diffusion บน sprite (เส้นจาง = ทุก step, เส้นเข้ม = ค่าเฉลี่ย) ลดเรียบ ๆ และบอกได้ตรง ๆ ว่าโมเดลเก่งขึ้น ขวา: GAN จากส่วน 3 ไม่มี loss เดียวที่บอกความก้าวหน้า มีแต่คะแนนที่ D ให้ซึ่งไล่กันไปเรื่อย ๆ นี่คือข้อดีข้อแรกที่ทำให้ diffusion ชนะ: เทรนนิ่ง ปรับ hyperparameter ง่าย ขยายขนาดได้</a:t>
            </a:r>
            <a:endParaRPr/>
          </a:p>
        </p:txBody>
      </p:sp>
      <p:sp>
        <p:nvSpPr>
          <p:cNvPr id="858" name="Google Shape;858;p5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9" name="Shape 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" name="Google Shape;870;p5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1" name="Google Shape;871;p5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CNN รูปตัว U: ย่อภาพลง (เหมือน encoder สัปดาห์ 1) แล้วขยายกลับ (เหมือน decoder VAE) ให้ภาพออกขนาดเท่าภาพเข้า — skip connection ส่งรายละเอียดจากฝั่งย่อข้ามไปฝั่งขยาย — ไม่งั้นรายละเอียดหายตอนย่อ — หมายเลขก้าว t ถูกแปลงเป็น embedding แล้วบวกเข้าทุกชั้น → U-Net ตัวเดียวทำงานได้ทุก t — DiT (Diffusion Transformer) = ใช้ Transformer เป็นตัวทาย noise แทน U-Net ‖ U-Net มาจาก segmentation ภาพการแพทย์ (2015) เหมาะเพราะ input/output ขนาดเท่ากัน ชี้ 2 อย่าง: skip connection (ทำไมต้องมี) และ t embedding (ตัวเดียวใช้ได้ทุกก้าว เหมือน positional encoding สัปดาห์ 2) กล่าวถึง DiT สั้น ๆ: รุ่นใหม่ (Sora, SD3, FLUX) ใช้ Transformer แทน U-Net แต่หน้าที่เหมือนกัน ตอนบ่ายใช้ UNet2DModel ของ diffusers ไม่ต้องเขียนเอง</a:t>
            </a:r>
            <a:endParaRPr/>
          </a:p>
        </p:txBody>
      </p:sp>
      <p:sp>
        <p:nvSpPr>
          <p:cNvPr id="872" name="Google Shape;872;p5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3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Google Shape;884;p5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5" name="Google Shape;885;p5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เริ่มจาก noise สุ่ม x_T → ทุกก้าว: U-Net ทาย ε̂ → ลบออกนิดหนึ่ง → เติม noise เล็ก ๆ กลับ → ก้าวถัดไป — ก้าว t สูง ตัดสิน 'โครงใหญ่' (สี ท่าทาง) — ก้าว t ต่ำ เก็บ 'รายละเอียด' — สัปดาห์หน้า img2img จะเริ่มจากกลางทาง — เริ่มจาก noise คนละชุด → ได้ภาพคนละใบ = ความหลากหลายมาจาก noise ตั้งต้น ‖ ให้ดูแถวภาพ (ตัวอย่างสมมติที่สร้างจากสูตร forward ย้อนกลับ ไม่ใช่ผลจากโมเดลจริง — ผลจริงจะเห็นตอนบ่าย) ข้อสังเกต 'โครงใหญ่ก่อน รายละเอียดทีหลัง' สำคัญมากสำหรับสัปดาห์หน้า: img2img คือการเริ่มจากกลางทาง (เก็บโครงจากภาพเดิม) แทนการเริ่มจาก noise ล้วน</a:t>
            </a:r>
            <a:endParaRPr/>
          </a:p>
        </p:txBody>
      </p:sp>
      <p:sp>
        <p:nvSpPr>
          <p:cNvPr id="886" name="Google Shape;886;p5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7" name="Shape 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" name="Google Shape;898;p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9" name="Google Shape;899;p5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24 ภาพจาก noise สุ่มคนละชุด ใช้ DDPM 1,000 ก้าว ไม่ใส่เงื่อนไข (ป้าย 5 = ไม่บอกกลุ่ม) ได้ทั้งตัวละคร อาหาร คาถา หลายแบบ ขอบคมกว่า VAE (สไลด์ 23) และหลากหลายกว่า GAN — เทรน 30 epoch บน CPU ตอนบ่ายแล็บ 3 จะได้ผลระดับเดียวกันนี้บน T4 ต้นฉบับของ DeepLearning.AI ใช้ชุด sprite เดียวกัน (Lecture 6 หน้า 44)</a:t>
            </a:r>
            <a:endParaRPr/>
          </a:p>
        </p:txBody>
      </p:sp>
      <p:sp>
        <p:nvSpPr>
          <p:cNvPr id="900" name="Google Shape;900;p5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1" name="Shape 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" name="Google Shape;912;p5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3" name="Google Shape;913;p5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ไม่เบลอเพราะ MSE ทายแค่ 'noise ของก้าวเดียว' โดยรู้ x_t อยู่แล้ว — ไม่ได้ถูกบังคับให้ทายภาพสุดท้ายทีเดียวแบบ VAE — ความหลากหลายมาจาก noise ตั้งต้น x_T: เริ่มคนละชุด → ได้คนละภาพ (DDIM ที่ไม่สุ่มระหว่างทางก็หลากหลายเท่ากัน — แล็บ 3 จะวัดให้ดู) — สูตรเดินของ DDPM มีเทอม noise เติมกลับทุกก้าว ตัดทิ้งเฉย ๆ ภาพจะเบลอ/ซ้ำ — DDIM เปลี่ยนสูตรเดินทั้งสูตร จึงไม่ต้องเติม ‖ สไลด์นี้ปิดวงจร 'MSE → เบลอ' จากส่วน 2 และต้องไม่ชนกับสไลด์ DDIM ถัดไป: (1) ไม่เบลอเพราะโจทย์ของ MSE คือ noise ก้าวเดียวที่มี x_t เป็นเงื่อนไข ไม่ใช่ภาพทั้งใบ (2) ความหลากหลายมาจาก x_T ไม่ใช่จากการสุ่มระหว่างทาง (ผลรันจริง: diversity DDIM ≈ DDPM) (3) การเติม noise กลับเป็นรายละเอียดของ sampler แบบ DDPM — ตัดทิ้งเฉย ๆ ไม่ได้ แต่เปลี่ยนเป็นสูตร DDIM ได้ ใครสนใจคำอธิบายเชิง score/Langevin ให้อ่าน Stanley Chan tutorial</a:t>
            </a:r>
            <a:endParaRPr/>
          </a:p>
        </p:txBody>
      </p:sp>
      <p:sp>
        <p:nvSpPr>
          <p:cNvPr id="914" name="Google Shape;914;p5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5" name="Shape 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6" name="Google Shape;926;p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7" name="Google Shape;927;p5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DDPM: 1,000 ก้าวเล็ก ๆ + สุ่มทุกก้าว (เดินเซไปเซมา) ช้า — DDIM (2020): เปลี่ยนสูตรเดินเป็นแบบ 'กำหนดทาง' (deterministic) ไม่สุ่มระหว่างทาง → ข้ามก้าวได้ 1,000 → 50 → 20 โดยไม่ต้องเทรนใหม่ — โบนัส: ภาพขึ้นกับ noise ตั้งต้น x_T อย่างเดียว (ไม่มีการสุ่มระหว่างทาง) จึงย้อนจากภาพกลับไป noise ได้ (DDIM inversion) — ใช้แก้ไขภาพสัปดาห์หน้า ‖ ไม่ต้องลงสูตร DDIM จุดที่ต้องได้: (1) โมเดลเดียวกัน เทรนครั้งเดียว ต่างแค่ scheduler (2) เร็วขึ้น ~20 เท่า คุณภาพใกล้เคียง (3) deterministic ทำให้ 'ควบคุม' ได้ (หมายเหตุ: DDPM ในแล็บก็กำหนด seed จึงได้ภาพเดิมเหมือนกัน จุดต่างคือ DDIM ไม่มีการสุ่มระหว่างทางเลย และ diversity ไม่ตก) ตอนบ่ายจะเทียบเวลา 1,000 vs 50 vs 20 vs 10 ก้าวด้วยโมเดลที่เพิ่งเทรน Stable Diffusion ของจริงใช้ 20–50 ก้าวแบบนี้</a:t>
            </a:r>
            <a:endParaRPr/>
          </a:p>
        </p:txBody>
      </p:sp>
      <p:sp>
        <p:nvSpPr>
          <p:cNvPr id="928" name="Google Shape;928;p5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9" name="Shape 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0" name="Google Shape;940;p5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1" name="Google Shape;941;p5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ทุกแถวเริ่มจาก noise ชุดเดียวกัน (ผลจริงจากแล็บ 3) แถว DDPM 1,000 ก้าว สุ่ม noise เพิ่มทุกก้าวจึงได้ภาพคนละตัวกับแถวอื่น แถว DDIM 50 และ 10 ก้าวได้ภาพ 'ตัวเดียวกัน' แทบทุกช่อง เพราะ DDIM ไม่สุ่มระหว่างทาง ภาพจึงถูกกำหนดโดย noise ตั้งต้นเท่านั้น — noise ตั้งต้นจึงเป็นเหมือน 'รหัส' ของภาพ และย้อนจากภาพกลับเป็น noise ได้ (DDIM inversion) ซึ่งสัปดาห์หน้าใช้แก้ไขภาพ (Song et al. 2021, Lecture 4&amp;5 หน้า 20) 10 ก้าวเริ่มมีรายละเอียดเพี้ยนเล็กน้อย = ราคาของการเดินก้าวใหญ่</a:t>
            </a:r>
            <a:endParaRPr/>
          </a:p>
        </p:txBody>
      </p:sp>
      <p:sp>
        <p:nvSpPr>
          <p:cNvPr id="942" name="Google Shape;942;p5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3" name="Shape 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" name="Google Shape;954;p5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5" name="Google Shape;955;p5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มุมมองนี้ (จาก Hung-yi Lee) ช่วยให้นักศึกษาเห็นว่า diffusion ไม่ใช่ของใหม่ถอดด้าม แต่เป็น VAE ที่ตัดสินใจ 'ไม่เรียน encoder' แล้วแบ่งงาน decoder เป็นก้าวเล็ก ๆ หลายก้าว ข้อแลกเปลี่ยน: latent ไม่ได้เล็กลง (เท่าภาพ) → ช้า → สัปดาห์หน้าแก้ด้วยการเอา VAE จริง ๆ มาบีบก่อน (latent diffusion)</a:t>
            </a:r>
            <a:endParaRPr/>
          </a:p>
        </p:txBody>
      </p:sp>
      <p:sp>
        <p:nvSpPr>
          <p:cNvPr id="956" name="Google Shape;956;p5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4" name="Shape 9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5" name="Google Shape;975;p5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6" name="Google Shape;976;p5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งาน 'Diffusion Models Beat GANs on Image Synthesis' (2021) คือจุดเปลี่ยน ให้เชื่อมแต่ละการ์ดกลับไปหาปัญหาของ GAN ในส่วน 3: แกว่ง / mode collapse / ควบคุมยาก</a:t>
            </a:r>
            <a:endParaRPr/>
          </a:p>
        </p:txBody>
      </p:sp>
      <p:sp>
        <p:nvSpPr>
          <p:cNvPr id="977" name="Google Shape;977;p5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0" name="Shape 10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1" name="Google Shape;1011;p5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2" name="Google Shape;1012;p5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ให้เห็นว่าความช้าเป็นปัญหาเชิงวิศวกรรมที่แก้ได้ 3 ชั้น และเราจะทำชั้นแรกเองวันนี้ ชั้นที่สองคือหัวข้อหลักสัปดาห์หน้า</a:t>
            </a:r>
            <a:endParaRPr/>
          </a:p>
        </p:txBody>
      </p:sp>
      <p:sp>
        <p:nvSpPr>
          <p:cNvPr id="1013" name="Google Shape;1013;p5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3" name="Shape 10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" name="Google Shape;1044;p6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5" name="Google Shape;1045;p6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ป้อนเงื่อนไข c (ป้ายกลุ่ม) เข้า U-Net พร้อม x_t และ t → U-Net ทาย noise 'แบบรู้ว่าเป็นอาหาร' — Classifier-free guidance: ตอนเทรนซ่อน c 10% → โมเดลเดียวทายได้ทั้งมี/ไม่มี c → ตอน sample เอาผลต่างมาขยายด้วย w = guidance scale — สัปดาห์หน้า c = ข้อความอะไรก็ได้ที่แปลงเป็น vector ด้วย CLIP — กลไกเดียวกันเป๊ะ ‖ สะพานสู่สัปดาห์หน้าที่ชัดที่สุด: ปุ่ม 'guidance scale' ใน Stable Diffusion คือ w ตัวนี้ ตอนบ่ายแล็บ 4 จะได้หมุน w = 1, 3, 6 แล้วดูว่าภาพ 'ตรงกลุ่ม' ขึ้นแต่หลากหลายลด ไม่ต้องลงว่าทำไมผลต่างของสองคำทายถึงชี้ทิศไปหาเงื่อนไข — บอกว่าเป็นการ 'ขยายส่วนที่เงื่อนไขเปลี่ยน'</a:t>
            </a:r>
            <a:endParaRPr/>
          </a:p>
        </p:txBody>
      </p:sp>
      <p:sp>
        <p:nvSpPr>
          <p:cNvPr id="1046" name="Google Shape;1046;p6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7" name="Shape 10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8" name="Google Shape;1058;p6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9" name="Google Shape;1059;p6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สั่งกลุ่ม 'อาหาร' เหมือนกันทั้ง 3 แถว ต่างกันแค่ guidance (w) แถว w=1: ทำตามป้ายแบบหลวม ๆ หลากหลายสุด w=3: ตรงกลุ่มชัดขึ้น w=6: ตรงกลุ่มมากแต่หน้าตาซ้ำกันมากขึ้น (ตัวเลขความหลากหลาย = ระยะเฉลี่ยระหว่างภาพ ลดลง) วิธีทำ (classifier-free guidance): ตอนเทรนซ่อนป้าย 10% ตอนสร้างทาย noise 2 ครั้ง (มีป้าย/ไม่มีป้าย) แล้วขยายผลต่างด้วย w — ปุ่มเดียวกับ guidance scale ของ Stable Diffusion สัปดาห์หน้า เงื่อนไขแบบอื่น (ข้อความ ภาพร่าง ขอบ ท่าทาง) ใช้หลักเดียวกัน (Lecture 4&amp;5 หน้า 23)</a:t>
            </a:r>
            <a:endParaRPr/>
          </a:p>
        </p:txBody>
      </p:sp>
      <p:sp>
        <p:nvSpPr>
          <p:cNvPr id="1060" name="Google Shape;1060;p6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1" name="Shape 10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2" name="Google Shape;1072;p6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3" name="Google Shape;1073;p6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ปิดส่วนที่ 4 ด้วยภาพรวมสัปดาห์หน้า ให้นักศึกษาเห็นว่าไม่มีชิ้นส่วนใหม่เลย: ทุกกล่องในภาพนี้คือสิ่งที่จะเทรนเองตอนบ่ายในขนาดเล็ก สัปดาห์หน้าแค่เปลี่ยนเป็นของจริงขนาดใหญ่ที่ดาวน์โหลดมา แล้วเรียนวิธีควบคุม (ControlNet) และปรับแต่ง (LoRA ตัวเดียวกับสัปดาห์ 3)</a:t>
            </a:r>
            <a:endParaRPr/>
          </a:p>
        </p:txBody>
      </p:sp>
      <p:sp>
        <p:nvSpPr>
          <p:cNvPr id="1074" name="Google Shape;1074;p6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2" name="Shape 10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3" name="Google Shape;1093;p6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4" name="Google Shape;1094;p6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ประกอบร่างจาก 3 ชิ้นของวันนี้: ข้อความผ่าน CLIP เป็นเวกเตอร์ (แทนป้ายกลุ่มของแล็บ 4) เข้าไปคุม U-Net ทุกก้าว (ผ่าน cross-attention = attention สัปดาห์ 2) U-Net ลบ noise บน latent 64×64 (แล็บ 3) 20–50 ก้าว แล้ว VAE decoder (แล็บ 1) คลายเป็นภาพ 512×512 ทำงานบน latent ที่เล็กกว่า 48 เท่า จึงเร็วพอใช้บน GPU ทั่วไป ภาพตัวอย่างเป็นห้องนอนที่ Stable Diffusion + ControlNet สร้าง (Lecture 4&amp;5 หน้า 52) — เทียบกับห้องนอน DCGAN สไลด์ 13 สถาปัตยกรรมต้นฉบับ: Rombach et al. 2022 (Lecture 4&amp;5 หน้า 46)</a:t>
            </a:r>
            <a:endParaRPr/>
          </a:p>
        </p:txBody>
      </p:sp>
      <p:sp>
        <p:nvSpPr>
          <p:cNvPr id="1095" name="Google Shape;1095;p6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6" name="Shape 1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7" name="Google Shape;1107;p6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8" name="Google Shape;1108;p6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ตารางเดียวกับตอนต้น แต่ตอนนี้นักศึกษาควรอธิบายได้ทุกช่องว่า 'ทำไม' ให้สุ่มถามทีละช่อง เช่น ทำไม VAE เบลอ / ทำไม GAN แกว่ง / ทำไม diffusion ไม่เบลอทั้งที่ใช้ MSE</a:t>
            </a:r>
            <a:endParaRPr/>
          </a:p>
        </p:txBody>
      </p:sp>
      <p:sp>
        <p:nvSpPr>
          <p:cNvPr id="1109" name="Google Shape;1109;p6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1" name="Shape 1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2" name="Google Shape;1132;p6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3" name="Google Shape;1133;p6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บอกว่า notebook ไฟล์เดียว รันทีละเซลล์ตามอาจารย์ เวลาเทรนรวมราว 15 นาที (ยังไม่ได้วัดบน T4 จริง ให้ปรับตามหน้างาน) ชุดข้อมูลฝังในไฟล์ ไม่ต้องอัปโหลด</a:t>
            </a:r>
            <a:endParaRPr/>
          </a:p>
        </p:txBody>
      </p:sp>
      <p:sp>
        <p:nvSpPr>
          <p:cNvPr id="1134" name="Google Shape;1134;p6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5" name="Shape 1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6" name="Google Shape;1176;p6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7" name="Google Shape;1177;p6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ไม่ต้องเฉลย ให้นักศึกษาถือคำถามนี้ไปตลอดบ่าย และตอบในการบ้าน/สัปดาห์หน้า คำตอบที่คาดหวัง: เทรนตั้งแต่ศูนย์ทำได้กับภาพเล็ก ๆ (อย่างวันนี้) แต่ของจริงใช้โมเดลที่เทรนมาแล้วและปรับด้วย LoRA เหมือนสัปดาห์ 3</a:t>
            </a:r>
            <a:endParaRPr/>
          </a:p>
        </p:txBody>
      </p:sp>
      <p:sp>
        <p:nvSpPr>
          <p:cNvPr id="1178" name="Google Shape;1178;p6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5.png"/><Relationship Id="rId5" Type="http://schemas.openxmlformats.org/officeDocument/2006/relationships/image" Target="../media/image1.png"/><Relationship Id="rId6" Type="http://schemas.openxmlformats.org/officeDocument/2006/relationships/image" Target="../media/image2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Relationship Id="rId4" Type="http://schemas.openxmlformats.org/officeDocument/2006/relationships/image" Target="../media/image1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Relationship Id="rId4" Type="http://schemas.openxmlformats.org/officeDocument/2006/relationships/image" Target="../media/image37.png"/><Relationship Id="rId5" Type="http://schemas.openxmlformats.org/officeDocument/2006/relationships/image" Target="../media/image16.png"/><Relationship Id="rId6" Type="http://schemas.openxmlformats.org/officeDocument/2006/relationships/image" Target="../media/image1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2.png"/><Relationship Id="rId4" Type="http://schemas.openxmlformats.org/officeDocument/2006/relationships/image" Target="../media/image2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0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0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4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6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7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4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8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5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1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0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5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6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8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1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45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82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40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65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42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39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50.png"/><Relationship Id="rId4" Type="http://schemas.openxmlformats.org/officeDocument/2006/relationships/image" Target="../media/image46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43.png"/><Relationship Id="rId4" Type="http://schemas.openxmlformats.org/officeDocument/2006/relationships/image" Target="../media/image44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55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47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69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48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49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53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54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53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56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52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51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78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80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62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58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59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56.png"/><Relationship Id="rId4" Type="http://schemas.openxmlformats.org/officeDocument/2006/relationships/image" Target="../media/image64.png"/><Relationship Id="rId5" Type="http://schemas.openxmlformats.org/officeDocument/2006/relationships/image" Target="../media/image61.pn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62.png"/><Relationship Id="rId4" Type="http://schemas.openxmlformats.org/officeDocument/2006/relationships/image" Target="../media/image72.pn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70.pn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61.pn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83.pn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72.png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37.png"/><Relationship Id="rId4" Type="http://schemas.openxmlformats.org/officeDocument/2006/relationships/image" Target="../media/image16.png"/><Relationship Id="rId5" Type="http://schemas.openxmlformats.org/officeDocument/2006/relationships/image" Target="../media/image73.png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74.png"/><Relationship Id="rId4" Type="http://schemas.openxmlformats.org/officeDocument/2006/relationships/image" Target="../media/image77.png"/><Relationship Id="rId5" Type="http://schemas.openxmlformats.org/officeDocument/2006/relationships/image" Target="../media/image75.png"/><Relationship Id="rId6" Type="http://schemas.openxmlformats.org/officeDocument/2006/relationships/image" Target="../media/image76.png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7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6233F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6583680" y="-1097280"/>
            <a:ext cx="4206240" cy="4206240"/>
          </a:xfrm>
          <a:prstGeom prst="ellipse">
            <a:avLst/>
          </a:prstGeom>
          <a:solidFill>
            <a:srgbClr val="22325A"/>
          </a:solidFill>
          <a:ln cap="flat" cmpd="sng" w="12700">
            <a:solidFill>
              <a:srgbClr val="2232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7589520" y="3108960"/>
            <a:ext cx="2743200" cy="2743200"/>
          </a:xfrm>
          <a:prstGeom prst="ellipse">
            <a:avLst/>
          </a:prstGeom>
          <a:solidFill>
            <a:srgbClr val="1D6F5B"/>
          </a:solidFill>
          <a:ln cap="flat" cmpd="sng" w="12700">
            <a:solidFill>
              <a:srgbClr val="1D6F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 txBox="1"/>
          <p:nvPr/>
        </p:nvSpPr>
        <p:spPr>
          <a:xfrm>
            <a:off x="640080" y="1188720"/>
            <a:ext cx="694944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Tahoma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จาก noise สู่ภาพ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Tahoma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หลักการของโมเดลสร้างภาพ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 txBox="1"/>
          <p:nvPr/>
        </p:nvSpPr>
        <p:spPr>
          <a:xfrm>
            <a:off x="640080" y="2743200"/>
            <a:ext cx="69494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600"/>
              <a:buFont typeface="Tahoma"/>
              <a:buNone/>
            </a:pPr>
            <a:r>
              <a:rPr b="0" i="0" lang="en-US" sz="1600" u="none" cap="none" strike="noStrike">
                <a:solidFill>
                  <a:srgbClr val="CADCFC"/>
                </a:solidFill>
                <a:latin typeface="Tahoma"/>
                <a:ea typeface="Tahoma"/>
                <a:cs typeface="Tahoma"/>
                <a:sym typeface="Tahoma"/>
              </a:rPr>
              <a:t>สัปดาห์ 4 · ช่วงเช้า — VAE · GAN · Diffusion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 txBox="1"/>
          <p:nvPr/>
        </p:nvSpPr>
        <p:spPr>
          <a:xfrm>
            <a:off x="640080" y="4023360"/>
            <a:ext cx="6949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rgbClr val="CADCFC"/>
                </a:solidFill>
                <a:latin typeface="Tahoma"/>
                <a:ea typeface="Tahoma"/>
                <a:cs typeface="Tahoma"/>
                <a:sym typeface="Tahoma"/>
              </a:rPr>
              <a:t>ดร.ธีรพงศ์ อรชร · ANT-DPU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"/>
          <p:cNvSpPr txBox="1"/>
          <p:nvPr/>
        </p:nvSpPr>
        <p:spPr>
          <a:xfrm>
            <a:off x="457200" y="4814316"/>
            <a:ext cx="5486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3AE"/>
              </a:buClr>
              <a:buSzPts val="900"/>
              <a:buFont typeface="Tahoma"/>
              <a:buNone/>
            </a:pPr>
            <a:r>
              <a:rPr b="0" i="0" lang="en-US" sz="900" u="none" cap="none" strike="noStrike">
                <a:solidFill>
                  <a:srgbClr val="9AA3AE"/>
                </a:solidFill>
                <a:latin typeface="Tahoma"/>
                <a:ea typeface="Tahoma"/>
                <a:cs typeface="Tahoma"/>
                <a:sym typeface="Tahoma"/>
              </a:rPr>
              <a:t>LLM &amp; Agentic AI · สัปดาห์ 4 · ช่วงเช้า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2"/>
          <p:cNvSpPr/>
          <p:nvPr/>
        </p:nvSpPr>
        <p:spPr>
          <a:xfrm>
            <a:off x="8357616" y="4759452"/>
            <a:ext cx="329184" cy="329184"/>
          </a:xfrm>
          <a:prstGeom prst="ellipse">
            <a:avLst/>
          </a:prstGeom>
          <a:solidFill>
            <a:srgbClr val="1F3864"/>
          </a:solidFill>
          <a:ln cap="flat" cmpd="sng" w="12700">
            <a:solidFill>
              <a:srgbClr val="1F38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2"/>
          <p:cNvSpPr txBox="1"/>
          <p:nvPr/>
        </p:nvSpPr>
        <p:spPr>
          <a:xfrm>
            <a:off x="8357616" y="4759452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Tahoma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2"/>
          <p:cNvSpPr/>
          <p:nvPr/>
        </p:nvSpPr>
        <p:spPr>
          <a:xfrm>
            <a:off x="457200" y="256032"/>
            <a:ext cx="681228" cy="274320"/>
          </a:xfrm>
          <a:prstGeom prst="roundRect">
            <a:avLst>
              <a:gd fmla="val 50000" name="adj"/>
            </a:avLst>
          </a:prstGeom>
          <a:solidFill>
            <a:srgbClr val="DDF1EA"/>
          </a:solidFill>
          <a:ln cap="flat" cmpd="sng" w="12700">
            <a:solidFill>
              <a:srgbClr val="DDF1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2"/>
          <p:cNvSpPr txBox="1"/>
          <p:nvPr/>
        </p:nvSpPr>
        <p:spPr>
          <a:xfrm>
            <a:off x="457200" y="256032"/>
            <a:ext cx="68122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6F5B"/>
              </a:buClr>
              <a:buSzPts val="1000"/>
              <a:buFont typeface="Tahoma"/>
              <a:buNone/>
            </a:pPr>
            <a:r>
              <a:rPr b="1" i="0" lang="en-US" sz="1000" u="none" cap="none" strike="noStrike">
                <a:solidFill>
                  <a:srgbClr val="1D6F5B"/>
                </a:solidFill>
                <a:latin typeface="Tahoma"/>
                <a:ea typeface="Tahoma"/>
                <a:cs typeface="Tahoma"/>
                <a:sym typeface="Tahoma"/>
              </a:rPr>
              <a:t>ทบทวน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2"/>
          <p:cNvSpPr txBox="1"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2400"/>
              <a:buFont typeface="Tahoma"/>
              <a:buNone/>
            </a:pPr>
            <a:r>
              <a:rPr b="1" i="0" lang="en-US" sz="2400" u="none" cap="none" strike="noStrike">
                <a:solidFill>
                  <a:srgbClr val="1F3864"/>
                </a:solidFill>
                <a:latin typeface="Tahoma"/>
                <a:ea typeface="Tahoma"/>
                <a:cs typeface="Tahoma"/>
                <a:sym typeface="Tahoma"/>
              </a:rPr>
              <a:t>เส้นทางที่เดินมา และวันนี้จะไปไหน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week4/slides/fig/f_journey.png" id="32" name="Google Shape;32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0873" y="1298448"/>
            <a:ext cx="7762254" cy="2148840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2"/>
          <p:cNvSpPr/>
          <p:nvPr/>
        </p:nvSpPr>
        <p:spPr>
          <a:xfrm>
            <a:off x="457200" y="3630168"/>
            <a:ext cx="2621280" cy="1056132"/>
          </a:xfrm>
          <a:prstGeom prst="roundRect">
            <a:avLst>
              <a:gd fmla="val 6926" name="adj"/>
            </a:avLst>
          </a:prstGeom>
          <a:solidFill>
            <a:srgbClr val="E4ECF7"/>
          </a:solidFill>
          <a:ln cap="flat" cmpd="sng" w="12700">
            <a:solidFill>
              <a:srgbClr val="E4EC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2"/>
          <p:cNvSpPr/>
          <p:nvPr/>
        </p:nvSpPr>
        <p:spPr>
          <a:xfrm>
            <a:off x="585216" y="3758184"/>
            <a:ext cx="201168" cy="201168"/>
          </a:xfrm>
          <a:prstGeom prst="ellipse">
            <a:avLst/>
          </a:prstGeom>
          <a:solidFill>
            <a:srgbClr val="1F3864"/>
          </a:solidFill>
          <a:ln cap="flat" cmpd="sng" w="12700">
            <a:solidFill>
              <a:srgbClr val="1F38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2"/>
          <p:cNvSpPr txBox="1"/>
          <p:nvPr/>
        </p:nvSpPr>
        <p:spPr>
          <a:xfrm>
            <a:off x="868680" y="3703320"/>
            <a:ext cx="2072640" cy="9098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33"/>
              </a:buClr>
              <a:buSzPts val="1200"/>
              <a:buFont typeface="Tahoma"/>
              <a:buNone/>
            </a:pPr>
            <a:r>
              <a:rPr b="0" i="0" lang="en-US" sz="1200" u="none" cap="none" strike="noStrike">
                <a:solidFill>
                  <a:srgbClr val="1E2733"/>
                </a:solidFill>
                <a:latin typeface="Tahoma"/>
                <a:ea typeface="Tahoma"/>
                <a:cs typeface="Tahoma"/>
                <a:sym typeface="Tahoma"/>
              </a:rPr>
              <a:t>สัปดาห์ 1: จำแนก — ภาพเข้า ชื่อคลาสออก (CNN)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3261360" y="3630168"/>
            <a:ext cx="2621280" cy="1056132"/>
          </a:xfrm>
          <a:prstGeom prst="roundRect">
            <a:avLst>
              <a:gd fmla="val 6926" name="adj"/>
            </a:avLst>
          </a:prstGeom>
          <a:solidFill>
            <a:srgbClr val="DDF1EA"/>
          </a:solidFill>
          <a:ln cap="flat" cmpd="sng" w="12700">
            <a:solidFill>
              <a:srgbClr val="DDF1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2"/>
          <p:cNvSpPr/>
          <p:nvPr/>
        </p:nvSpPr>
        <p:spPr>
          <a:xfrm>
            <a:off x="3389376" y="3758184"/>
            <a:ext cx="201168" cy="201168"/>
          </a:xfrm>
          <a:prstGeom prst="ellipse">
            <a:avLst/>
          </a:prstGeom>
          <a:solidFill>
            <a:srgbClr val="1D6F5B"/>
          </a:solidFill>
          <a:ln cap="flat" cmpd="sng" w="12700">
            <a:solidFill>
              <a:srgbClr val="1D6F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2"/>
          <p:cNvSpPr txBox="1"/>
          <p:nvPr/>
        </p:nvSpPr>
        <p:spPr>
          <a:xfrm>
            <a:off x="3672840" y="3703320"/>
            <a:ext cx="2072640" cy="9098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33"/>
              </a:buClr>
              <a:buSzPts val="1200"/>
              <a:buFont typeface="Tahoma"/>
              <a:buNone/>
            </a:pPr>
            <a:r>
              <a:rPr b="0" i="0" lang="en-US" sz="1200" u="none" cap="none" strike="noStrike">
                <a:solidFill>
                  <a:srgbClr val="1E2733"/>
                </a:solidFill>
                <a:latin typeface="Tahoma"/>
                <a:ea typeface="Tahoma"/>
                <a:cs typeface="Tahoma"/>
                <a:sym typeface="Tahoma"/>
              </a:rPr>
              <a:t>สัปดาห์ 2–3: สร้างข้อความ — LLM ทำนาย token ถัดไป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6065520" y="3630168"/>
            <a:ext cx="2621280" cy="1056132"/>
          </a:xfrm>
          <a:prstGeom prst="roundRect">
            <a:avLst>
              <a:gd fmla="val 6926" name="adj"/>
            </a:avLst>
          </a:prstGeom>
          <a:solidFill>
            <a:srgbClr val="FCF0D9"/>
          </a:solidFill>
          <a:ln cap="flat" cmpd="sng" w="12700">
            <a:solidFill>
              <a:srgbClr val="FCF0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2"/>
          <p:cNvSpPr/>
          <p:nvPr/>
        </p:nvSpPr>
        <p:spPr>
          <a:xfrm>
            <a:off x="6193536" y="3758184"/>
            <a:ext cx="201168" cy="201168"/>
          </a:xfrm>
          <a:prstGeom prst="ellipse">
            <a:avLst/>
          </a:prstGeom>
          <a:solidFill>
            <a:srgbClr val="B7791F"/>
          </a:solidFill>
          <a:ln cap="flat" cmpd="sng" w="12700">
            <a:solidFill>
              <a:srgbClr val="B779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2"/>
          <p:cNvSpPr txBox="1"/>
          <p:nvPr/>
        </p:nvSpPr>
        <p:spPr>
          <a:xfrm>
            <a:off x="6477000" y="3703320"/>
            <a:ext cx="2072640" cy="9098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33"/>
              </a:buClr>
              <a:buSzPts val="1200"/>
              <a:buFont typeface="Tahoma"/>
              <a:buNone/>
            </a:pPr>
            <a:r>
              <a:rPr b="0" i="0" lang="en-US" sz="1200" u="none" cap="none" strike="noStrike">
                <a:solidFill>
                  <a:srgbClr val="1E2733"/>
                </a:solidFill>
                <a:latin typeface="Tahoma"/>
                <a:ea typeface="Tahoma"/>
                <a:cs typeface="Tahoma"/>
                <a:sym typeface="Tahoma"/>
              </a:rPr>
              <a:t>วันนี้: สร้างภาพ — ใช้หลักคิดเดียวกับ LLM แต่คำตอบเป็นภาพ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"/>
          <p:cNvSpPr txBox="1"/>
          <p:nvPr/>
        </p:nvSpPr>
        <p:spPr>
          <a:xfrm>
            <a:off x="457200" y="4814316"/>
            <a:ext cx="5486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3AE"/>
              </a:buClr>
              <a:buSzPts val="900"/>
              <a:buFont typeface="Tahoma"/>
              <a:buNone/>
            </a:pPr>
            <a:r>
              <a:rPr b="0" i="0" lang="en-US" sz="900" u="none" cap="none" strike="noStrike">
                <a:solidFill>
                  <a:srgbClr val="9AA3AE"/>
                </a:solidFill>
                <a:latin typeface="Tahoma"/>
                <a:ea typeface="Tahoma"/>
                <a:cs typeface="Tahoma"/>
                <a:sym typeface="Tahoma"/>
              </a:rPr>
              <a:t>LLM &amp; Agentic AI · สัปดาห์ 4 · ช่วงเช้า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3"/>
          <p:cNvSpPr/>
          <p:nvPr/>
        </p:nvSpPr>
        <p:spPr>
          <a:xfrm>
            <a:off x="8357616" y="4759452"/>
            <a:ext cx="329184" cy="329184"/>
          </a:xfrm>
          <a:prstGeom prst="ellipse">
            <a:avLst/>
          </a:prstGeom>
          <a:solidFill>
            <a:srgbClr val="1F3864"/>
          </a:solidFill>
          <a:ln cap="flat" cmpd="sng" w="12700">
            <a:solidFill>
              <a:srgbClr val="1F38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3"/>
          <p:cNvSpPr txBox="1"/>
          <p:nvPr/>
        </p:nvSpPr>
        <p:spPr>
          <a:xfrm>
            <a:off x="8357616" y="4759452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Tahoma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3"/>
          <p:cNvSpPr/>
          <p:nvPr/>
        </p:nvSpPr>
        <p:spPr>
          <a:xfrm>
            <a:off x="457200" y="256032"/>
            <a:ext cx="758952" cy="274320"/>
          </a:xfrm>
          <a:prstGeom prst="roundRect">
            <a:avLst>
              <a:gd fmla="val 50000" name="adj"/>
            </a:avLst>
          </a:prstGeom>
          <a:solidFill>
            <a:srgbClr val="DDF1EA"/>
          </a:solidFill>
          <a:ln cap="flat" cmpd="sng" w="12700">
            <a:solidFill>
              <a:srgbClr val="DDF1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3"/>
          <p:cNvSpPr txBox="1"/>
          <p:nvPr/>
        </p:nvSpPr>
        <p:spPr>
          <a:xfrm>
            <a:off x="457200" y="256032"/>
            <a:ext cx="75895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6F5B"/>
              </a:buClr>
              <a:buSzPts val="1000"/>
              <a:buFont typeface="Tahoma"/>
              <a:buNone/>
            </a:pPr>
            <a:r>
              <a:rPr b="1" i="0" lang="en-US" sz="1000" u="none" cap="none" strike="noStrike">
                <a:solidFill>
                  <a:srgbClr val="1D6F5B"/>
                </a:solidFill>
                <a:latin typeface="Tahoma"/>
                <a:ea typeface="Tahoma"/>
                <a:cs typeface="Tahoma"/>
                <a:sym typeface="Tahoma"/>
              </a:rPr>
              <a:t>ภาพรวม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3"/>
          <p:cNvSpPr txBox="1"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2400"/>
              <a:buFont typeface="Tahoma"/>
              <a:buNone/>
            </a:pPr>
            <a:r>
              <a:rPr b="1" i="0" lang="en-US" sz="2400" u="none" cap="none" strike="noStrike">
                <a:solidFill>
                  <a:srgbClr val="1F3864"/>
                </a:solidFill>
                <a:latin typeface="Tahoma"/>
                <a:ea typeface="Tahoma"/>
                <a:cs typeface="Tahoma"/>
                <a:sym typeface="Tahoma"/>
              </a:rPr>
              <a:t>วันนี้ทำอะไรบ้าง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3"/>
          <p:cNvSpPr/>
          <p:nvPr/>
        </p:nvSpPr>
        <p:spPr>
          <a:xfrm>
            <a:off x="457200" y="1298448"/>
            <a:ext cx="2609088" cy="2139696"/>
          </a:xfrm>
          <a:prstGeom prst="roundRect">
            <a:avLst>
              <a:gd fmla="val 4274" name="adj"/>
            </a:avLst>
          </a:prstGeom>
          <a:solidFill>
            <a:srgbClr val="E4ECF7"/>
          </a:solidFill>
          <a:ln cap="flat" cmpd="sng" w="12700">
            <a:solidFill>
              <a:srgbClr val="E4EC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3"/>
          <p:cNvSpPr/>
          <p:nvPr/>
        </p:nvSpPr>
        <p:spPr>
          <a:xfrm>
            <a:off x="603504" y="1444752"/>
            <a:ext cx="365760" cy="365760"/>
          </a:xfrm>
          <a:prstGeom prst="ellipse">
            <a:avLst/>
          </a:prstGeom>
          <a:solidFill>
            <a:srgbClr val="1F3864"/>
          </a:solidFill>
          <a:ln cap="flat" cmpd="sng" w="12700">
            <a:solidFill>
              <a:srgbClr val="1F38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3"/>
          <p:cNvSpPr txBox="1"/>
          <p:nvPr/>
        </p:nvSpPr>
        <p:spPr>
          <a:xfrm>
            <a:off x="603504" y="1444752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ahoma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3"/>
          <p:cNvSpPr txBox="1"/>
          <p:nvPr/>
        </p:nvSpPr>
        <p:spPr>
          <a:xfrm>
            <a:off x="1060704" y="1426464"/>
            <a:ext cx="18592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300"/>
              <a:buFont typeface="Tahoma"/>
              <a:buNone/>
            </a:pPr>
            <a:r>
              <a:rPr b="1" i="0" lang="en-US" sz="1300" u="none" cap="none" strike="noStrike">
                <a:solidFill>
                  <a:srgbClr val="1F3864"/>
                </a:solidFill>
                <a:latin typeface="Tahoma"/>
                <a:ea typeface="Tahoma"/>
                <a:cs typeface="Tahoma"/>
                <a:sym typeface="Tahoma"/>
              </a:rPr>
              <a:t>ช่วงเช้า · 4 ส่วน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3"/>
          <p:cNvSpPr txBox="1"/>
          <p:nvPr/>
        </p:nvSpPr>
        <p:spPr>
          <a:xfrm>
            <a:off x="603504" y="1901952"/>
            <a:ext cx="2316480" cy="14264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33"/>
              </a:buClr>
              <a:buSzPts val="1200"/>
              <a:buFont typeface="Tahoma"/>
              <a:buNone/>
            </a:pPr>
            <a:r>
              <a:rPr b="0" i="0" lang="en-US" sz="1200" u="none" cap="none" strike="noStrike">
                <a:solidFill>
                  <a:srgbClr val="1E2733"/>
                </a:solidFill>
                <a:latin typeface="Tahoma"/>
                <a:ea typeface="Tahoma"/>
                <a:cs typeface="Tahoma"/>
                <a:sym typeface="Tahoma"/>
              </a:rPr>
              <a:t>1. สร้างภาพ ≠ จำแนกภาพ (และ autoregressive)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33"/>
              </a:buClr>
              <a:buSzPts val="1200"/>
              <a:buFont typeface="Tahoma"/>
              <a:buNone/>
            </a:pPr>
            <a:r>
              <a:rPr b="0" i="0" lang="en-US" sz="1200" u="none" cap="none" strike="noStrike">
                <a:solidFill>
                  <a:srgbClr val="1E2733"/>
                </a:solidFill>
                <a:latin typeface="Tahoma"/>
                <a:ea typeface="Tahoma"/>
                <a:cs typeface="Tahoma"/>
                <a:sym typeface="Tahoma"/>
              </a:rPr>
              <a:t>2. VAE — บีบแล้วคลาย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33"/>
              </a:buClr>
              <a:buSzPts val="1200"/>
              <a:buFont typeface="Tahoma"/>
              <a:buNone/>
            </a:pPr>
            <a:r>
              <a:rPr b="0" i="0" lang="en-US" sz="1200" u="none" cap="none" strike="noStrike">
                <a:solidFill>
                  <a:srgbClr val="1E2733"/>
                </a:solidFill>
                <a:latin typeface="Tahoma"/>
                <a:ea typeface="Tahoma"/>
                <a:cs typeface="Tahoma"/>
                <a:sym typeface="Tahoma"/>
              </a:rPr>
              <a:t>3. GAN — เกมสองฝ่าย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33"/>
              </a:buClr>
              <a:buSzPts val="1200"/>
              <a:buFont typeface="Tahoma"/>
              <a:buNone/>
            </a:pPr>
            <a:r>
              <a:rPr b="0" i="0" lang="en-US" sz="1200" u="none" cap="none" strike="noStrike">
                <a:solidFill>
                  <a:srgbClr val="1E2733"/>
                </a:solidFill>
                <a:latin typeface="Tahoma"/>
                <a:ea typeface="Tahoma"/>
                <a:cs typeface="Tahoma"/>
                <a:sym typeface="Tahoma"/>
              </a:rPr>
              <a:t>4. Diffusion — เดินจาก noise ทีละก้าว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3"/>
          <p:cNvSpPr/>
          <p:nvPr/>
        </p:nvSpPr>
        <p:spPr>
          <a:xfrm>
            <a:off x="3267456" y="1298448"/>
            <a:ext cx="2609088" cy="2139696"/>
          </a:xfrm>
          <a:prstGeom prst="roundRect">
            <a:avLst>
              <a:gd fmla="val 4274" name="adj"/>
            </a:avLst>
          </a:prstGeom>
          <a:solidFill>
            <a:srgbClr val="DDF1EA"/>
          </a:solidFill>
          <a:ln cap="flat" cmpd="sng" w="12700">
            <a:solidFill>
              <a:srgbClr val="DDF1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3"/>
          <p:cNvSpPr/>
          <p:nvPr/>
        </p:nvSpPr>
        <p:spPr>
          <a:xfrm>
            <a:off x="3413760" y="1444752"/>
            <a:ext cx="365760" cy="365760"/>
          </a:xfrm>
          <a:prstGeom prst="ellipse">
            <a:avLst/>
          </a:prstGeom>
          <a:solidFill>
            <a:srgbClr val="1D6F5B"/>
          </a:solidFill>
          <a:ln cap="flat" cmpd="sng" w="12700">
            <a:solidFill>
              <a:srgbClr val="1D6F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3"/>
          <p:cNvSpPr txBox="1"/>
          <p:nvPr/>
        </p:nvSpPr>
        <p:spPr>
          <a:xfrm>
            <a:off x="3413760" y="1444752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ahoma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3"/>
          <p:cNvSpPr txBox="1"/>
          <p:nvPr/>
        </p:nvSpPr>
        <p:spPr>
          <a:xfrm>
            <a:off x="3870960" y="1426464"/>
            <a:ext cx="18592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6F5B"/>
              </a:buClr>
              <a:buSzPts val="1300"/>
              <a:buFont typeface="Tahoma"/>
              <a:buNone/>
            </a:pPr>
            <a:r>
              <a:rPr b="1" i="0" lang="en-US" sz="1300" u="none" cap="none" strike="noStrike">
                <a:solidFill>
                  <a:srgbClr val="1D6F5B"/>
                </a:solidFill>
                <a:latin typeface="Tahoma"/>
                <a:ea typeface="Tahoma"/>
                <a:cs typeface="Tahoma"/>
                <a:sym typeface="Tahoma"/>
              </a:rPr>
              <a:t>ช่วงบ่าย · 4 แล็บ (Colab T4)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3"/>
          <p:cNvSpPr txBox="1"/>
          <p:nvPr/>
        </p:nvSpPr>
        <p:spPr>
          <a:xfrm>
            <a:off x="3413760" y="1901952"/>
            <a:ext cx="2316480" cy="14264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33"/>
              </a:buClr>
              <a:buSzPts val="1200"/>
              <a:buFont typeface="Tahoma"/>
              <a:buNone/>
            </a:pPr>
            <a:r>
              <a:rPr b="0" i="0" lang="en-US" sz="1200" u="none" cap="none" strike="noStrike">
                <a:solidFill>
                  <a:srgbClr val="1E2733"/>
                </a:solidFill>
                <a:latin typeface="Tahoma"/>
                <a:ea typeface="Tahoma"/>
                <a:cs typeface="Tahoma"/>
                <a:sym typeface="Tahoma"/>
              </a:rPr>
              <a:t>แล็บ 1 เทรน VAE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33"/>
              </a:buClr>
              <a:buSzPts val="1200"/>
              <a:buFont typeface="Tahoma"/>
              <a:buNone/>
            </a:pPr>
            <a:r>
              <a:rPr b="0" i="0" lang="en-US" sz="1200" u="none" cap="none" strike="noStrike">
                <a:solidFill>
                  <a:srgbClr val="1E2733"/>
                </a:solidFill>
                <a:latin typeface="Tahoma"/>
                <a:ea typeface="Tahoma"/>
                <a:cs typeface="Tahoma"/>
                <a:sym typeface="Tahoma"/>
              </a:rPr>
              <a:t>แล็บ 2 เทรน GAN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33"/>
              </a:buClr>
              <a:buSzPts val="1200"/>
              <a:buFont typeface="Tahoma"/>
              <a:buNone/>
            </a:pPr>
            <a:r>
              <a:rPr b="0" i="0" lang="en-US" sz="1200" u="none" cap="none" strike="noStrike">
                <a:solidFill>
                  <a:srgbClr val="1E2733"/>
                </a:solidFill>
                <a:latin typeface="Tahoma"/>
                <a:ea typeface="Tahoma"/>
                <a:cs typeface="Tahoma"/>
                <a:sym typeface="Tahoma"/>
              </a:rPr>
              <a:t>แล็บ 3 เทรน DDPM + ลอง DDIM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33"/>
              </a:buClr>
              <a:buSzPts val="1200"/>
              <a:buFont typeface="Tahoma"/>
              <a:buNone/>
            </a:pPr>
            <a:r>
              <a:rPr b="0" i="0" lang="en-US" sz="1200" u="none" cap="none" strike="noStrike">
                <a:solidFill>
                  <a:srgbClr val="1E2733"/>
                </a:solidFill>
                <a:latin typeface="Tahoma"/>
                <a:ea typeface="Tahoma"/>
                <a:cs typeface="Tahoma"/>
                <a:sym typeface="Tahoma"/>
              </a:rPr>
              <a:t>แล็บ 4 Diffusion แบบมีเงื่อนไข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33"/>
              </a:buClr>
              <a:buSzPts val="1200"/>
              <a:buFont typeface="Tahoma"/>
              <a:buNone/>
            </a:pPr>
            <a:r>
              <a:rPr b="0" i="0" lang="en-US" sz="1200" u="none" cap="none" strike="noStrike">
                <a:solidFill>
                  <a:srgbClr val="1E2733"/>
                </a:solidFill>
                <a:latin typeface="Tahoma"/>
                <a:ea typeface="Tahoma"/>
                <a:cs typeface="Tahoma"/>
                <a:sym typeface="Tahoma"/>
              </a:rPr>
              <a:t>ชุดข้อมูลเดียวกันทั้งวัน: Sprites 16×16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6077712" y="1298448"/>
            <a:ext cx="2609088" cy="2139696"/>
          </a:xfrm>
          <a:prstGeom prst="roundRect">
            <a:avLst>
              <a:gd fmla="val 4274" name="adj"/>
            </a:avLst>
          </a:prstGeom>
          <a:solidFill>
            <a:srgbClr val="FCF0D9"/>
          </a:solidFill>
          <a:ln cap="flat" cmpd="sng" w="12700">
            <a:solidFill>
              <a:srgbClr val="FCF0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3"/>
          <p:cNvSpPr/>
          <p:nvPr/>
        </p:nvSpPr>
        <p:spPr>
          <a:xfrm>
            <a:off x="6224016" y="1444752"/>
            <a:ext cx="365760" cy="365760"/>
          </a:xfrm>
          <a:prstGeom prst="ellipse">
            <a:avLst/>
          </a:prstGeom>
          <a:solidFill>
            <a:srgbClr val="B7791F"/>
          </a:solidFill>
          <a:ln cap="flat" cmpd="sng" w="12700">
            <a:solidFill>
              <a:srgbClr val="B779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3"/>
          <p:cNvSpPr txBox="1"/>
          <p:nvPr/>
        </p:nvSpPr>
        <p:spPr>
          <a:xfrm>
            <a:off x="6224016" y="1444752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ahoma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3"/>
          <p:cNvSpPr txBox="1"/>
          <p:nvPr/>
        </p:nvSpPr>
        <p:spPr>
          <a:xfrm>
            <a:off x="6681216" y="1426464"/>
            <a:ext cx="18592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791F"/>
              </a:buClr>
              <a:buSzPts val="1300"/>
              <a:buFont typeface="Tahoma"/>
              <a:buNone/>
            </a:pPr>
            <a:r>
              <a:rPr b="1" i="0" lang="en-US" sz="1300" u="none" cap="none" strike="noStrike">
                <a:solidFill>
                  <a:srgbClr val="B7791F"/>
                </a:solidFill>
                <a:latin typeface="Tahoma"/>
                <a:ea typeface="Tahoma"/>
                <a:cs typeface="Tahoma"/>
                <a:sym typeface="Tahoma"/>
              </a:rPr>
              <a:t>ปลายทาง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3"/>
          <p:cNvSpPr txBox="1"/>
          <p:nvPr/>
        </p:nvSpPr>
        <p:spPr>
          <a:xfrm>
            <a:off x="6224016" y="1901952"/>
            <a:ext cx="2316480" cy="14264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33"/>
              </a:buClr>
              <a:buSzPts val="1200"/>
              <a:buFont typeface="Tahoma"/>
              <a:buNone/>
            </a:pPr>
            <a:r>
              <a:rPr b="0" i="0" lang="en-US" sz="1200" u="none" cap="none" strike="noStrike">
                <a:solidFill>
                  <a:srgbClr val="1E2733"/>
                </a:solidFill>
                <a:latin typeface="Tahoma"/>
                <a:ea typeface="Tahoma"/>
                <a:cs typeface="Tahoma"/>
                <a:sym typeface="Tahoma"/>
              </a:rPr>
              <a:t>เข้าใจว่า Stable Diffusion (สัปดาห์หน้า) ประกอบจาก 3 ชิ้นที่เราเทรนเองวันนี้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33"/>
              </a:buClr>
              <a:buSzPts val="1200"/>
              <a:buFont typeface="Tahoma"/>
              <a:buNone/>
            </a:pPr>
            <a:r>
              <a:rPr b="0" i="0" lang="en-US" sz="1200" u="none" cap="none" strike="noStrike">
                <a:solidFill>
                  <a:srgbClr val="1E2733"/>
                </a:solidFill>
                <a:latin typeface="Tahoma"/>
                <a:ea typeface="Tahoma"/>
                <a:cs typeface="Tahoma"/>
                <a:sym typeface="Tahoma"/>
              </a:rPr>
              <a:t>การบ้าน: "3 โมเดล 1 ชุดข้อมูล"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week4/slides/fig/use/e_L2_81_0.png" id="68" name="Google Shape;68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3692" y="3575304"/>
            <a:ext cx="1547255" cy="704088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3"/>
          <p:cNvSpPr/>
          <p:nvPr/>
        </p:nvSpPr>
        <p:spPr>
          <a:xfrm>
            <a:off x="643692" y="3575304"/>
            <a:ext cx="1547255" cy="704088"/>
          </a:xfrm>
          <a:prstGeom prst="rect">
            <a:avLst/>
          </a:prstGeom>
          <a:noFill/>
          <a:ln cap="flat" cmpd="sng" w="9525">
            <a:solidFill>
              <a:srgbClr val="D9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3"/>
          <p:cNvSpPr txBox="1"/>
          <p:nvPr/>
        </p:nvSpPr>
        <p:spPr>
          <a:xfrm>
            <a:off x="457200" y="4297680"/>
            <a:ext cx="19202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000"/>
              <a:buFont typeface="Tahoma"/>
              <a:buNone/>
            </a:pPr>
            <a:r>
              <a:rPr b="1" i="0" lang="en-US" sz="1000" u="none" cap="none" strike="noStrike">
                <a:solidFill>
                  <a:srgbClr val="1F3864"/>
                </a:solidFill>
                <a:latin typeface="Tahoma"/>
                <a:ea typeface="Tahoma"/>
                <a:cs typeface="Tahoma"/>
                <a:sym typeface="Tahoma"/>
              </a:rPr>
              <a:t>VAE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week4/slides/fig/use/e_L3_33_0.png" id="71" name="Google Shape;71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76358" y="3575304"/>
            <a:ext cx="1688164" cy="704088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3"/>
          <p:cNvSpPr/>
          <p:nvPr/>
        </p:nvSpPr>
        <p:spPr>
          <a:xfrm>
            <a:off x="2676358" y="3575304"/>
            <a:ext cx="1688164" cy="704088"/>
          </a:xfrm>
          <a:prstGeom prst="rect">
            <a:avLst/>
          </a:prstGeom>
          <a:noFill/>
          <a:ln cap="flat" cmpd="sng" w="9525">
            <a:solidFill>
              <a:srgbClr val="D9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3"/>
          <p:cNvSpPr txBox="1"/>
          <p:nvPr/>
        </p:nvSpPr>
        <p:spPr>
          <a:xfrm>
            <a:off x="2560320" y="4297680"/>
            <a:ext cx="19202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000"/>
              <a:buFont typeface="Tahoma"/>
              <a:buNone/>
            </a:pPr>
            <a:r>
              <a:rPr b="1" i="0" lang="en-US" sz="1000" u="none" cap="none" strike="noStrike">
                <a:solidFill>
                  <a:srgbClr val="1F3864"/>
                </a:solidFill>
                <a:latin typeface="Tahoma"/>
                <a:ea typeface="Tahoma"/>
                <a:cs typeface="Tahoma"/>
                <a:sym typeface="Tahoma"/>
              </a:rPr>
              <a:t>GAN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week4/slides/fig/use/e_L6_44_0.png" id="74" name="Google Shape;74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69638" y="3575304"/>
            <a:ext cx="707843" cy="704088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3"/>
          <p:cNvSpPr/>
          <p:nvPr/>
        </p:nvSpPr>
        <p:spPr>
          <a:xfrm>
            <a:off x="5269638" y="3575304"/>
            <a:ext cx="707843" cy="704088"/>
          </a:xfrm>
          <a:prstGeom prst="rect">
            <a:avLst/>
          </a:prstGeom>
          <a:noFill/>
          <a:ln cap="flat" cmpd="sng" w="9525">
            <a:solidFill>
              <a:srgbClr val="D9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3"/>
          <p:cNvSpPr txBox="1"/>
          <p:nvPr/>
        </p:nvSpPr>
        <p:spPr>
          <a:xfrm>
            <a:off x="4663440" y="4297680"/>
            <a:ext cx="19202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000"/>
              <a:buFont typeface="Tahoma"/>
              <a:buNone/>
            </a:pPr>
            <a:r>
              <a:rPr b="1" i="0" lang="en-US" sz="1000" u="none" cap="none" strike="noStrike">
                <a:solidFill>
                  <a:srgbClr val="1F3864"/>
                </a:solidFill>
                <a:latin typeface="Tahoma"/>
                <a:ea typeface="Tahoma"/>
                <a:cs typeface="Tahoma"/>
                <a:sym typeface="Tahoma"/>
              </a:rPr>
              <a:t>Diffusion บน sprites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week4/slides/fig/use/e_L4_47_0.png" id="77" name="Google Shape;77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061241" y="3575304"/>
            <a:ext cx="1330878" cy="704088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3"/>
          <p:cNvSpPr/>
          <p:nvPr/>
        </p:nvSpPr>
        <p:spPr>
          <a:xfrm>
            <a:off x="7061241" y="3575304"/>
            <a:ext cx="1330878" cy="704088"/>
          </a:xfrm>
          <a:prstGeom prst="rect">
            <a:avLst/>
          </a:prstGeom>
          <a:noFill/>
          <a:ln cap="flat" cmpd="sng" w="9525">
            <a:solidFill>
              <a:srgbClr val="D9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3"/>
          <p:cNvSpPr txBox="1"/>
          <p:nvPr/>
        </p:nvSpPr>
        <p:spPr>
          <a:xfrm>
            <a:off x="6766560" y="4297680"/>
            <a:ext cx="19202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000"/>
              <a:buFont typeface="Tahoma"/>
              <a:buNone/>
            </a:pPr>
            <a:r>
              <a:rPr b="1" i="0" lang="en-US" sz="1000" u="none" cap="none" strike="noStrike">
                <a:solidFill>
                  <a:srgbClr val="1F3864"/>
                </a:solidFill>
                <a:latin typeface="Tahoma"/>
                <a:ea typeface="Tahoma"/>
                <a:cs typeface="Tahoma"/>
                <a:sym typeface="Tahoma"/>
              </a:rPr>
              <a:t>Stable Diffusion (สัปดาห์หน้า)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3"/>
          <p:cNvSpPr txBox="1"/>
          <p:nvPr/>
        </p:nvSpPr>
        <p:spPr>
          <a:xfrm>
            <a:off x="457200" y="4576572"/>
            <a:ext cx="78638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4A2"/>
              </a:buClr>
              <a:buSzPts val="800"/>
              <a:buFont typeface="Tahoma"/>
              <a:buNone/>
            </a:pPr>
            <a:r>
              <a:rPr b="0" i="1" lang="en-US" sz="800" u="none" cap="none" strike="noStrike">
                <a:solidFill>
                  <a:srgbClr val="8A94A2"/>
                </a:solidFill>
                <a:latin typeface="Tahoma"/>
                <a:ea typeface="Tahoma"/>
                <a:cs typeface="Tahoma"/>
                <a:sym typeface="Tahoma"/>
              </a:rPr>
              <a:t>ภาพ: Siyu Zhu (Fudan) Lecture 2 หน้า 81 · Lecture 3 หน้า 33 · Lecture 6 หน้า 44 · Lecture 4&amp;5 หน้า 47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4"/>
          <p:cNvSpPr txBox="1"/>
          <p:nvPr/>
        </p:nvSpPr>
        <p:spPr>
          <a:xfrm>
            <a:off x="457200" y="4814316"/>
            <a:ext cx="5486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3AE"/>
              </a:buClr>
              <a:buSzPts val="900"/>
              <a:buFont typeface="Tahoma"/>
              <a:buNone/>
            </a:pPr>
            <a:r>
              <a:rPr b="0" i="0" lang="en-US" sz="900" u="none" cap="none" strike="noStrike">
                <a:solidFill>
                  <a:srgbClr val="9AA3AE"/>
                </a:solidFill>
                <a:latin typeface="Tahoma"/>
                <a:ea typeface="Tahoma"/>
                <a:cs typeface="Tahoma"/>
                <a:sym typeface="Tahoma"/>
              </a:rPr>
              <a:t>LLM &amp; Agentic AI · สัปดาห์ 4 · ช่วงเช้า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4"/>
          <p:cNvSpPr/>
          <p:nvPr/>
        </p:nvSpPr>
        <p:spPr>
          <a:xfrm>
            <a:off x="8357616" y="4759452"/>
            <a:ext cx="329184" cy="329184"/>
          </a:xfrm>
          <a:prstGeom prst="ellipse">
            <a:avLst/>
          </a:prstGeom>
          <a:solidFill>
            <a:srgbClr val="1F3864"/>
          </a:solidFill>
          <a:ln cap="flat" cmpd="sng" w="12700">
            <a:solidFill>
              <a:srgbClr val="1F38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4"/>
          <p:cNvSpPr txBox="1"/>
          <p:nvPr/>
        </p:nvSpPr>
        <p:spPr>
          <a:xfrm>
            <a:off x="8357616" y="4759452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Tahoma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4"/>
          <p:cNvSpPr/>
          <p:nvPr/>
        </p:nvSpPr>
        <p:spPr>
          <a:xfrm>
            <a:off x="457200" y="256032"/>
            <a:ext cx="914400" cy="274320"/>
          </a:xfrm>
          <a:prstGeom prst="roundRect">
            <a:avLst>
              <a:gd fmla="val 50000" name="adj"/>
            </a:avLst>
          </a:prstGeom>
          <a:solidFill>
            <a:srgbClr val="DDF1EA"/>
          </a:solidFill>
          <a:ln cap="flat" cmpd="sng" w="12700">
            <a:solidFill>
              <a:srgbClr val="DDF1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4"/>
          <p:cNvSpPr txBox="1"/>
          <p:nvPr/>
        </p:nvSpPr>
        <p:spPr>
          <a:xfrm>
            <a:off x="457200" y="256032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6F5B"/>
              </a:buClr>
              <a:buSzPts val="1000"/>
              <a:buFont typeface="Tahoma"/>
              <a:buNone/>
            </a:pPr>
            <a:r>
              <a:rPr b="1" i="0" lang="en-US" sz="1000" u="none" cap="none" strike="noStrike">
                <a:solidFill>
                  <a:srgbClr val="1D6F5B"/>
                </a:solidFill>
                <a:latin typeface="Tahoma"/>
                <a:ea typeface="Tahoma"/>
                <a:cs typeface="Tahoma"/>
                <a:sym typeface="Tahoma"/>
              </a:rPr>
              <a:t>เส้นด้าย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4"/>
          <p:cNvSpPr txBox="1"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2400"/>
              <a:buFont typeface="Tahoma"/>
              <a:buNone/>
            </a:pPr>
            <a:r>
              <a:rPr b="1" i="0" lang="en-US" sz="2400" u="none" cap="none" strike="noStrike">
                <a:solidFill>
                  <a:srgbClr val="1F3864"/>
                </a:solidFill>
                <a:latin typeface="Tahoma"/>
                <a:ea typeface="Tahoma"/>
                <a:cs typeface="Tahoma"/>
                <a:sym typeface="Tahoma"/>
              </a:rPr>
              <a:t>เส้นด้ายของวัน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4"/>
          <p:cNvSpPr/>
          <p:nvPr/>
        </p:nvSpPr>
        <p:spPr>
          <a:xfrm>
            <a:off x="457200" y="1344168"/>
            <a:ext cx="4572000" cy="1783080"/>
          </a:xfrm>
          <a:prstGeom prst="roundRect">
            <a:avLst>
              <a:gd fmla="val 6154" name="adj"/>
            </a:avLst>
          </a:prstGeom>
          <a:solidFill>
            <a:srgbClr val="FCF0D9"/>
          </a:solidFill>
          <a:ln cap="flat" cmpd="sng" w="12700">
            <a:solidFill>
              <a:srgbClr val="FCF0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4"/>
          <p:cNvSpPr txBox="1"/>
          <p:nvPr/>
        </p:nvSpPr>
        <p:spPr>
          <a:xfrm>
            <a:off x="640080" y="1344168"/>
            <a:ext cx="4206240" cy="1783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600"/>
              <a:buFont typeface="Tahoma"/>
              <a:buNone/>
            </a:pPr>
            <a:r>
              <a:rPr b="1" i="0" lang="en-US" sz="1600" u="none" cap="none" strike="noStrike">
                <a:solidFill>
                  <a:srgbClr val="1F3864"/>
                </a:solidFill>
                <a:latin typeface="Tahoma"/>
                <a:ea typeface="Tahoma"/>
                <a:cs typeface="Tahoma"/>
                <a:sym typeface="Tahoma"/>
              </a:rPr>
              <a:t>โมเดลสร้างภาพ = ฟังก์ชันที่เรียน "หน้าตาของภาพที่เป็นไปได้"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600"/>
              <a:buFont typeface="Tahoma"/>
              <a:buNone/>
            </a:pPr>
            <a:r>
              <a:rPr b="1" i="0" lang="en-US" sz="1600" u="none" cap="none" strike="noStrike">
                <a:solidFill>
                  <a:srgbClr val="1F3864"/>
                </a:solidFill>
                <a:latin typeface="Tahoma"/>
                <a:ea typeface="Tahoma"/>
                <a:cs typeface="Tahoma"/>
                <a:sym typeface="Tahoma"/>
              </a:rPr>
              <a:t>แล้วสุ่มภาพใหม่ออกมา — สามโมเดลวันนี้ต่างกันแค่ "วิธีสุ่ม"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4"/>
          <p:cNvSpPr txBox="1"/>
          <p:nvPr/>
        </p:nvSpPr>
        <p:spPr>
          <a:xfrm>
            <a:off x="457200" y="3264408"/>
            <a:ext cx="457200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A"/>
              </a:buClr>
              <a:buSzPts val="1200"/>
              <a:buFont typeface="Tahoma"/>
              <a:buNone/>
            </a:pPr>
            <a:r>
              <a:rPr b="0" i="0" lang="en-US" sz="1200" u="none" cap="none" strike="noStrike">
                <a:solidFill>
                  <a:srgbClr val="5F6B7A"/>
                </a:solidFill>
                <a:latin typeface="Tahoma"/>
                <a:ea typeface="Tahoma"/>
                <a:cs typeface="Tahoma"/>
                <a:sym typeface="Tahoma"/>
              </a:rPr>
              <a:t>VAE: กระโดดจากรหัส z ทีเดียว · GAN: กระโดดทีเดียว แต่มีกรรมการจับผิด · Diffusion: เดินจาก noise ทีละก้าว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A"/>
              </a:buClr>
              <a:buSzPts val="1200"/>
              <a:buFont typeface="Tahoma"/>
              <a:buNone/>
            </a:pPr>
            <a:r>
              <a:rPr b="0" i="0" lang="en-US" sz="1200" u="none" cap="none" strike="noStrike">
                <a:solidFill>
                  <a:srgbClr val="5F6B7A"/>
                </a:solidFill>
                <a:latin typeface="Tahoma"/>
                <a:ea typeface="Tahoma"/>
                <a:cs typeface="Tahoma"/>
                <a:sym typeface="Tahoma"/>
              </a:rPr>
              <a:t>(เทียบกับสัปดาห์ 3: LLM = ฟังก์ชันทำนาย token ถัดไป — วิธีสุ่มคือ 'ทีละ token')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week4/slides/fig/use/e_L4_03_0.png" id="95" name="Google Shape;95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57800" y="2235452"/>
            <a:ext cx="3429000" cy="132639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4"/>
          <p:cNvSpPr/>
          <p:nvPr/>
        </p:nvSpPr>
        <p:spPr>
          <a:xfrm>
            <a:off x="5257800" y="2235452"/>
            <a:ext cx="3429000" cy="1326392"/>
          </a:xfrm>
          <a:prstGeom prst="rect">
            <a:avLst/>
          </a:prstGeom>
          <a:noFill/>
          <a:ln cap="flat" cmpd="sng" w="9525">
            <a:solidFill>
              <a:srgbClr val="D9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4"/>
          <p:cNvSpPr txBox="1"/>
          <p:nvPr/>
        </p:nvSpPr>
        <p:spPr>
          <a:xfrm>
            <a:off x="457200" y="4576572"/>
            <a:ext cx="78638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4A2"/>
              </a:buClr>
              <a:buSzPts val="800"/>
              <a:buFont typeface="Tahoma"/>
              <a:buNone/>
            </a:pPr>
            <a:r>
              <a:rPr b="0" i="1" lang="en-US" sz="800" u="none" cap="none" strike="noStrike">
                <a:solidFill>
                  <a:srgbClr val="8A94A2"/>
                </a:solidFill>
                <a:latin typeface="Tahoma"/>
                <a:ea typeface="Tahoma"/>
                <a:cs typeface="Tahoma"/>
                <a:sym typeface="Tahoma"/>
              </a:rPr>
              <a:t>ภาพ: Siyu Zhu (Fudan) Lecture 4&amp;5 หน้า 3 · ต้นฉบับ Hung-yi Lee, NTU 2023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F3864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5"/>
          <p:cNvSpPr txBox="1"/>
          <p:nvPr/>
        </p:nvSpPr>
        <p:spPr>
          <a:xfrm>
            <a:off x="6766560" y="1280160"/>
            <a:ext cx="2194560" cy="3108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7406F"/>
              </a:buClr>
              <a:buSzPts val="17000"/>
              <a:buFont typeface="Tahoma"/>
              <a:buNone/>
            </a:pPr>
            <a:r>
              <a:rPr b="1" i="0" lang="en-US" sz="17000" u="none" cap="none" strike="noStrike">
                <a:solidFill>
                  <a:srgbClr val="27406F"/>
                </a:solidFill>
                <a:latin typeface="Tahoma"/>
                <a:ea typeface="Tahoma"/>
                <a:cs typeface="Tahoma"/>
                <a:sym typeface="Tahoma"/>
              </a:rPr>
              <a:t>1</a:t>
            </a:r>
            <a:endParaRPr b="0" i="0" sz="17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5"/>
          <p:cNvSpPr txBox="1"/>
          <p:nvPr/>
        </p:nvSpPr>
        <p:spPr>
          <a:xfrm>
            <a:off x="640080" y="118872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DB8D9"/>
              </a:buClr>
              <a:buSzPts val="1500"/>
              <a:buFont typeface="Tahoma"/>
              <a:buNone/>
            </a:pPr>
            <a:r>
              <a:rPr b="1" i="0" lang="en-US" sz="1500" u="none" cap="none" strike="noStrike">
                <a:solidFill>
                  <a:srgbClr val="9DB8D9"/>
                </a:solidFill>
                <a:latin typeface="Tahoma"/>
                <a:ea typeface="Tahoma"/>
                <a:cs typeface="Tahoma"/>
                <a:sym typeface="Tahoma"/>
              </a:rPr>
              <a:t>ส่วนที่ 1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5"/>
          <p:cNvSpPr txBox="1"/>
          <p:nvPr/>
        </p:nvSpPr>
        <p:spPr>
          <a:xfrm>
            <a:off x="640080" y="1645920"/>
            <a:ext cx="62179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5"/>
          <p:cNvSpPr/>
          <p:nvPr/>
        </p:nvSpPr>
        <p:spPr>
          <a:xfrm>
            <a:off x="5394960" y="1005840"/>
            <a:ext cx="3657600" cy="3657600"/>
          </a:xfrm>
          <a:prstGeom prst="rect">
            <a:avLst/>
          </a:prstGeom>
          <a:solidFill>
            <a:srgbClr val="1F3864"/>
          </a:solidFill>
          <a:ln cap="flat" cmpd="sng" w="12700">
            <a:solidFill>
              <a:srgbClr val="1F38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5"/>
          <p:cNvSpPr txBox="1"/>
          <p:nvPr/>
        </p:nvSpPr>
        <p:spPr>
          <a:xfrm>
            <a:off x="640080" y="1645920"/>
            <a:ext cx="46634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Tahoma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สร้างภาพ ≠ จำแนกภาพ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5"/>
          <p:cNvSpPr txBox="1"/>
          <p:nvPr/>
        </p:nvSpPr>
        <p:spPr>
          <a:xfrm>
            <a:off x="640080" y="2926080"/>
            <a:ext cx="466344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Tahoma"/>
              <a:buNone/>
            </a:pPr>
            <a:r>
              <a:rPr b="0" i="0" lang="en-US" sz="1300" u="none" cap="none" strike="noStrike">
                <a:solidFill>
                  <a:srgbClr val="CADCFC"/>
                </a:solidFill>
                <a:latin typeface="Tahoma"/>
                <a:ea typeface="Tahoma"/>
                <a:cs typeface="Tahoma"/>
                <a:sym typeface="Tahoma"/>
              </a:rPr>
              <a:t>ทำไมการ 'สร้าง' ถึงเป็นโจทย์คนละแบบกับสัปดาห์ 1 · และโมเดลสร้างภาพมีกี่ตระกูล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week4/slides/fig/use/e_L2_20_0.png" id="109" name="Google Shape;109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77840" y="2108522"/>
            <a:ext cx="3200400" cy="1269357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5"/>
          <p:cNvSpPr/>
          <p:nvPr/>
        </p:nvSpPr>
        <p:spPr>
          <a:xfrm>
            <a:off x="5577840" y="2108522"/>
            <a:ext cx="3200400" cy="1269357"/>
          </a:xfrm>
          <a:prstGeom prst="rect">
            <a:avLst/>
          </a:prstGeom>
          <a:noFill/>
          <a:ln cap="flat" cmpd="sng" w="9525">
            <a:solidFill>
              <a:srgbClr val="D9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5"/>
          <p:cNvSpPr txBox="1"/>
          <p:nvPr/>
        </p:nvSpPr>
        <p:spPr>
          <a:xfrm>
            <a:off x="457200" y="4576572"/>
            <a:ext cx="78638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DB8D9"/>
              </a:buClr>
              <a:buSzPts val="800"/>
              <a:buFont typeface="Tahoma"/>
              <a:buNone/>
            </a:pPr>
            <a:r>
              <a:rPr b="0" i="1" lang="en-US" sz="800" u="none" cap="none" strike="noStrike">
                <a:solidFill>
                  <a:srgbClr val="9DB8D9"/>
                </a:solidFill>
                <a:latin typeface="Tahoma"/>
                <a:ea typeface="Tahoma"/>
                <a:cs typeface="Tahoma"/>
                <a:sym typeface="Tahoma"/>
              </a:rPr>
              <a:t>ภาพ: Siyu Zhu (Fudan) Lecture 2 หน้า 20 · ต้นฉบับ Stanford University 2024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6"/>
          <p:cNvSpPr txBox="1"/>
          <p:nvPr/>
        </p:nvSpPr>
        <p:spPr>
          <a:xfrm>
            <a:off x="457200" y="4814316"/>
            <a:ext cx="5486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3AE"/>
              </a:buClr>
              <a:buSzPts val="900"/>
              <a:buFont typeface="Tahoma"/>
              <a:buNone/>
            </a:pPr>
            <a:r>
              <a:rPr b="0" i="0" lang="en-US" sz="900" u="none" cap="none" strike="noStrike">
                <a:solidFill>
                  <a:srgbClr val="9AA3AE"/>
                </a:solidFill>
                <a:latin typeface="Tahoma"/>
                <a:ea typeface="Tahoma"/>
                <a:cs typeface="Tahoma"/>
                <a:sym typeface="Tahoma"/>
              </a:rPr>
              <a:t>LLM &amp; Agentic AI · สัปดาห์ 4 · ช่วงเช้า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6"/>
          <p:cNvSpPr/>
          <p:nvPr/>
        </p:nvSpPr>
        <p:spPr>
          <a:xfrm>
            <a:off x="8357616" y="4759452"/>
            <a:ext cx="329184" cy="329184"/>
          </a:xfrm>
          <a:prstGeom prst="ellipse">
            <a:avLst/>
          </a:prstGeom>
          <a:solidFill>
            <a:srgbClr val="1F3864"/>
          </a:solidFill>
          <a:ln cap="flat" cmpd="sng" w="12700">
            <a:solidFill>
              <a:srgbClr val="1F38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6"/>
          <p:cNvSpPr txBox="1"/>
          <p:nvPr/>
        </p:nvSpPr>
        <p:spPr>
          <a:xfrm>
            <a:off x="8357616" y="4759452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Tahoma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6"/>
          <p:cNvSpPr/>
          <p:nvPr/>
        </p:nvSpPr>
        <p:spPr>
          <a:xfrm>
            <a:off x="457200" y="256032"/>
            <a:ext cx="1613916" cy="274320"/>
          </a:xfrm>
          <a:prstGeom prst="roundRect">
            <a:avLst>
              <a:gd fmla="val 50000" name="adj"/>
            </a:avLst>
          </a:prstGeom>
          <a:solidFill>
            <a:srgbClr val="DDF1EA"/>
          </a:solidFill>
          <a:ln cap="flat" cmpd="sng" w="12700">
            <a:solidFill>
              <a:srgbClr val="DDF1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6"/>
          <p:cNvSpPr txBox="1"/>
          <p:nvPr/>
        </p:nvSpPr>
        <p:spPr>
          <a:xfrm>
            <a:off x="457200" y="256032"/>
            <a:ext cx="161391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6F5B"/>
              </a:buClr>
              <a:buSzPts val="1000"/>
              <a:buFont typeface="Tahoma"/>
              <a:buNone/>
            </a:pPr>
            <a:r>
              <a:rPr b="1" i="0" lang="en-US" sz="1000" u="none" cap="none" strike="noStrike">
                <a:solidFill>
                  <a:srgbClr val="1D6F5B"/>
                </a:solidFill>
                <a:latin typeface="Tahoma"/>
                <a:ea typeface="Tahoma"/>
                <a:cs typeface="Tahoma"/>
                <a:sym typeface="Tahoma"/>
              </a:rPr>
              <a:t>1 · สร้าง ≠ จำแนก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6"/>
          <p:cNvSpPr txBox="1"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2400"/>
              <a:buFont typeface="Tahoma"/>
              <a:buNone/>
            </a:pPr>
            <a:r>
              <a:rPr b="1" i="0" lang="en-US" sz="2400" u="none" cap="none" strike="noStrike">
                <a:solidFill>
                  <a:srgbClr val="1F3864"/>
                </a:solidFill>
                <a:latin typeface="Tahoma"/>
                <a:ea typeface="Tahoma"/>
                <a:cs typeface="Tahoma"/>
                <a:sym typeface="Tahoma"/>
              </a:rPr>
              <a:t>กลับทิศจากสัปดาห์ 1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week4/slides/fig/f_cls_vs_gen.png" id="123" name="Google Shape;123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81433" y="1298448"/>
            <a:ext cx="5181135" cy="214884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6"/>
          <p:cNvSpPr/>
          <p:nvPr/>
        </p:nvSpPr>
        <p:spPr>
          <a:xfrm>
            <a:off x="457200" y="3630168"/>
            <a:ext cx="2621280" cy="1056132"/>
          </a:xfrm>
          <a:prstGeom prst="roundRect">
            <a:avLst>
              <a:gd fmla="val 6926" name="adj"/>
            </a:avLst>
          </a:prstGeom>
          <a:solidFill>
            <a:srgbClr val="E4ECF7"/>
          </a:solidFill>
          <a:ln cap="flat" cmpd="sng" w="12700">
            <a:solidFill>
              <a:srgbClr val="E4EC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6"/>
          <p:cNvSpPr/>
          <p:nvPr/>
        </p:nvSpPr>
        <p:spPr>
          <a:xfrm>
            <a:off x="585216" y="3758184"/>
            <a:ext cx="201168" cy="201168"/>
          </a:xfrm>
          <a:prstGeom prst="ellipse">
            <a:avLst/>
          </a:prstGeom>
          <a:solidFill>
            <a:srgbClr val="1F3864"/>
          </a:solidFill>
          <a:ln cap="flat" cmpd="sng" w="12700">
            <a:solidFill>
              <a:srgbClr val="1F38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6"/>
          <p:cNvSpPr txBox="1"/>
          <p:nvPr/>
        </p:nvSpPr>
        <p:spPr>
          <a:xfrm>
            <a:off x="868680" y="3703320"/>
            <a:ext cx="2072640" cy="9098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33"/>
              </a:buClr>
              <a:buSzPts val="1200"/>
              <a:buFont typeface="Tahoma"/>
              <a:buNone/>
            </a:pPr>
            <a:r>
              <a:rPr b="0" i="0" lang="en-US" sz="1200" u="none" cap="none" strike="noStrike">
                <a:solidFill>
                  <a:srgbClr val="1E2733"/>
                </a:solidFill>
                <a:latin typeface="Tahoma"/>
                <a:ea typeface="Tahoma"/>
                <a:cs typeface="Tahoma"/>
                <a:sym typeface="Tahoma"/>
              </a:rPr>
              <a:t>สัปดาห์ 1: ภาพ 768 ตัวเลข → 1 คำตอบ ทิ้งรายละเอียดได้ (CNN ไม่สนว่าฮีโร่ใส่เสื้อสีอะไร)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6"/>
          <p:cNvSpPr/>
          <p:nvPr/>
        </p:nvSpPr>
        <p:spPr>
          <a:xfrm>
            <a:off x="3261360" y="3630168"/>
            <a:ext cx="2621280" cy="1056132"/>
          </a:xfrm>
          <a:prstGeom prst="roundRect">
            <a:avLst>
              <a:gd fmla="val 6926" name="adj"/>
            </a:avLst>
          </a:prstGeom>
          <a:solidFill>
            <a:srgbClr val="DDF1EA"/>
          </a:solidFill>
          <a:ln cap="flat" cmpd="sng" w="12700">
            <a:solidFill>
              <a:srgbClr val="DDF1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6"/>
          <p:cNvSpPr/>
          <p:nvPr/>
        </p:nvSpPr>
        <p:spPr>
          <a:xfrm>
            <a:off x="3389376" y="3758184"/>
            <a:ext cx="201168" cy="201168"/>
          </a:xfrm>
          <a:prstGeom prst="ellipse">
            <a:avLst/>
          </a:prstGeom>
          <a:solidFill>
            <a:srgbClr val="1D6F5B"/>
          </a:solidFill>
          <a:ln cap="flat" cmpd="sng" w="12700">
            <a:solidFill>
              <a:srgbClr val="1D6F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6"/>
          <p:cNvSpPr txBox="1"/>
          <p:nvPr/>
        </p:nvSpPr>
        <p:spPr>
          <a:xfrm>
            <a:off x="3672840" y="3703320"/>
            <a:ext cx="2072640" cy="9098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33"/>
              </a:buClr>
              <a:buSzPts val="1200"/>
              <a:buFont typeface="Tahoma"/>
              <a:buNone/>
            </a:pPr>
            <a:r>
              <a:rPr b="0" i="0" lang="en-US" sz="1200" u="none" cap="none" strike="noStrike">
                <a:solidFill>
                  <a:srgbClr val="1E2733"/>
                </a:solidFill>
                <a:latin typeface="Tahoma"/>
                <a:ea typeface="Tahoma"/>
                <a:cs typeface="Tahoma"/>
                <a:sym typeface="Tahoma"/>
              </a:rPr>
              <a:t>วันนี้: 1 คำสั่ง → 768 ตัวเลขที่ต้องถูกพร้อมกัน ทิ้งอะไรไม่ได้เลย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6"/>
          <p:cNvSpPr/>
          <p:nvPr/>
        </p:nvSpPr>
        <p:spPr>
          <a:xfrm>
            <a:off x="6065520" y="3630168"/>
            <a:ext cx="2621280" cy="1056132"/>
          </a:xfrm>
          <a:prstGeom prst="roundRect">
            <a:avLst>
              <a:gd fmla="val 6926" name="adj"/>
            </a:avLst>
          </a:prstGeom>
          <a:solidFill>
            <a:srgbClr val="FCF0D9"/>
          </a:solidFill>
          <a:ln cap="flat" cmpd="sng" w="12700">
            <a:solidFill>
              <a:srgbClr val="FCF0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6"/>
          <p:cNvSpPr/>
          <p:nvPr/>
        </p:nvSpPr>
        <p:spPr>
          <a:xfrm>
            <a:off x="6193536" y="3758184"/>
            <a:ext cx="201168" cy="201168"/>
          </a:xfrm>
          <a:prstGeom prst="ellipse">
            <a:avLst/>
          </a:prstGeom>
          <a:solidFill>
            <a:srgbClr val="B7791F"/>
          </a:solidFill>
          <a:ln cap="flat" cmpd="sng" w="12700">
            <a:solidFill>
              <a:srgbClr val="B779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6"/>
          <p:cNvSpPr txBox="1"/>
          <p:nvPr/>
        </p:nvSpPr>
        <p:spPr>
          <a:xfrm>
            <a:off x="6477000" y="3703320"/>
            <a:ext cx="2072640" cy="9098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33"/>
              </a:buClr>
              <a:buSzPts val="1200"/>
              <a:buFont typeface="Tahoma"/>
              <a:buNone/>
            </a:pPr>
            <a:r>
              <a:rPr b="0" i="0" lang="en-US" sz="1200" u="none" cap="none" strike="noStrike">
                <a:solidFill>
                  <a:srgbClr val="1E2733"/>
                </a:solidFill>
                <a:latin typeface="Tahoma"/>
                <a:ea typeface="Tahoma"/>
                <a:cs typeface="Tahoma"/>
                <a:sym typeface="Tahoma"/>
              </a:rPr>
              <a:t>สรุป: จำแนก = ย่อข้อมูล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7"/>
          <p:cNvSpPr txBox="1"/>
          <p:nvPr/>
        </p:nvSpPr>
        <p:spPr>
          <a:xfrm>
            <a:off x="457200" y="4814316"/>
            <a:ext cx="5486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3AE"/>
              </a:buClr>
              <a:buSzPts val="900"/>
              <a:buFont typeface="Tahoma"/>
              <a:buNone/>
            </a:pPr>
            <a:r>
              <a:rPr b="0" i="0" lang="en-US" sz="900" u="none" cap="none" strike="noStrike">
                <a:solidFill>
                  <a:srgbClr val="9AA3AE"/>
                </a:solidFill>
                <a:latin typeface="Tahoma"/>
                <a:ea typeface="Tahoma"/>
                <a:cs typeface="Tahoma"/>
                <a:sym typeface="Tahoma"/>
              </a:rPr>
              <a:t>LLM &amp; Agentic AI · สัปดาห์ 4 · ช่วงเช้า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7"/>
          <p:cNvSpPr/>
          <p:nvPr/>
        </p:nvSpPr>
        <p:spPr>
          <a:xfrm>
            <a:off x="8357616" y="4759452"/>
            <a:ext cx="329184" cy="329184"/>
          </a:xfrm>
          <a:prstGeom prst="ellipse">
            <a:avLst/>
          </a:prstGeom>
          <a:solidFill>
            <a:srgbClr val="1F3864"/>
          </a:solidFill>
          <a:ln cap="flat" cmpd="sng" w="12700">
            <a:solidFill>
              <a:srgbClr val="1F38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7"/>
          <p:cNvSpPr txBox="1"/>
          <p:nvPr/>
        </p:nvSpPr>
        <p:spPr>
          <a:xfrm>
            <a:off x="8357616" y="4759452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Tahoma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7"/>
          <p:cNvSpPr/>
          <p:nvPr/>
        </p:nvSpPr>
        <p:spPr>
          <a:xfrm>
            <a:off x="457200" y="256032"/>
            <a:ext cx="1613916" cy="274320"/>
          </a:xfrm>
          <a:prstGeom prst="roundRect">
            <a:avLst>
              <a:gd fmla="val 50000" name="adj"/>
            </a:avLst>
          </a:prstGeom>
          <a:solidFill>
            <a:srgbClr val="DDF1EA"/>
          </a:solidFill>
          <a:ln cap="flat" cmpd="sng" w="12700">
            <a:solidFill>
              <a:srgbClr val="DDF1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7"/>
          <p:cNvSpPr txBox="1"/>
          <p:nvPr/>
        </p:nvSpPr>
        <p:spPr>
          <a:xfrm>
            <a:off x="457200" y="256032"/>
            <a:ext cx="161391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6F5B"/>
              </a:buClr>
              <a:buSzPts val="1000"/>
              <a:buFont typeface="Tahoma"/>
              <a:buNone/>
            </a:pPr>
            <a:r>
              <a:rPr b="1" i="0" lang="en-US" sz="1000" u="none" cap="none" strike="noStrike">
                <a:solidFill>
                  <a:srgbClr val="1D6F5B"/>
                </a:solidFill>
                <a:latin typeface="Tahoma"/>
                <a:ea typeface="Tahoma"/>
                <a:cs typeface="Tahoma"/>
                <a:sym typeface="Tahoma"/>
              </a:rPr>
              <a:t>1 · สร้าง ≠ จำแนก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7"/>
          <p:cNvSpPr txBox="1"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2400"/>
              <a:buFont typeface="Tahoma"/>
              <a:buNone/>
            </a:pPr>
            <a:r>
              <a:rPr b="1" i="0" lang="en-US" sz="2400" u="none" cap="none" strike="noStrike">
                <a:solidFill>
                  <a:srgbClr val="1F3864"/>
                </a:solidFill>
                <a:latin typeface="Tahoma"/>
                <a:ea typeface="Tahoma"/>
                <a:cs typeface="Tahoma"/>
                <a:sym typeface="Tahoma"/>
              </a:rPr>
              <a:t>ภาพในหัว: เครือข่ายแปลง 'การกระจายง่าย ๆ' ให้เป็น 'การกระจายของภาพ'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week4/slides/fig/use/e_L4_03_0.png" id="144" name="Google Shape;144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526138"/>
            <a:ext cx="4023360" cy="15563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7"/>
          <p:cNvSpPr/>
          <p:nvPr/>
        </p:nvSpPr>
        <p:spPr>
          <a:xfrm>
            <a:off x="457200" y="1526138"/>
            <a:ext cx="4023360" cy="1556300"/>
          </a:xfrm>
          <a:prstGeom prst="rect">
            <a:avLst/>
          </a:prstGeom>
          <a:noFill/>
          <a:ln cap="flat" cmpd="sng" w="9525">
            <a:solidFill>
              <a:srgbClr val="D9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week4/slides/fig/use/e_L4_04_0.png" id="146" name="Google Shape;146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63440" y="1577933"/>
            <a:ext cx="4023360" cy="1452711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7"/>
          <p:cNvSpPr/>
          <p:nvPr/>
        </p:nvSpPr>
        <p:spPr>
          <a:xfrm>
            <a:off x="4663440" y="1577933"/>
            <a:ext cx="4023360" cy="1452711"/>
          </a:xfrm>
          <a:prstGeom prst="rect">
            <a:avLst/>
          </a:prstGeom>
          <a:noFill/>
          <a:ln cap="flat" cmpd="sng" w="9525">
            <a:solidFill>
              <a:srgbClr val="D9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7"/>
          <p:cNvSpPr/>
          <p:nvPr/>
        </p:nvSpPr>
        <p:spPr>
          <a:xfrm>
            <a:off x="457200" y="3447288"/>
            <a:ext cx="2633472" cy="1051560"/>
          </a:xfrm>
          <a:prstGeom prst="roundRect">
            <a:avLst>
              <a:gd fmla="val 6957" name="adj"/>
            </a:avLst>
          </a:prstGeom>
          <a:solidFill>
            <a:srgbClr val="E4ECF7"/>
          </a:solidFill>
          <a:ln cap="flat" cmpd="sng" w="12700">
            <a:solidFill>
              <a:srgbClr val="E4EC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7"/>
          <p:cNvSpPr/>
          <p:nvPr/>
        </p:nvSpPr>
        <p:spPr>
          <a:xfrm>
            <a:off x="585216" y="3575304"/>
            <a:ext cx="201168" cy="201168"/>
          </a:xfrm>
          <a:prstGeom prst="ellipse">
            <a:avLst/>
          </a:prstGeom>
          <a:solidFill>
            <a:srgbClr val="1F3864"/>
          </a:solidFill>
          <a:ln cap="flat" cmpd="sng" w="12700">
            <a:solidFill>
              <a:srgbClr val="1F38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7"/>
          <p:cNvSpPr txBox="1"/>
          <p:nvPr/>
        </p:nvSpPr>
        <p:spPr>
          <a:xfrm>
            <a:off x="868680" y="3520440"/>
            <a:ext cx="2084832" cy="9052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33"/>
              </a:buClr>
              <a:buSzPts val="1200"/>
              <a:buFont typeface="Tahoma"/>
              <a:buNone/>
            </a:pPr>
            <a:r>
              <a:rPr b="0" i="0" lang="en-US" sz="1200" u="none" cap="none" strike="noStrike">
                <a:solidFill>
                  <a:srgbClr val="1E2733"/>
                </a:solidFill>
                <a:latin typeface="Tahoma"/>
                <a:ea typeface="Tahoma"/>
                <a:cs typeface="Tahoma"/>
                <a:sym typeface="Tahoma"/>
              </a:rPr>
              <a:t>ซ้าย: สุ่ม z จากการกระจายง่าย ๆ (วงกลม) → Network → ได้ภาพ x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7"/>
          <p:cNvSpPr/>
          <p:nvPr/>
        </p:nvSpPr>
        <p:spPr>
          <a:xfrm>
            <a:off x="3255264" y="3447288"/>
            <a:ext cx="2633472" cy="1051560"/>
          </a:xfrm>
          <a:prstGeom prst="roundRect">
            <a:avLst>
              <a:gd fmla="val 6957" name="adj"/>
            </a:avLst>
          </a:prstGeom>
          <a:solidFill>
            <a:srgbClr val="DDF1EA"/>
          </a:solidFill>
          <a:ln cap="flat" cmpd="sng" w="12700">
            <a:solidFill>
              <a:srgbClr val="DDF1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7"/>
          <p:cNvSpPr/>
          <p:nvPr/>
        </p:nvSpPr>
        <p:spPr>
          <a:xfrm>
            <a:off x="3383280" y="3575304"/>
            <a:ext cx="201168" cy="201168"/>
          </a:xfrm>
          <a:prstGeom prst="ellipse">
            <a:avLst/>
          </a:prstGeom>
          <a:solidFill>
            <a:srgbClr val="1D6F5B"/>
          </a:solidFill>
          <a:ln cap="flat" cmpd="sng" w="12700">
            <a:solidFill>
              <a:srgbClr val="1D6F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7"/>
          <p:cNvSpPr txBox="1"/>
          <p:nvPr/>
        </p:nvSpPr>
        <p:spPr>
          <a:xfrm>
            <a:off x="3666744" y="3520440"/>
            <a:ext cx="2084832" cy="9052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33"/>
              </a:buClr>
              <a:buSzPts val="1200"/>
              <a:buFont typeface="Tahoma"/>
              <a:buNone/>
            </a:pPr>
            <a:r>
              <a:rPr b="0" i="0" lang="en-US" sz="1200" u="none" cap="none" strike="noStrike">
                <a:solidFill>
                  <a:srgbClr val="1E2733"/>
                </a:solidFill>
                <a:latin typeface="Tahoma"/>
                <a:ea typeface="Tahoma"/>
                <a:cs typeface="Tahoma"/>
                <a:sym typeface="Tahoma"/>
              </a:rPr>
              <a:t>ภาพที่สร้างได้ทั้งหมด = รูปทรงสีเขียว ภาพจริง = สีฟ้า — เป้าหมายคือทำให้ทับกัน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7"/>
          <p:cNvSpPr/>
          <p:nvPr/>
        </p:nvSpPr>
        <p:spPr>
          <a:xfrm>
            <a:off x="6053328" y="3447288"/>
            <a:ext cx="2633472" cy="1051560"/>
          </a:xfrm>
          <a:prstGeom prst="roundRect">
            <a:avLst>
              <a:gd fmla="val 6957" name="adj"/>
            </a:avLst>
          </a:prstGeom>
          <a:solidFill>
            <a:srgbClr val="FCF0D9"/>
          </a:solidFill>
          <a:ln cap="flat" cmpd="sng" w="12700">
            <a:solidFill>
              <a:srgbClr val="FCF0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7"/>
          <p:cNvSpPr/>
          <p:nvPr/>
        </p:nvSpPr>
        <p:spPr>
          <a:xfrm>
            <a:off x="6181344" y="3575304"/>
            <a:ext cx="201168" cy="201168"/>
          </a:xfrm>
          <a:prstGeom prst="ellipse">
            <a:avLst/>
          </a:prstGeom>
          <a:solidFill>
            <a:srgbClr val="B7791F"/>
          </a:solidFill>
          <a:ln cap="flat" cmpd="sng" w="12700">
            <a:solidFill>
              <a:srgbClr val="B779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7"/>
          <p:cNvSpPr txBox="1"/>
          <p:nvPr/>
        </p:nvSpPr>
        <p:spPr>
          <a:xfrm>
            <a:off x="6464808" y="3520440"/>
            <a:ext cx="2084832" cy="9052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33"/>
              </a:buClr>
              <a:buSzPts val="1200"/>
              <a:buFont typeface="Tahoma"/>
              <a:buNone/>
            </a:pPr>
            <a:r>
              <a:rPr b="0" i="0" lang="en-US" sz="1200" u="none" cap="none" strike="noStrike">
                <a:solidFill>
                  <a:srgbClr val="1E2733"/>
                </a:solidFill>
                <a:latin typeface="Tahoma"/>
                <a:ea typeface="Tahoma"/>
                <a:cs typeface="Tahoma"/>
                <a:sym typeface="Tahoma"/>
              </a:rPr>
              <a:t>ขวา: ใส่เงื่อนไข ('สุนัขกำลังวิ่ง') → ภาพต้องอยู่ในส่วนที่ตรงเงื่อนไข = text-to-image สัปดาห์หน้า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7"/>
          <p:cNvSpPr txBox="1"/>
          <p:nvPr/>
        </p:nvSpPr>
        <p:spPr>
          <a:xfrm>
            <a:off x="457200" y="4576572"/>
            <a:ext cx="78638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4A2"/>
              </a:buClr>
              <a:buSzPts val="800"/>
              <a:buFont typeface="Tahoma"/>
              <a:buNone/>
            </a:pPr>
            <a:r>
              <a:rPr b="0" i="1" lang="en-US" sz="800" u="none" cap="none" strike="noStrike">
                <a:solidFill>
                  <a:srgbClr val="8A94A2"/>
                </a:solidFill>
                <a:latin typeface="Tahoma"/>
                <a:ea typeface="Tahoma"/>
                <a:cs typeface="Tahoma"/>
                <a:sym typeface="Tahoma"/>
              </a:rPr>
              <a:t>ภาพ: Siyu Zhu (Fudan) Lecture 4&amp;5 หน้า 3, 4 · ต้นฉบับ Hung-yi Lee, NTU 2023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8"/>
          <p:cNvSpPr txBox="1"/>
          <p:nvPr/>
        </p:nvSpPr>
        <p:spPr>
          <a:xfrm>
            <a:off x="457200" y="4814316"/>
            <a:ext cx="5486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3AE"/>
              </a:buClr>
              <a:buSzPts val="900"/>
              <a:buFont typeface="Tahoma"/>
              <a:buNone/>
            </a:pPr>
            <a:r>
              <a:rPr b="0" i="0" lang="en-US" sz="900" u="none" cap="none" strike="noStrike">
                <a:solidFill>
                  <a:srgbClr val="9AA3AE"/>
                </a:solidFill>
                <a:latin typeface="Tahoma"/>
                <a:ea typeface="Tahoma"/>
                <a:cs typeface="Tahoma"/>
                <a:sym typeface="Tahoma"/>
              </a:rPr>
              <a:t>LLM &amp; Agentic AI · สัปดาห์ 4 · ช่วงเช้า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8"/>
          <p:cNvSpPr/>
          <p:nvPr/>
        </p:nvSpPr>
        <p:spPr>
          <a:xfrm>
            <a:off x="8357616" y="4759452"/>
            <a:ext cx="329184" cy="329184"/>
          </a:xfrm>
          <a:prstGeom prst="ellipse">
            <a:avLst/>
          </a:prstGeom>
          <a:solidFill>
            <a:srgbClr val="1F3864"/>
          </a:solidFill>
          <a:ln cap="flat" cmpd="sng" w="12700">
            <a:solidFill>
              <a:srgbClr val="1F38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8"/>
          <p:cNvSpPr txBox="1"/>
          <p:nvPr/>
        </p:nvSpPr>
        <p:spPr>
          <a:xfrm>
            <a:off x="8357616" y="4759452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Tahoma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8"/>
          <p:cNvSpPr/>
          <p:nvPr/>
        </p:nvSpPr>
        <p:spPr>
          <a:xfrm>
            <a:off x="457200" y="256032"/>
            <a:ext cx="1613916" cy="274320"/>
          </a:xfrm>
          <a:prstGeom prst="roundRect">
            <a:avLst>
              <a:gd fmla="val 50000" name="adj"/>
            </a:avLst>
          </a:prstGeom>
          <a:solidFill>
            <a:srgbClr val="DDF1EA"/>
          </a:solidFill>
          <a:ln cap="flat" cmpd="sng" w="12700">
            <a:solidFill>
              <a:srgbClr val="DDF1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8"/>
          <p:cNvSpPr txBox="1"/>
          <p:nvPr/>
        </p:nvSpPr>
        <p:spPr>
          <a:xfrm>
            <a:off x="457200" y="256032"/>
            <a:ext cx="161391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6F5B"/>
              </a:buClr>
              <a:buSzPts val="1000"/>
              <a:buFont typeface="Tahoma"/>
              <a:buNone/>
            </a:pPr>
            <a:r>
              <a:rPr b="1" i="0" lang="en-US" sz="1000" u="none" cap="none" strike="noStrike">
                <a:solidFill>
                  <a:srgbClr val="1D6F5B"/>
                </a:solidFill>
                <a:latin typeface="Tahoma"/>
                <a:ea typeface="Tahoma"/>
                <a:cs typeface="Tahoma"/>
                <a:sym typeface="Tahoma"/>
              </a:rPr>
              <a:t>1 · สร้าง ≠ จำแนก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8"/>
          <p:cNvSpPr txBox="1"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2400"/>
              <a:buFont typeface="Tahoma"/>
              <a:buNone/>
            </a:pPr>
            <a:r>
              <a:rPr b="1" i="0" lang="en-US" sz="2400" u="none" cap="none" strike="noStrike">
                <a:solidFill>
                  <a:srgbClr val="1F3864"/>
                </a:solidFill>
                <a:latin typeface="Tahoma"/>
                <a:ea typeface="Tahoma"/>
                <a:cs typeface="Tahoma"/>
                <a:sym typeface="Tahoma"/>
              </a:rPr>
              <a:t>ปัญหาใหญ่: คำตอบที่ถูกมีได้หลายแบบ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week4/slides/fig/f_one_to_many.png" id="169" name="Google Shape;169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59587" y="1298448"/>
            <a:ext cx="6024827" cy="214884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8"/>
          <p:cNvSpPr/>
          <p:nvPr/>
        </p:nvSpPr>
        <p:spPr>
          <a:xfrm>
            <a:off x="457200" y="3630168"/>
            <a:ext cx="2621280" cy="1056132"/>
          </a:xfrm>
          <a:prstGeom prst="roundRect">
            <a:avLst>
              <a:gd fmla="val 6926" name="adj"/>
            </a:avLst>
          </a:prstGeom>
          <a:solidFill>
            <a:srgbClr val="E4ECF7"/>
          </a:solidFill>
          <a:ln cap="flat" cmpd="sng" w="12700">
            <a:solidFill>
              <a:srgbClr val="E4EC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8"/>
          <p:cNvSpPr/>
          <p:nvPr/>
        </p:nvSpPr>
        <p:spPr>
          <a:xfrm>
            <a:off x="585216" y="3758184"/>
            <a:ext cx="201168" cy="201168"/>
          </a:xfrm>
          <a:prstGeom prst="ellipse">
            <a:avLst/>
          </a:prstGeom>
          <a:solidFill>
            <a:srgbClr val="1F3864"/>
          </a:solidFill>
          <a:ln cap="flat" cmpd="sng" w="12700">
            <a:solidFill>
              <a:srgbClr val="1F38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8"/>
          <p:cNvSpPr txBox="1"/>
          <p:nvPr/>
        </p:nvSpPr>
        <p:spPr>
          <a:xfrm>
            <a:off x="868680" y="3703320"/>
            <a:ext cx="2072640" cy="9098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33"/>
              </a:buClr>
              <a:buSzPts val="1200"/>
              <a:buFont typeface="Tahoma"/>
              <a:buNone/>
            </a:pPr>
            <a:r>
              <a:rPr b="0" i="0" lang="en-US" sz="1200" u="none" cap="none" strike="noStrike">
                <a:solidFill>
                  <a:srgbClr val="1E2733"/>
                </a:solidFill>
                <a:latin typeface="Tahoma"/>
                <a:ea typeface="Tahoma"/>
                <a:cs typeface="Tahoma"/>
                <a:sym typeface="Tahoma"/>
              </a:rPr>
              <a:t>"อาหาร" คำเดียว แต่ภาพที่ถูกมีได้นับไม่ถ้วน — ไม่มีเฉลยเดียวให้เทียบ MSE ตรง ๆ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8"/>
          <p:cNvSpPr/>
          <p:nvPr/>
        </p:nvSpPr>
        <p:spPr>
          <a:xfrm>
            <a:off x="3261360" y="3630168"/>
            <a:ext cx="2621280" cy="1056132"/>
          </a:xfrm>
          <a:prstGeom prst="roundRect">
            <a:avLst>
              <a:gd fmla="val 6926" name="adj"/>
            </a:avLst>
          </a:prstGeom>
          <a:solidFill>
            <a:srgbClr val="DDF1EA"/>
          </a:solidFill>
          <a:ln cap="flat" cmpd="sng" w="12700">
            <a:solidFill>
              <a:srgbClr val="DDF1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8"/>
          <p:cNvSpPr/>
          <p:nvPr/>
        </p:nvSpPr>
        <p:spPr>
          <a:xfrm>
            <a:off x="3389376" y="3758184"/>
            <a:ext cx="201168" cy="201168"/>
          </a:xfrm>
          <a:prstGeom prst="ellipse">
            <a:avLst/>
          </a:prstGeom>
          <a:solidFill>
            <a:srgbClr val="1D6F5B"/>
          </a:solidFill>
          <a:ln cap="flat" cmpd="sng" w="12700">
            <a:solidFill>
              <a:srgbClr val="1D6F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8"/>
          <p:cNvSpPr txBox="1"/>
          <p:nvPr/>
        </p:nvSpPr>
        <p:spPr>
          <a:xfrm>
            <a:off x="3672840" y="3703320"/>
            <a:ext cx="2072640" cy="9098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33"/>
              </a:buClr>
              <a:buSzPts val="1200"/>
              <a:buFont typeface="Tahoma"/>
              <a:buNone/>
            </a:pPr>
            <a:r>
              <a:rPr b="0" i="0" lang="en-US" sz="1200" u="none" cap="none" strike="noStrike">
                <a:solidFill>
                  <a:srgbClr val="1E2733"/>
                </a:solidFill>
                <a:latin typeface="Tahoma"/>
                <a:ea typeface="Tahoma"/>
                <a:cs typeface="Tahoma"/>
                <a:sym typeface="Tahoma"/>
              </a:rPr>
              <a:t>สิ่งที่ต้องเรียนคือ 'การกระจาย' (distribution) ว่าภาพหน้าตาแบบไหนเป็นไปได้มาก/น้อย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8"/>
          <p:cNvSpPr/>
          <p:nvPr/>
        </p:nvSpPr>
        <p:spPr>
          <a:xfrm>
            <a:off x="6065520" y="3630168"/>
            <a:ext cx="2621280" cy="1056132"/>
          </a:xfrm>
          <a:prstGeom prst="roundRect">
            <a:avLst>
              <a:gd fmla="val 6926" name="adj"/>
            </a:avLst>
          </a:prstGeom>
          <a:solidFill>
            <a:srgbClr val="FCF0D9"/>
          </a:solidFill>
          <a:ln cap="flat" cmpd="sng" w="12700">
            <a:solidFill>
              <a:srgbClr val="FCF0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8"/>
          <p:cNvSpPr/>
          <p:nvPr/>
        </p:nvSpPr>
        <p:spPr>
          <a:xfrm>
            <a:off x="6193536" y="3758184"/>
            <a:ext cx="201168" cy="201168"/>
          </a:xfrm>
          <a:prstGeom prst="ellipse">
            <a:avLst/>
          </a:prstGeom>
          <a:solidFill>
            <a:srgbClr val="B7791F"/>
          </a:solidFill>
          <a:ln cap="flat" cmpd="sng" w="12700">
            <a:solidFill>
              <a:srgbClr val="B779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8"/>
          <p:cNvSpPr txBox="1"/>
          <p:nvPr/>
        </p:nvSpPr>
        <p:spPr>
          <a:xfrm>
            <a:off x="6477000" y="3703320"/>
            <a:ext cx="2072640" cy="9098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33"/>
              </a:buClr>
              <a:buSzPts val="1200"/>
              <a:buFont typeface="Tahoma"/>
              <a:buNone/>
            </a:pPr>
            <a:r>
              <a:rPr b="0" i="0" lang="en-US" sz="1200" u="none" cap="none" strike="noStrike">
                <a:solidFill>
                  <a:srgbClr val="1E2733"/>
                </a:solidFill>
                <a:latin typeface="Tahoma"/>
                <a:ea typeface="Tahoma"/>
                <a:cs typeface="Tahoma"/>
                <a:sym typeface="Tahoma"/>
              </a:rPr>
              <a:t>แล้ว 'สุ่ม' ออกมา 1 ใบ — เหมือน LLM ที่สุ่ม token จากการกระจาย ไม่ได้เลือกคำเดียวตายตัว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9"/>
          <p:cNvSpPr txBox="1"/>
          <p:nvPr/>
        </p:nvSpPr>
        <p:spPr>
          <a:xfrm>
            <a:off x="457200" y="4814316"/>
            <a:ext cx="5486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3AE"/>
              </a:buClr>
              <a:buSzPts val="900"/>
              <a:buFont typeface="Tahoma"/>
              <a:buNone/>
            </a:pPr>
            <a:r>
              <a:rPr b="0" i="0" lang="en-US" sz="900" u="none" cap="none" strike="noStrike">
                <a:solidFill>
                  <a:srgbClr val="9AA3AE"/>
                </a:solidFill>
                <a:latin typeface="Tahoma"/>
                <a:ea typeface="Tahoma"/>
                <a:cs typeface="Tahoma"/>
                <a:sym typeface="Tahoma"/>
              </a:rPr>
              <a:t>LLM &amp; Agentic AI · สัปดาห์ 4 · ช่วงเช้า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9"/>
          <p:cNvSpPr/>
          <p:nvPr/>
        </p:nvSpPr>
        <p:spPr>
          <a:xfrm>
            <a:off x="8357616" y="4759452"/>
            <a:ext cx="329184" cy="329184"/>
          </a:xfrm>
          <a:prstGeom prst="ellipse">
            <a:avLst/>
          </a:prstGeom>
          <a:solidFill>
            <a:srgbClr val="1F3864"/>
          </a:solidFill>
          <a:ln cap="flat" cmpd="sng" w="12700">
            <a:solidFill>
              <a:srgbClr val="1F38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9"/>
          <p:cNvSpPr txBox="1"/>
          <p:nvPr/>
        </p:nvSpPr>
        <p:spPr>
          <a:xfrm>
            <a:off x="8357616" y="4759452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Tahoma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9"/>
          <p:cNvSpPr/>
          <p:nvPr/>
        </p:nvSpPr>
        <p:spPr>
          <a:xfrm>
            <a:off x="457200" y="256032"/>
            <a:ext cx="1613916" cy="274320"/>
          </a:xfrm>
          <a:prstGeom prst="roundRect">
            <a:avLst>
              <a:gd fmla="val 50000" name="adj"/>
            </a:avLst>
          </a:prstGeom>
          <a:solidFill>
            <a:srgbClr val="DDF1EA"/>
          </a:solidFill>
          <a:ln cap="flat" cmpd="sng" w="12700">
            <a:solidFill>
              <a:srgbClr val="DDF1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9"/>
          <p:cNvSpPr txBox="1"/>
          <p:nvPr/>
        </p:nvSpPr>
        <p:spPr>
          <a:xfrm>
            <a:off x="457200" y="256032"/>
            <a:ext cx="161391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6F5B"/>
              </a:buClr>
              <a:buSzPts val="1000"/>
              <a:buFont typeface="Tahoma"/>
              <a:buNone/>
            </a:pPr>
            <a:r>
              <a:rPr b="1" i="0" lang="en-US" sz="1000" u="none" cap="none" strike="noStrike">
                <a:solidFill>
                  <a:srgbClr val="1D6F5B"/>
                </a:solidFill>
                <a:latin typeface="Tahoma"/>
                <a:ea typeface="Tahoma"/>
                <a:cs typeface="Tahoma"/>
                <a:sym typeface="Tahoma"/>
              </a:rPr>
              <a:t>1 · สร้าง ≠ จำแนก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9"/>
          <p:cNvSpPr txBox="1"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2400"/>
              <a:buFont typeface="Tahoma"/>
              <a:buNone/>
            </a:pPr>
            <a:r>
              <a:rPr b="1" i="0" lang="en-US" sz="2400" u="none" cap="none" strike="noStrike">
                <a:solidFill>
                  <a:srgbClr val="1F3864"/>
                </a:solidFill>
                <a:latin typeface="Tahoma"/>
                <a:ea typeface="Tahoma"/>
                <a:cs typeface="Tahoma"/>
                <a:sym typeface="Tahoma"/>
              </a:rPr>
              <a:t>"เรียนการกระจาย" แปลว่าอะไร (อุปมา)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week4/slides/fig/use/e_L2_20_0.png" id="190" name="Google Shape;190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03520" y="1720210"/>
            <a:ext cx="3383280" cy="1341892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9"/>
          <p:cNvSpPr/>
          <p:nvPr/>
        </p:nvSpPr>
        <p:spPr>
          <a:xfrm>
            <a:off x="5303520" y="1720210"/>
            <a:ext cx="3383280" cy="1341892"/>
          </a:xfrm>
          <a:prstGeom prst="rect">
            <a:avLst/>
          </a:prstGeom>
          <a:noFill/>
          <a:ln cap="flat" cmpd="sng" w="9525">
            <a:solidFill>
              <a:srgbClr val="D9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9"/>
          <p:cNvSpPr txBox="1"/>
          <p:nvPr/>
        </p:nvSpPr>
        <p:spPr>
          <a:xfrm>
            <a:off x="5303520" y="3089534"/>
            <a:ext cx="3383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F6B7A"/>
              </a:buClr>
              <a:buSzPts val="1000"/>
              <a:buFont typeface="Tahoma"/>
              <a:buNone/>
            </a:pPr>
            <a:r>
              <a:rPr b="0" i="0" lang="en-US" sz="1000" u="none" cap="none" strike="noStrike">
                <a:solidFill>
                  <a:srgbClr val="5F6B7A"/>
                </a:solidFill>
                <a:latin typeface="Tahoma"/>
                <a:ea typeface="Tahoma"/>
                <a:cs typeface="Tahoma"/>
                <a:sym typeface="Tahoma"/>
              </a:rPr>
              <a:t>เรียน p_model จากภาพฝึก แล้วสุ่มภาพใหม่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9"/>
          <p:cNvSpPr txBox="1"/>
          <p:nvPr/>
        </p:nvSpPr>
        <p:spPr>
          <a:xfrm>
            <a:off x="457200" y="1298448"/>
            <a:ext cx="4617720" cy="24231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-203200" lvl="0" marL="203200" marR="0" rtl="0" algn="l">
              <a:spcBef>
                <a:spcPts val="0"/>
              </a:spcBef>
              <a:spcAft>
                <a:spcPts val="0"/>
              </a:spcAft>
              <a:buClr>
                <a:srgbClr val="1E2733"/>
              </a:buClr>
              <a:buSzPts val="1150"/>
              <a:buFont typeface="Tahoma"/>
              <a:buChar char="•"/>
            </a:pPr>
            <a:r>
              <a:rPr b="1" i="0" lang="en-US" sz="1150" u="none" cap="none" strike="noStrike">
                <a:solidFill>
                  <a:srgbClr val="1E2733"/>
                </a:solidFill>
                <a:latin typeface="Tahoma"/>
                <a:ea typeface="Tahoma"/>
                <a:cs typeface="Tahoma"/>
                <a:sym typeface="Tahoma"/>
              </a:rPr>
              <a:t>ครูสอนวาดการ์ตูน ไม่ได้ให้ท่องจำภาพทีละใบ แต่ให้จับ "สไตล์": สัดส่วน สี ท่าทางที่พบบ่อย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1" marL="355600" marR="0" rtl="0" algn="l">
              <a:spcBef>
                <a:spcPts val="800"/>
              </a:spcBef>
              <a:spcAft>
                <a:spcPts val="0"/>
              </a:spcAft>
              <a:buClr>
                <a:srgbClr val="5F6B7A"/>
              </a:buClr>
              <a:buSzPts val="950"/>
              <a:buFont typeface="Tahoma"/>
              <a:buChar char="–"/>
            </a:pPr>
            <a:r>
              <a:rPr b="0" i="0" lang="en-US" sz="950" u="none" cap="none" strike="noStrike">
                <a:solidFill>
                  <a:srgbClr val="5F6B7A"/>
                </a:solidFill>
                <a:latin typeface="Tahoma"/>
                <a:ea typeface="Tahoma"/>
                <a:cs typeface="Tahoma"/>
                <a:sym typeface="Tahoma"/>
              </a:rPr>
              <a:t>ลูกศิษย์ที่เรียนรู้สไตล์แล้ว วาดตัวละครใหม่ที่ไม่เคยเห็นได้ — และวาดได้หลายแบบไม่ซ้ำ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0" marL="203200" marR="0" rtl="0" algn="l">
              <a:spcBef>
                <a:spcPts val="500"/>
              </a:spcBef>
              <a:spcAft>
                <a:spcPts val="0"/>
              </a:spcAft>
              <a:buClr>
                <a:srgbClr val="1E2733"/>
              </a:buClr>
              <a:buSzPts val="1150"/>
              <a:buFont typeface="Tahoma"/>
              <a:buChar char="•"/>
            </a:pPr>
            <a:r>
              <a:rPr b="0" i="0" lang="en-US" sz="1150" u="none" cap="none" strike="noStrike">
                <a:solidFill>
                  <a:srgbClr val="1E2733"/>
                </a:solidFill>
                <a:latin typeface="Tahoma"/>
                <a:ea typeface="Tahoma"/>
                <a:cs typeface="Tahoma"/>
                <a:sym typeface="Tahoma"/>
              </a:rPr>
              <a:t>โมเดลสร้างภาพก็เหมือนกัน: ไม่ได้เก็บภาพในชุดข้อมูล แต่เก็บ "กฎว่าภาพแบบไหนสมเหตุสมผล"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1" marL="355600" marR="0" rtl="0" algn="l">
              <a:spcBef>
                <a:spcPts val="800"/>
              </a:spcBef>
              <a:spcAft>
                <a:spcPts val="0"/>
              </a:spcAft>
              <a:buClr>
                <a:srgbClr val="5F6B7A"/>
              </a:buClr>
              <a:buSzPts val="950"/>
              <a:buFont typeface="Tahoma"/>
              <a:buChar char="–"/>
            </a:pPr>
            <a:r>
              <a:rPr b="0" i="0" lang="en-US" sz="950" u="none" cap="none" strike="noStrike">
                <a:solidFill>
                  <a:srgbClr val="5F6B7A"/>
                </a:solidFill>
                <a:latin typeface="Tahoma"/>
                <a:ea typeface="Tahoma"/>
                <a:cs typeface="Tahoma"/>
                <a:sym typeface="Tahoma"/>
              </a:rPr>
              <a:t>ตอนใช้งาน: โยนความสุ่ม (noise) เข้าไป → โมเดล 'ปั้น' ความสุ่มนั้นให้กลายเป็นภาพที่เข้ากับกฎ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0" marL="203200" marR="0" rtl="0" algn="l">
              <a:spcBef>
                <a:spcPts val="500"/>
              </a:spcBef>
              <a:spcAft>
                <a:spcPts val="0"/>
              </a:spcAft>
              <a:buClr>
                <a:srgbClr val="1E2733"/>
              </a:buClr>
              <a:buSzPts val="1150"/>
              <a:buFont typeface="Tahoma"/>
              <a:buChar char="•"/>
            </a:pPr>
            <a:r>
              <a:rPr b="0" i="0" lang="en-US" sz="1150" u="none" cap="none" strike="noStrike">
                <a:solidFill>
                  <a:srgbClr val="1E2733"/>
                </a:solidFill>
                <a:latin typeface="Tahoma"/>
                <a:ea typeface="Tahoma"/>
                <a:cs typeface="Tahoma"/>
                <a:sym typeface="Tahoma"/>
              </a:rPr>
              <a:t>โมเดลที่ดี = (1) ภาพคมสมจริง (2) หลากหลาย ไม่ซ้ำ (3) ตรงเงื่อนไขที่สั่ง — สามอย่างนี้จะเป็นเกณฑ์เทียบทั้งวัน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9"/>
          <p:cNvSpPr/>
          <p:nvPr/>
        </p:nvSpPr>
        <p:spPr>
          <a:xfrm>
            <a:off x="457200" y="3840480"/>
            <a:ext cx="8229600" cy="658368"/>
          </a:xfrm>
          <a:prstGeom prst="roundRect">
            <a:avLst>
              <a:gd fmla="val 11111" name="adj"/>
            </a:avLst>
          </a:prstGeom>
          <a:solidFill>
            <a:srgbClr val="DDF1EA"/>
          </a:solidFill>
          <a:ln cap="flat" cmpd="sng" w="12700">
            <a:solidFill>
              <a:srgbClr val="DDF1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9"/>
          <p:cNvSpPr/>
          <p:nvPr/>
        </p:nvSpPr>
        <p:spPr>
          <a:xfrm>
            <a:off x="621792" y="4087368"/>
            <a:ext cx="164592" cy="164592"/>
          </a:xfrm>
          <a:prstGeom prst="ellipse">
            <a:avLst/>
          </a:prstGeom>
          <a:solidFill>
            <a:srgbClr val="1D6F5B"/>
          </a:solidFill>
          <a:ln cap="flat" cmpd="sng" w="12700">
            <a:solidFill>
              <a:srgbClr val="1D6F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9"/>
          <p:cNvSpPr txBox="1"/>
          <p:nvPr/>
        </p:nvSpPr>
        <p:spPr>
          <a:xfrm>
            <a:off x="914400" y="3840480"/>
            <a:ext cx="76352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33"/>
              </a:buClr>
              <a:buSzPts val="1300"/>
              <a:buFont typeface="Tahoma"/>
              <a:buNone/>
            </a:pPr>
            <a:r>
              <a:rPr b="0" i="0" lang="en-US" sz="1300" u="none" cap="none" strike="noStrike">
                <a:solidFill>
                  <a:srgbClr val="1E2733"/>
                </a:solidFill>
                <a:latin typeface="Tahoma"/>
                <a:ea typeface="Tahoma"/>
                <a:cs typeface="Tahoma"/>
                <a:sym typeface="Tahoma"/>
              </a:rPr>
              <a:t>เกณฑ์ 3 ข้อ: คุณภาพ · ความหลากหลาย · ตรงเงื่อนไข — สัปดาห์หน้าจะใส่ตัวเลข (FID, CLIP score) ให้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9"/>
          <p:cNvSpPr txBox="1"/>
          <p:nvPr/>
        </p:nvSpPr>
        <p:spPr>
          <a:xfrm>
            <a:off x="457200" y="4576572"/>
            <a:ext cx="78638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4A2"/>
              </a:buClr>
              <a:buSzPts val="800"/>
              <a:buFont typeface="Tahoma"/>
              <a:buNone/>
            </a:pPr>
            <a:r>
              <a:rPr b="0" i="1" lang="en-US" sz="800" u="none" cap="none" strike="noStrike">
                <a:solidFill>
                  <a:srgbClr val="8A94A2"/>
                </a:solidFill>
                <a:latin typeface="Tahoma"/>
                <a:ea typeface="Tahoma"/>
                <a:cs typeface="Tahoma"/>
                <a:sym typeface="Tahoma"/>
              </a:rPr>
              <a:t>ภาพ: Siyu Zhu (Fudan) Lecture 2 หน้า 20 · ต้นฉบับ Stanford University 2024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0"/>
          <p:cNvSpPr txBox="1"/>
          <p:nvPr/>
        </p:nvSpPr>
        <p:spPr>
          <a:xfrm>
            <a:off x="457200" y="4814316"/>
            <a:ext cx="5486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3AE"/>
              </a:buClr>
              <a:buSzPts val="900"/>
              <a:buFont typeface="Tahoma"/>
              <a:buNone/>
            </a:pPr>
            <a:r>
              <a:rPr b="0" i="0" lang="en-US" sz="900" u="none" cap="none" strike="noStrike">
                <a:solidFill>
                  <a:srgbClr val="9AA3AE"/>
                </a:solidFill>
                <a:latin typeface="Tahoma"/>
                <a:ea typeface="Tahoma"/>
                <a:cs typeface="Tahoma"/>
                <a:sym typeface="Tahoma"/>
              </a:rPr>
              <a:t>LLM &amp; Agentic AI · สัปดาห์ 4 · ช่วงเช้า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0"/>
          <p:cNvSpPr/>
          <p:nvPr/>
        </p:nvSpPr>
        <p:spPr>
          <a:xfrm>
            <a:off x="8357616" y="4759452"/>
            <a:ext cx="329184" cy="329184"/>
          </a:xfrm>
          <a:prstGeom prst="ellipse">
            <a:avLst/>
          </a:prstGeom>
          <a:solidFill>
            <a:srgbClr val="1F3864"/>
          </a:solidFill>
          <a:ln cap="flat" cmpd="sng" w="12700">
            <a:solidFill>
              <a:srgbClr val="1F38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0"/>
          <p:cNvSpPr txBox="1"/>
          <p:nvPr/>
        </p:nvSpPr>
        <p:spPr>
          <a:xfrm>
            <a:off x="8357616" y="4759452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Tahoma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0"/>
          <p:cNvSpPr/>
          <p:nvPr/>
        </p:nvSpPr>
        <p:spPr>
          <a:xfrm>
            <a:off x="457200" y="256032"/>
            <a:ext cx="1458468" cy="274320"/>
          </a:xfrm>
          <a:prstGeom prst="roundRect">
            <a:avLst>
              <a:gd fmla="val 50000" name="adj"/>
            </a:avLst>
          </a:prstGeom>
          <a:solidFill>
            <a:srgbClr val="DDF1EA"/>
          </a:solidFill>
          <a:ln cap="flat" cmpd="sng" w="12700">
            <a:solidFill>
              <a:srgbClr val="DDF1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0"/>
          <p:cNvSpPr txBox="1"/>
          <p:nvPr/>
        </p:nvSpPr>
        <p:spPr>
          <a:xfrm>
            <a:off x="457200" y="256032"/>
            <a:ext cx="145846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6F5B"/>
              </a:buClr>
              <a:buSzPts val="1000"/>
              <a:buFont typeface="Tahoma"/>
              <a:buNone/>
            </a:pPr>
            <a:r>
              <a:rPr b="1" i="0" lang="en-US" sz="1000" u="none" cap="none" strike="noStrike">
                <a:solidFill>
                  <a:srgbClr val="1D6F5B"/>
                </a:solidFill>
                <a:latin typeface="Tahoma"/>
                <a:ea typeface="Tahoma"/>
                <a:cs typeface="Tahoma"/>
                <a:sym typeface="Tahoma"/>
              </a:rPr>
              <a:t>1 · ตระกูลโมเดล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0"/>
          <p:cNvSpPr txBox="1"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2400"/>
              <a:buFont typeface="Tahoma"/>
              <a:buNone/>
            </a:pPr>
            <a:r>
              <a:rPr b="1" i="0" lang="en-US" sz="2400" u="none" cap="none" strike="noStrike">
                <a:solidFill>
                  <a:srgbClr val="1F3864"/>
                </a:solidFill>
                <a:latin typeface="Tahoma"/>
                <a:ea typeface="Tahoma"/>
                <a:cs typeface="Tahoma"/>
                <a:sym typeface="Tahoma"/>
              </a:rPr>
              <a:t>แผนที่ตระกูลโมเดลสร้างภาพ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week4/slides/fig/f_taxonomy.png" id="209" name="Google Shape;209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674582"/>
            <a:ext cx="5486400" cy="2635584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10"/>
          <p:cNvSpPr/>
          <p:nvPr/>
        </p:nvSpPr>
        <p:spPr>
          <a:xfrm>
            <a:off x="6172200" y="1298448"/>
            <a:ext cx="2514600" cy="1019556"/>
          </a:xfrm>
          <a:prstGeom prst="roundRect">
            <a:avLst>
              <a:gd fmla="val 7175" name="adj"/>
            </a:avLst>
          </a:prstGeom>
          <a:solidFill>
            <a:srgbClr val="E4ECF7"/>
          </a:solidFill>
          <a:ln cap="flat" cmpd="sng" w="12700">
            <a:solidFill>
              <a:srgbClr val="E4EC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0"/>
          <p:cNvSpPr/>
          <p:nvPr/>
        </p:nvSpPr>
        <p:spPr>
          <a:xfrm>
            <a:off x="6300216" y="1426464"/>
            <a:ext cx="201168" cy="201168"/>
          </a:xfrm>
          <a:prstGeom prst="ellipse">
            <a:avLst/>
          </a:prstGeom>
          <a:solidFill>
            <a:srgbClr val="1F3864"/>
          </a:solidFill>
          <a:ln cap="flat" cmpd="sng" w="12700">
            <a:solidFill>
              <a:srgbClr val="1F38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0"/>
          <p:cNvSpPr txBox="1"/>
          <p:nvPr/>
        </p:nvSpPr>
        <p:spPr>
          <a:xfrm>
            <a:off x="6583680" y="1371600"/>
            <a:ext cx="1965960" cy="8732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33"/>
              </a:buClr>
              <a:buSzPts val="1200"/>
              <a:buFont typeface="Tahoma"/>
              <a:buNone/>
            </a:pPr>
            <a:r>
              <a:rPr b="0" i="0" lang="en-US" sz="1200" u="none" cap="none" strike="noStrike">
                <a:solidFill>
                  <a:srgbClr val="1E2733"/>
                </a:solidFill>
                <a:latin typeface="Tahoma"/>
                <a:ea typeface="Tahoma"/>
                <a:cs typeface="Tahoma"/>
                <a:sym typeface="Tahoma"/>
              </a:rPr>
              <a:t>ทุกตระกูลเรียน 'การกระจาย' เหมือนกัน — ต่างกันที่วิธีสุ่มภาพออกมา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0"/>
          <p:cNvSpPr/>
          <p:nvPr/>
        </p:nvSpPr>
        <p:spPr>
          <a:xfrm>
            <a:off x="6172200" y="2482596"/>
            <a:ext cx="2514600" cy="1019556"/>
          </a:xfrm>
          <a:prstGeom prst="roundRect">
            <a:avLst>
              <a:gd fmla="val 7175" name="adj"/>
            </a:avLst>
          </a:prstGeom>
          <a:solidFill>
            <a:srgbClr val="DDF1EA"/>
          </a:solidFill>
          <a:ln cap="flat" cmpd="sng" w="12700">
            <a:solidFill>
              <a:srgbClr val="DDF1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0"/>
          <p:cNvSpPr/>
          <p:nvPr/>
        </p:nvSpPr>
        <p:spPr>
          <a:xfrm>
            <a:off x="6300216" y="2610612"/>
            <a:ext cx="201168" cy="201168"/>
          </a:xfrm>
          <a:prstGeom prst="ellipse">
            <a:avLst/>
          </a:prstGeom>
          <a:solidFill>
            <a:srgbClr val="1D6F5B"/>
          </a:solidFill>
          <a:ln cap="flat" cmpd="sng" w="12700">
            <a:solidFill>
              <a:srgbClr val="1D6F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0"/>
          <p:cNvSpPr txBox="1"/>
          <p:nvPr/>
        </p:nvSpPr>
        <p:spPr>
          <a:xfrm>
            <a:off x="6583680" y="2555748"/>
            <a:ext cx="1965960" cy="8732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33"/>
              </a:buClr>
              <a:buSzPts val="1200"/>
              <a:buFont typeface="Tahoma"/>
              <a:buNone/>
            </a:pPr>
            <a:r>
              <a:rPr b="0" i="0" lang="en-US" sz="1200" u="none" cap="none" strike="noStrike">
                <a:solidFill>
                  <a:srgbClr val="1E2733"/>
                </a:solidFill>
                <a:latin typeface="Tahoma"/>
                <a:ea typeface="Tahoma"/>
                <a:cs typeface="Tahoma"/>
                <a:sym typeface="Tahoma"/>
              </a:rPr>
              <a:t>Autoregressive: สร้างทีละชิ้น (ญาติของ LLM)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0"/>
          <p:cNvSpPr/>
          <p:nvPr/>
        </p:nvSpPr>
        <p:spPr>
          <a:xfrm>
            <a:off x="6172200" y="3666744"/>
            <a:ext cx="2514600" cy="1019556"/>
          </a:xfrm>
          <a:prstGeom prst="roundRect">
            <a:avLst>
              <a:gd fmla="val 7175" name="adj"/>
            </a:avLst>
          </a:prstGeom>
          <a:solidFill>
            <a:srgbClr val="FCF0D9"/>
          </a:solidFill>
          <a:ln cap="flat" cmpd="sng" w="12700">
            <a:solidFill>
              <a:srgbClr val="FCF0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0"/>
          <p:cNvSpPr/>
          <p:nvPr/>
        </p:nvSpPr>
        <p:spPr>
          <a:xfrm>
            <a:off x="6300216" y="3794760"/>
            <a:ext cx="201168" cy="201168"/>
          </a:xfrm>
          <a:prstGeom prst="ellipse">
            <a:avLst/>
          </a:prstGeom>
          <a:solidFill>
            <a:srgbClr val="B7791F"/>
          </a:solidFill>
          <a:ln cap="flat" cmpd="sng" w="12700">
            <a:solidFill>
              <a:srgbClr val="B779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0"/>
          <p:cNvSpPr txBox="1"/>
          <p:nvPr/>
        </p:nvSpPr>
        <p:spPr>
          <a:xfrm>
            <a:off x="6583680" y="3739896"/>
            <a:ext cx="1965960" cy="8732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33"/>
              </a:buClr>
              <a:buSzPts val="1200"/>
              <a:buFont typeface="Tahoma"/>
              <a:buNone/>
            </a:pPr>
            <a:r>
              <a:rPr b="0" i="0" lang="en-US" sz="1200" u="none" cap="none" strike="noStrike">
                <a:solidFill>
                  <a:srgbClr val="1E2733"/>
                </a:solidFill>
                <a:latin typeface="Tahoma"/>
                <a:ea typeface="Tahoma"/>
                <a:cs typeface="Tahoma"/>
                <a:sym typeface="Tahoma"/>
              </a:rPr>
              <a:t>VAE / GAN: สุ่มรหัส z แล้วแปลงเป็นภาพทีเดียว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1"/>
          <p:cNvSpPr txBox="1"/>
          <p:nvPr/>
        </p:nvSpPr>
        <p:spPr>
          <a:xfrm>
            <a:off x="457200" y="4814316"/>
            <a:ext cx="5486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3AE"/>
              </a:buClr>
              <a:buSzPts val="900"/>
              <a:buFont typeface="Tahoma"/>
              <a:buNone/>
            </a:pPr>
            <a:r>
              <a:rPr b="0" i="0" lang="en-US" sz="900" u="none" cap="none" strike="noStrike">
                <a:solidFill>
                  <a:srgbClr val="9AA3AE"/>
                </a:solidFill>
                <a:latin typeface="Tahoma"/>
                <a:ea typeface="Tahoma"/>
                <a:cs typeface="Tahoma"/>
                <a:sym typeface="Tahoma"/>
              </a:rPr>
              <a:t>LLM &amp; Agentic AI · สัปดาห์ 4 · ช่วงเช้า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1"/>
          <p:cNvSpPr/>
          <p:nvPr/>
        </p:nvSpPr>
        <p:spPr>
          <a:xfrm>
            <a:off x="8357616" y="4759452"/>
            <a:ext cx="329184" cy="329184"/>
          </a:xfrm>
          <a:prstGeom prst="ellipse">
            <a:avLst/>
          </a:prstGeom>
          <a:solidFill>
            <a:srgbClr val="1F3864"/>
          </a:solidFill>
          <a:ln cap="flat" cmpd="sng" w="12700">
            <a:solidFill>
              <a:srgbClr val="1F38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1"/>
          <p:cNvSpPr txBox="1"/>
          <p:nvPr/>
        </p:nvSpPr>
        <p:spPr>
          <a:xfrm>
            <a:off x="8357616" y="4759452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Tahoma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11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1"/>
          <p:cNvSpPr/>
          <p:nvPr/>
        </p:nvSpPr>
        <p:spPr>
          <a:xfrm>
            <a:off x="457200" y="256032"/>
            <a:ext cx="1691640" cy="274320"/>
          </a:xfrm>
          <a:prstGeom prst="roundRect">
            <a:avLst>
              <a:gd fmla="val 50000" name="adj"/>
            </a:avLst>
          </a:prstGeom>
          <a:solidFill>
            <a:srgbClr val="DDF1EA"/>
          </a:solidFill>
          <a:ln cap="flat" cmpd="sng" w="12700">
            <a:solidFill>
              <a:srgbClr val="DDF1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1"/>
          <p:cNvSpPr txBox="1"/>
          <p:nvPr/>
        </p:nvSpPr>
        <p:spPr>
          <a:xfrm>
            <a:off x="457200" y="256032"/>
            <a:ext cx="1691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6F5B"/>
              </a:buClr>
              <a:buSzPts val="1000"/>
              <a:buFont typeface="Tahoma"/>
              <a:buNone/>
            </a:pPr>
            <a:r>
              <a:rPr b="1" i="0" lang="en-US" sz="1000" u="none" cap="none" strike="noStrike">
                <a:solidFill>
                  <a:srgbClr val="1D6F5B"/>
                </a:solidFill>
                <a:latin typeface="Tahoma"/>
                <a:ea typeface="Tahoma"/>
                <a:cs typeface="Tahoma"/>
                <a:sym typeface="Tahoma"/>
              </a:rPr>
              <a:t>1 · Autoregressive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1"/>
          <p:cNvSpPr txBox="1"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2400"/>
              <a:buFont typeface="Tahoma"/>
              <a:buNone/>
            </a:pPr>
            <a:r>
              <a:rPr b="1" i="0" lang="en-US" sz="2400" u="none" cap="none" strike="noStrike">
                <a:solidFill>
                  <a:srgbClr val="1F3864"/>
                </a:solidFill>
                <a:latin typeface="Tahoma"/>
                <a:ea typeface="Tahoma"/>
                <a:cs typeface="Tahoma"/>
                <a:sym typeface="Tahoma"/>
              </a:rPr>
              <a:t>Autoregressive บนพิกเซล = GPT ของพิกเซล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week4/slides/fig/f_pixelcnn.png" id="230" name="Google Shape;230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89150" y="1298448"/>
            <a:ext cx="5765699" cy="2148840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11"/>
          <p:cNvSpPr/>
          <p:nvPr/>
        </p:nvSpPr>
        <p:spPr>
          <a:xfrm>
            <a:off x="457200" y="3630168"/>
            <a:ext cx="2621280" cy="1056132"/>
          </a:xfrm>
          <a:prstGeom prst="roundRect">
            <a:avLst>
              <a:gd fmla="val 6926" name="adj"/>
            </a:avLst>
          </a:prstGeom>
          <a:solidFill>
            <a:srgbClr val="E4ECF7"/>
          </a:solidFill>
          <a:ln cap="flat" cmpd="sng" w="12700">
            <a:solidFill>
              <a:srgbClr val="E4EC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1"/>
          <p:cNvSpPr/>
          <p:nvPr/>
        </p:nvSpPr>
        <p:spPr>
          <a:xfrm>
            <a:off x="585216" y="3758184"/>
            <a:ext cx="201168" cy="201168"/>
          </a:xfrm>
          <a:prstGeom prst="ellipse">
            <a:avLst/>
          </a:prstGeom>
          <a:solidFill>
            <a:srgbClr val="1F3864"/>
          </a:solidFill>
          <a:ln cap="flat" cmpd="sng" w="12700">
            <a:solidFill>
              <a:srgbClr val="1F38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1"/>
          <p:cNvSpPr txBox="1"/>
          <p:nvPr/>
        </p:nvSpPr>
        <p:spPr>
          <a:xfrm>
            <a:off x="868680" y="3703320"/>
            <a:ext cx="2072640" cy="9098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33"/>
              </a:buClr>
              <a:buSzPts val="1200"/>
              <a:buFont typeface="Tahoma"/>
              <a:buNone/>
            </a:pPr>
            <a:r>
              <a:rPr b="0" i="0" lang="en-US" sz="1200" u="none" cap="none" strike="noStrike">
                <a:solidFill>
                  <a:srgbClr val="1E2733"/>
                </a:solidFill>
                <a:latin typeface="Tahoma"/>
                <a:ea typeface="Tahoma"/>
                <a:cs typeface="Tahoma"/>
                <a:sym typeface="Tahoma"/>
              </a:rPr>
              <a:t>PixelRNN / PixelCNN (2016): เรียงพิกเซลเป็นลำดับ แล้วทำนายพิกเซลถัดไปจากพิกเซลก่อนหน้า — สูตรเดียวกับ LLM สัปดาห์ 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1"/>
          <p:cNvSpPr/>
          <p:nvPr/>
        </p:nvSpPr>
        <p:spPr>
          <a:xfrm>
            <a:off x="3261360" y="3630168"/>
            <a:ext cx="2621280" cy="1056132"/>
          </a:xfrm>
          <a:prstGeom prst="roundRect">
            <a:avLst>
              <a:gd fmla="val 6926" name="adj"/>
            </a:avLst>
          </a:prstGeom>
          <a:solidFill>
            <a:srgbClr val="DDF1EA"/>
          </a:solidFill>
          <a:ln cap="flat" cmpd="sng" w="12700">
            <a:solidFill>
              <a:srgbClr val="DDF1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1"/>
          <p:cNvSpPr/>
          <p:nvPr/>
        </p:nvSpPr>
        <p:spPr>
          <a:xfrm>
            <a:off x="3389376" y="3758184"/>
            <a:ext cx="201168" cy="201168"/>
          </a:xfrm>
          <a:prstGeom prst="ellipse">
            <a:avLst/>
          </a:prstGeom>
          <a:solidFill>
            <a:srgbClr val="1D6F5B"/>
          </a:solidFill>
          <a:ln cap="flat" cmpd="sng" w="12700">
            <a:solidFill>
              <a:srgbClr val="1D6F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1"/>
          <p:cNvSpPr txBox="1"/>
          <p:nvPr/>
        </p:nvSpPr>
        <p:spPr>
          <a:xfrm>
            <a:off x="3672840" y="3703320"/>
            <a:ext cx="2072640" cy="9098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33"/>
              </a:buClr>
              <a:buSzPts val="1200"/>
              <a:buFont typeface="Tahoma"/>
              <a:buNone/>
            </a:pPr>
            <a:r>
              <a:rPr b="0" i="0" lang="en-US" sz="1200" u="none" cap="none" strike="noStrike">
                <a:solidFill>
                  <a:srgbClr val="1E2733"/>
                </a:solidFill>
                <a:latin typeface="Tahoma"/>
                <a:ea typeface="Tahoma"/>
                <a:cs typeface="Tahoma"/>
                <a:sym typeface="Tahoma"/>
              </a:rPr>
              <a:t>ข้อดี: ตรงไปตรงมา คำนวณความน่าจะเป็นของภาพได้จริง ๆ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1"/>
          <p:cNvSpPr/>
          <p:nvPr/>
        </p:nvSpPr>
        <p:spPr>
          <a:xfrm>
            <a:off x="6065520" y="3630168"/>
            <a:ext cx="2621280" cy="1056132"/>
          </a:xfrm>
          <a:prstGeom prst="roundRect">
            <a:avLst>
              <a:gd fmla="val 6926" name="adj"/>
            </a:avLst>
          </a:prstGeom>
          <a:solidFill>
            <a:srgbClr val="FCF0D9"/>
          </a:solidFill>
          <a:ln cap="flat" cmpd="sng" w="12700">
            <a:solidFill>
              <a:srgbClr val="FCF0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1"/>
          <p:cNvSpPr/>
          <p:nvPr/>
        </p:nvSpPr>
        <p:spPr>
          <a:xfrm>
            <a:off x="6193536" y="3758184"/>
            <a:ext cx="201168" cy="201168"/>
          </a:xfrm>
          <a:prstGeom prst="ellipse">
            <a:avLst/>
          </a:prstGeom>
          <a:solidFill>
            <a:srgbClr val="B7791F"/>
          </a:solidFill>
          <a:ln cap="flat" cmpd="sng" w="12700">
            <a:solidFill>
              <a:srgbClr val="B779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11"/>
          <p:cNvSpPr txBox="1"/>
          <p:nvPr/>
        </p:nvSpPr>
        <p:spPr>
          <a:xfrm>
            <a:off x="6477000" y="3703320"/>
            <a:ext cx="2072640" cy="9098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33"/>
              </a:buClr>
              <a:buSzPts val="1200"/>
              <a:buFont typeface="Tahoma"/>
              <a:buNone/>
            </a:pPr>
            <a:r>
              <a:rPr b="0" i="0" lang="en-US" sz="1200" u="none" cap="none" strike="noStrike">
                <a:solidFill>
                  <a:srgbClr val="1E2733"/>
                </a:solidFill>
                <a:latin typeface="Tahoma"/>
                <a:ea typeface="Tahoma"/>
                <a:cs typeface="Tahoma"/>
                <a:sym typeface="Tahoma"/>
              </a:rPr>
              <a:t>ข้อเสีย: สร้างช้ามาก เพราะต้องวนทีละพิกเซล (ภาพ 32×32 = 1,024 รอบ)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2"/>
          <p:cNvSpPr txBox="1"/>
          <p:nvPr/>
        </p:nvSpPr>
        <p:spPr>
          <a:xfrm>
            <a:off x="457200" y="4814316"/>
            <a:ext cx="5486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3AE"/>
              </a:buClr>
              <a:buSzPts val="900"/>
              <a:buFont typeface="Tahoma"/>
              <a:buNone/>
            </a:pPr>
            <a:r>
              <a:rPr b="0" i="0" lang="en-US" sz="900" u="none" cap="none" strike="noStrike">
                <a:solidFill>
                  <a:srgbClr val="9AA3AE"/>
                </a:solidFill>
                <a:latin typeface="Tahoma"/>
                <a:ea typeface="Tahoma"/>
                <a:cs typeface="Tahoma"/>
                <a:sym typeface="Tahoma"/>
              </a:rPr>
              <a:t>LLM &amp; Agentic AI · สัปดาห์ 4 · ช่วงเช้า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2"/>
          <p:cNvSpPr/>
          <p:nvPr/>
        </p:nvSpPr>
        <p:spPr>
          <a:xfrm>
            <a:off x="8357616" y="4759452"/>
            <a:ext cx="329184" cy="329184"/>
          </a:xfrm>
          <a:prstGeom prst="ellipse">
            <a:avLst/>
          </a:prstGeom>
          <a:solidFill>
            <a:srgbClr val="1F3864"/>
          </a:solidFill>
          <a:ln cap="flat" cmpd="sng" w="12700">
            <a:solidFill>
              <a:srgbClr val="1F38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2"/>
          <p:cNvSpPr txBox="1"/>
          <p:nvPr/>
        </p:nvSpPr>
        <p:spPr>
          <a:xfrm>
            <a:off x="8357616" y="4759452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Tahoma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12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2"/>
          <p:cNvSpPr/>
          <p:nvPr/>
        </p:nvSpPr>
        <p:spPr>
          <a:xfrm>
            <a:off x="457200" y="256032"/>
            <a:ext cx="1691640" cy="274320"/>
          </a:xfrm>
          <a:prstGeom prst="roundRect">
            <a:avLst>
              <a:gd fmla="val 50000" name="adj"/>
            </a:avLst>
          </a:prstGeom>
          <a:solidFill>
            <a:srgbClr val="DDF1EA"/>
          </a:solidFill>
          <a:ln cap="flat" cmpd="sng" w="12700">
            <a:solidFill>
              <a:srgbClr val="DDF1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2"/>
          <p:cNvSpPr txBox="1"/>
          <p:nvPr/>
        </p:nvSpPr>
        <p:spPr>
          <a:xfrm>
            <a:off x="457200" y="256032"/>
            <a:ext cx="1691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6F5B"/>
              </a:buClr>
              <a:buSzPts val="1000"/>
              <a:buFont typeface="Tahoma"/>
              <a:buNone/>
            </a:pPr>
            <a:r>
              <a:rPr b="1" i="0" lang="en-US" sz="1000" u="none" cap="none" strike="noStrike">
                <a:solidFill>
                  <a:srgbClr val="1D6F5B"/>
                </a:solidFill>
                <a:latin typeface="Tahoma"/>
                <a:ea typeface="Tahoma"/>
                <a:cs typeface="Tahoma"/>
                <a:sym typeface="Tahoma"/>
              </a:rPr>
              <a:t>1 · Autoregressive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2"/>
          <p:cNvSpPr txBox="1"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2400"/>
              <a:buFont typeface="Tahoma"/>
              <a:buNone/>
            </a:pPr>
            <a:r>
              <a:rPr b="1" i="0" lang="en-US" sz="2400" u="none" cap="none" strike="noStrike">
                <a:solidFill>
                  <a:srgbClr val="1F3864"/>
                </a:solidFill>
                <a:latin typeface="Tahoma"/>
                <a:ea typeface="Tahoma"/>
                <a:cs typeface="Tahoma"/>
                <a:sym typeface="Tahoma"/>
              </a:rPr>
              <a:t>PixelRNN: เรียนจากภาพจริง แล้ววาดใหม่ทีละพิกเซล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week4/slides/fig/f_pixelrnn_story.png" id="251" name="Google Shape;25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2801" y="1252728"/>
            <a:ext cx="7818399" cy="3246120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12"/>
          <p:cNvSpPr/>
          <p:nvPr/>
        </p:nvSpPr>
        <p:spPr>
          <a:xfrm>
            <a:off x="662801" y="1252728"/>
            <a:ext cx="7818399" cy="3246120"/>
          </a:xfrm>
          <a:prstGeom prst="rect">
            <a:avLst/>
          </a:prstGeom>
          <a:noFill/>
          <a:ln cap="flat" cmpd="sng" w="9525">
            <a:solidFill>
              <a:srgbClr val="D9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2"/>
          <p:cNvSpPr txBox="1"/>
          <p:nvPr/>
        </p:nvSpPr>
        <p:spPr>
          <a:xfrm>
            <a:off x="457200" y="4576572"/>
            <a:ext cx="78638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4A2"/>
              </a:buClr>
              <a:buSzPts val="800"/>
              <a:buFont typeface="Tahoma"/>
              <a:buNone/>
            </a:pPr>
            <a:r>
              <a:rPr b="0" i="1" lang="en-US" sz="800" u="none" cap="none" strike="noStrike">
                <a:solidFill>
                  <a:srgbClr val="8A94A2"/>
                </a:solidFill>
                <a:latin typeface="Tahoma"/>
                <a:ea typeface="Tahoma"/>
                <a:cs typeface="Tahoma"/>
                <a:sym typeface="Tahoma"/>
              </a:rPr>
              <a:t>ภาพจริง: ชุดข้อมูล CIFAR-10 (Krizhevsky 2009) · ภาพที่โมเดลวาด: PixelRNN, van den Oord et al. 2016 ผ่าน Siyu Zhu (Fudan) Lecture 2 หน้า 35 (ต้นฉบับ Stanford University)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3"/>
          <p:cNvSpPr txBox="1"/>
          <p:nvPr/>
        </p:nvSpPr>
        <p:spPr>
          <a:xfrm>
            <a:off x="457200" y="4814316"/>
            <a:ext cx="5486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3AE"/>
              </a:buClr>
              <a:buSzPts val="900"/>
              <a:buFont typeface="Tahoma"/>
              <a:buNone/>
            </a:pPr>
            <a:r>
              <a:rPr b="0" i="0" lang="en-US" sz="900" u="none" cap="none" strike="noStrike">
                <a:solidFill>
                  <a:srgbClr val="9AA3AE"/>
                </a:solidFill>
                <a:latin typeface="Tahoma"/>
                <a:ea typeface="Tahoma"/>
                <a:cs typeface="Tahoma"/>
                <a:sym typeface="Tahoma"/>
              </a:rPr>
              <a:t>LLM &amp; Agentic AI · สัปดาห์ 4 · ช่วงเช้า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3"/>
          <p:cNvSpPr/>
          <p:nvPr/>
        </p:nvSpPr>
        <p:spPr>
          <a:xfrm>
            <a:off x="8357616" y="4759452"/>
            <a:ext cx="329184" cy="329184"/>
          </a:xfrm>
          <a:prstGeom prst="ellipse">
            <a:avLst/>
          </a:prstGeom>
          <a:solidFill>
            <a:srgbClr val="1F3864"/>
          </a:solidFill>
          <a:ln cap="flat" cmpd="sng" w="12700">
            <a:solidFill>
              <a:srgbClr val="1F38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3"/>
          <p:cNvSpPr txBox="1"/>
          <p:nvPr/>
        </p:nvSpPr>
        <p:spPr>
          <a:xfrm>
            <a:off x="8357616" y="4759452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Tahoma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13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3"/>
          <p:cNvSpPr/>
          <p:nvPr/>
        </p:nvSpPr>
        <p:spPr>
          <a:xfrm>
            <a:off x="457200" y="256032"/>
            <a:ext cx="1458468" cy="274320"/>
          </a:xfrm>
          <a:prstGeom prst="roundRect">
            <a:avLst>
              <a:gd fmla="val 50000" name="adj"/>
            </a:avLst>
          </a:prstGeom>
          <a:solidFill>
            <a:srgbClr val="DDF1EA"/>
          </a:solidFill>
          <a:ln cap="flat" cmpd="sng" w="12700">
            <a:solidFill>
              <a:srgbClr val="DDF1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3"/>
          <p:cNvSpPr txBox="1"/>
          <p:nvPr/>
        </p:nvSpPr>
        <p:spPr>
          <a:xfrm>
            <a:off x="457200" y="256032"/>
            <a:ext cx="145846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6F5B"/>
              </a:buClr>
              <a:buSzPts val="1000"/>
              <a:buFont typeface="Tahoma"/>
              <a:buNone/>
            </a:pPr>
            <a:r>
              <a:rPr b="1" i="0" lang="en-US" sz="1000" u="none" cap="none" strike="noStrike">
                <a:solidFill>
                  <a:srgbClr val="1D6F5B"/>
                </a:solidFill>
                <a:latin typeface="Tahoma"/>
                <a:ea typeface="Tahoma"/>
                <a:cs typeface="Tahoma"/>
                <a:sym typeface="Tahoma"/>
              </a:rPr>
              <a:t>1 · ตระกูลโมเดล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3"/>
          <p:cNvSpPr txBox="1"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2400"/>
              <a:buFont typeface="Tahoma"/>
              <a:buNone/>
            </a:pPr>
            <a:r>
              <a:rPr b="1" i="0" lang="en-US" sz="2400" u="none" cap="none" strike="noStrike">
                <a:solidFill>
                  <a:srgbClr val="1F3864"/>
                </a:solidFill>
                <a:latin typeface="Tahoma"/>
                <a:ea typeface="Tahoma"/>
                <a:cs typeface="Tahoma"/>
                <a:sym typeface="Tahoma"/>
              </a:rPr>
              <a:t>ทำไมต้องมีมากกว่าหนึ่งตระกูล — ไม่มีใครได้ครบทุกข้อ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65" name="Google Shape;265;p13"/>
          <p:cNvGraphicFramePr/>
          <p:nvPr/>
        </p:nvGraphicFramePr>
        <p:xfrm>
          <a:off x="457200" y="129844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{78235127-4059-4FEF-A48D-6CC648F02DD3}</a:tableStyleId>
              </a:tblPr>
              <a:tblGrid>
                <a:gridCol w="1371600"/>
                <a:gridCol w="1508750"/>
                <a:gridCol w="1280150"/>
                <a:gridCol w="1463050"/>
                <a:gridCol w="1371600"/>
                <a:gridCol w="1234450"/>
              </a:tblGrid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Tahoma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ภาพที่โมเดลสร้างเอง*</a:t>
                      </a:r>
                      <a:endParaRPr sz="11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54875" marB="54875" marR="54875" marL="54875" anchor="ctr">
                    <a:lnL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54875" marB="54875" marR="54875" marL="54875" anchor="ctr">
                    <a:lnL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Tahoma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คุณภาพภาพ</a:t>
                      </a:r>
                      <a:endParaRPr sz="11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54875" marB="54875" marR="54875" marL="54875" anchor="ctr">
                    <a:lnL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Tahoma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ความหลากหลาย</a:t>
                      </a:r>
                      <a:endParaRPr sz="11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54875" marB="54875" marR="54875" marL="54875" anchor="ctr">
                    <a:lnL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Tahoma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เทรนง่าย</a:t>
                      </a:r>
                      <a:endParaRPr sz="11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54875" marB="54875" marR="54875" marL="54875" anchor="ctr">
                    <a:lnL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Tahoma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สร้างเร็ว</a:t>
                      </a:r>
                      <a:endParaRPr sz="11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54875" marB="54875" marR="54875" marL="54875" anchor="ctr">
                    <a:lnL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3864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54875" marB="54875" marR="54875" marL="54875" anchor="ctr">
                    <a:lnL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200"/>
                        <a:buFont typeface="Tahoma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Autoregressive</a:t>
                      </a:r>
                      <a:endParaRPr sz="12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54875" marB="54875" marR="54875" marL="54875" anchor="ctr">
                    <a:lnL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200"/>
                        <a:buFont typeface="Tahoma"/>
                        <a:buNone/>
                      </a:pPr>
                      <a:r>
                        <a:rPr lang="en-US" sz="1200" u="none" cap="none" strike="noStrike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รุ่นแรกหยาบ</a:t>
                      </a:r>
                      <a:endParaRPr sz="12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200"/>
                        <a:buFont typeface="Tahoma"/>
                        <a:buNone/>
                      </a:pPr>
                      <a:r>
                        <a:rPr lang="en-US" sz="1200" u="none" cap="none" strike="noStrike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รุ่นใหม่ดี</a:t>
                      </a:r>
                      <a:endParaRPr sz="12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54875" marB="54875" marR="54875" marL="54875" anchor="ctr">
                    <a:lnL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200"/>
                        <a:buFont typeface="Tahoma"/>
                        <a:buNone/>
                      </a:pPr>
                      <a:r>
                        <a:rPr lang="en-US" sz="1200" u="none" cap="none" strike="noStrike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ดี</a:t>
                      </a:r>
                      <a:endParaRPr sz="12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54875" marB="54875" marR="54875" marL="54875" anchor="ctr">
                    <a:lnL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200"/>
                        <a:buFont typeface="Tahoma"/>
                        <a:buNone/>
                      </a:pPr>
                      <a:r>
                        <a:rPr lang="en-US" sz="1200" u="none" cap="none" strike="noStrike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ง่าย (เหมือน LLM)</a:t>
                      </a:r>
                      <a:endParaRPr sz="12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54875" marB="54875" marR="54875" marL="54875" anchor="ctr">
                    <a:lnL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200"/>
                        <a:buFont typeface="Tahoma"/>
                        <a:buNone/>
                      </a:pPr>
                      <a:r>
                        <a:rPr lang="en-US" sz="1200" u="none" cap="none" strike="noStrike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ช้ามาก</a:t>
                      </a:r>
                      <a:endParaRPr sz="12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54875" marB="54875" marR="54875" marL="54875" anchor="ctr">
                    <a:lnL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3F6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54875" marB="54875" marR="54875" marL="54875" anchor="ctr">
                    <a:lnL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200"/>
                        <a:buFont typeface="Tahoma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VAE</a:t>
                      </a:r>
                      <a:endParaRPr sz="12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54875" marB="54875" marR="54875" marL="54875" anchor="ctr">
                    <a:lnL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200"/>
                        <a:buFont typeface="Tahoma"/>
                        <a:buNone/>
                      </a:pPr>
                      <a:r>
                        <a:rPr lang="en-US" sz="1200" u="none" cap="none" strike="noStrike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เบลอ</a:t>
                      </a:r>
                      <a:endParaRPr sz="12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54875" marB="54875" marR="54875" marL="54875" anchor="ctr">
                    <a:lnL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200"/>
                        <a:buFont typeface="Tahoma"/>
                        <a:buNone/>
                      </a:pPr>
                      <a:r>
                        <a:rPr lang="en-US" sz="1200" u="none" cap="none" strike="noStrike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ดี</a:t>
                      </a:r>
                      <a:endParaRPr sz="12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54875" marB="54875" marR="54875" marL="54875" anchor="ctr">
                    <a:lnL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200"/>
                        <a:buFont typeface="Tahoma"/>
                        <a:buNone/>
                      </a:pPr>
                      <a:r>
                        <a:rPr lang="en-US" sz="1200" u="none" cap="none" strike="noStrike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ง่าย</a:t>
                      </a:r>
                      <a:endParaRPr sz="12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54875" marB="54875" marR="54875" marL="54875" anchor="ctr">
                    <a:lnL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200"/>
                        <a:buFont typeface="Tahoma"/>
                        <a:buNone/>
                      </a:pPr>
                      <a:r>
                        <a:rPr lang="en-US" sz="1200" u="none" cap="none" strike="noStrike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เร็วมาก</a:t>
                      </a:r>
                      <a:endParaRPr sz="12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54875" marB="54875" marR="54875" marL="54875" anchor="ctr">
                    <a:lnL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54875" marB="54875" marR="54875" marL="54875" anchor="ctr">
                    <a:lnL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200"/>
                        <a:buFont typeface="Tahoma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GAN</a:t>
                      </a:r>
                      <a:endParaRPr sz="12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54875" marB="54875" marR="54875" marL="54875" anchor="ctr">
                    <a:lnL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200"/>
                        <a:buFont typeface="Tahoma"/>
                        <a:buNone/>
                      </a:pPr>
                      <a:r>
                        <a:rPr lang="en-US" sz="1200" u="none" cap="none" strike="noStrike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คมมาก</a:t>
                      </a:r>
                      <a:endParaRPr sz="12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54875" marB="54875" marR="54875" marL="54875" anchor="ctr">
                    <a:lnL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200"/>
                        <a:buFont typeface="Tahoma"/>
                        <a:buNone/>
                      </a:pPr>
                      <a:r>
                        <a:rPr lang="en-US" sz="1200" u="none" cap="none" strike="noStrike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เสี่ยงซ้ำ (mode collapse)</a:t>
                      </a:r>
                      <a:endParaRPr sz="12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54875" marB="54875" marR="54875" marL="54875" anchor="ctr">
                    <a:lnL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200"/>
                        <a:buFont typeface="Tahoma"/>
                        <a:buNone/>
                      </a:pPr>
                      <a:r>
                        <a:rPr lang="en-US" sz="1200" u="none" cap="none" strike="noStrike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ยาก แกว่ง</a:t>
                      </a:r>
                      <a:endParaRPr sz="12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54875" marB="54875" marR="54875" marL="54875" anchor="ctr">
                    <a:lnL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200"/>
                        <a:buFont typeface="Tahoma"/>
                        <a:buNone/>
                      </a:pPr>
                      <a:r>
                        <a:rPr lang="en-US" sz="1200" u="none" cap="none" strike="noStrike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เร็วมาก</a:t>
                      </a:r>
                      <a:endParaRPr sz="12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54875" marB="54875" marR="54875" marL="54875" anchor="ctr">
                    <a:lnL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3F6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54875" marB="54875" marR="54875" marL="54875" anchor="ctr">
                    <a:lnL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200"/>
                        <a:buFont typeface="Tahoma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Diffusion</a:t>
                      </a:r>
                      <a:endParaRPr sz="12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54875" marB="54875" marR="54875" marL="54875" anchor="ctr">
                    <a:lnL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200"/>
                        <a:buFont typeface="Tahoma"/>
                        <a:buNone/>
                      </a:pPr>
                      <a:r>
                        <a:rPr lang="en-US" sz="1200" u="none" cap="none" strike="noStrike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คมมาก</a:t>
                      </a:r>
                      <a:endParaRPr sz="12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54875" marB="54875" marR="54875" marL="54875" anchor="ctr">
                    <a:lnL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200"/>
                        <a:buFont typeface="Tahoma"/>
                        <a:buNone/>
                      </a:pPr>
                      <a:r>
                        <a:rPr lang="en-US" sz="1200" u="none" cap="none" strike="noStrike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ดี</a:t>
                      </a:r>
                      <a:endParaRPr sz="12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54875" marB="54875" marR="54875" marL="54875" anchor="ctr">
                    <a:lnL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200"/>
                        <a:buFont typeface="Tahoma"/>
                        <a:buNone/>
                      </a:pPr>
                      <a:r>
                        <a:rPr lang="en-US" sz="1200" u="none" cap="none" strike="noStrike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ง่าย</a:t>
                      </a:r>
                      <a:endParaRPr sz="12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54875" marB="54875" marR="54875" marL="54875" anchor="ctr">
                    <a:lnL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200"/>
                        <a:buFont typeface="Tahoma"/>
                        <a:buNone/>
                      </a:pPr>
                      <a:r>
                        <a:rPr lang="en-US" sz="1200" u="none" cap="none" strike="noStrike">
                          <a:solidFill>
                            <a:srgbClr val="1F2937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ช้า (แก้ได้)</a:t>
                      </a:r>
                      <a:endParaRPr sz="12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54875" marB="54875" marR="54875" marL="54875" anchor="ctr">
                    <a:lnL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descr="/home/claude/week4/slides/fig/t_row_ar.png" id="266" name="Google Shape;26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2383" y="1700784"/>
            <a:ext cx="981234" cy="475488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13"/>
          <p:cNvSpPr/>
          <p:nvPr/>
        </p:nvSpPr>
        <p:spPr>
          <a:xfrm>
            <a:off x="652383" y="1700784"/>
            <a:ext cx="981234" cy="475488"/>
          </a:xfrm>
          <a:prstGeom prst="rect">
            <a:avLst/>
          </a:prstGeom>
          <a:noFill/>
          <a:ln cap="flat" cmpd="sng" w="9525">
            <a:solidFill>
              <a:srgbClr val="D9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week4/slides/fig/t_row_vae.png" id="268" name="Google Shape;268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2383" y="2249424"/>
            <a:ext cx="981234" cy="475488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13"/>
          <p:cNvSpPr/>
          <p:nvPr/>
        </p:nvSpPr>
        <p:spPr>
          <a:xfrm>
            <a:off x="652383" y="2249424"/>
            <a:ext cx="981234" cy="475488"/>
          </a:xfrm>
          <a:prstGeom prst="rect">
            <a:avLst/>
          </a:prstGeom>
          <a:noFill/>
          <a:ln cap="flat" cmpd="sng" w="9525">
            <a:solidFill>
              <a:srgbClr val="D9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week4/slides/fig/t_row_gan.png" id="270" name="Google Shape;270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2383" y="2798064"/>
            <a:ext cx="981234" cy="475488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13"/>
          <p:cNvSpPr/>
          <p:nvPr/>
        </p:nvSpPr>
        <p:spPr>
          <a:xfrm>
            <a:off x="652383" y="2798064"/>
            <a:ext cx="981234" cy="475488"/>
          </a:xfrm>
          <a:prstGeom prst="rect">
            <a:avLst/>
          </a:prstGeom>
          <a:noFill/>
          <a:ln cap="flat" cmpd="sng" w="9525">
            <a:solidFill>
              <a:srgbClr val="D9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week4/slides/fig/t_row_dm.png" id="272" name="Google Shape;272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2383" y="3346704"/>
            <a:ext cx="981234" cy="475488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13"/>
          <p:cNvSpPr/>
          <p:nvPr/>
        </p:nvSpPr>
        <p:spPr>
          <a:xfrm>
            <a:off x="652383" y="3346704"/>
            <a:ext cx="981234" cy="475488"/>
          </a:xfrm>
          <a:prstGeom prst="rect">
            <a:avLst/>
          </a:prstGeom>
          <a:noFill/>
          <a:ln cap="flat" cmpd="sng" w="9525">
            <a:solidFill>
              <a:srgbClr val="D9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3"/>
          <p:cNvSpPr txBox="1"/>
          <p:nvPr/>
        </p:nvSpPr>
        <p:spPr>
          <a:xfrm>
            <a:off x="457200" y="3904488"/>
            <a:ext cx="82296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A"/>
              </a:buClr>
              <a:buSzPts val="900"/>
              <a:buFont typeface="Tahoma"/>
              <a:buNone/>
            </a:pPr>
            <a:r>
              <a:rPr b="0" i="0" lang="en-US" sz="900" u="none" cap="none" strike="noStrike">
                <a:solidFill>
                  <a:srgbClr val="5F6B7A"/>
                </a:solidFill>
                <a:latin typeface="Tahoma"/>
                <a:ea typeface="Tahoma"/>
                <a:cs typeface="Tahoma"/>
                <a:sym typeface="Tahoma"/>
              </a:rPr>
              <a:t>*ภาพคอลัมน์ซ้ายทุกภาพเป็นภาพที่โมเดลสร้าง ไม่ใช่ภาพถ่าย (ต่างปี ต่างชุดข้อมูล: PixelRNN 2016 · VAE หน้าคน · DCGAN 2015 · SD + ControlNet 2023)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3"/>
          <p:cNvSpPr/>
          <p:nvPr/>
        </p:nvSpPr>
        <p:spPr>
          <a:xfrm>
            <a:off x="457200" y="4178808"/>
            <a:ext cx="8229600" cy="338328"/>
          </a:xfrm>
          <a:prstGeom prst="roundRect">
            <a:avLst>
              <a:gd fmla="val 21622" name="adj"/>
            </a:avLst>
          </a:prstGeom>
          <a:solidFill>
            <a:srgbClr val="DDF1EA"/>
          </a:solidFill>
          <a:ln cap="flat" cmpd="sng" w="12700">
            <a:solidFill>
              <a:srgbClr val="DDF1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3"/>
          <p:cNvSpPr/>
          <p:nvPr/>
        </p:nvSpPr>
        <p:spPr>
          <a:xfrm>
            <a:off x="621792" y="4265676"/>
            <a:ext cx="164592" cy="164592"/>
          </a:xfrm>
          <a:prstGeom prst="ellipse">
            <a:avLst/>
          </a:prstGeom>
          <a:solidFill>
            <a:srgbClr val="1D6F5B"/>
          </a:solidFill>
          <a:ln cap="flat" cmpd="sng" w="12700">
            <a:solidFill>
              <a:srgbClr val="1D6F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13"/>
          <p:cNvSpPr txBox="1"/>
          <p:nvPr/>
        </p:nvSpPr>
        <p:spPr>
          <a:xfrm>
            <a:off x="914400" y="4178808"/>
            <a:ext cx="7635240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33"/>
              </a:buClr>
              <a:buSzPts val="1300"/>
              <a:buFont typeface="Tahoma"/>
              <a:buNone/>
            </a:pPr>
            <a:r>
              <a:rPr b="0" i="0" lang="en-US" sz="1300" u="none" cap="none" strike="noStrike">
                <a:solidFill>
                  <a:srgbClr val="1E2733"/>
                </a:solidFill>
                <a:latin typeface="Tahoma"/>
                <a:ea typeface="Tahoma"/>
                <a:cs typeface="Tahoma"/>
                <a:sym typeface="Tahoma"/>
              </a:rPr>
              <a:t>วันนี้จะเห็นทุกช่องในตารางนี้ด้วยตาตัวเองจากแล็บ — จำไว้แล้วกลับมาเช็กตอนบ่าย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3"/>
          <p:cNvSpPr txBox="1"/>
          <p:nvPr/>
        </p:nvSpPr>
        <p:spPr>
          <a:xfrm>
            <a:off x="457200" y="4576572"/>
            <a:ext cx="78638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4A2"/>
              </a:buClr>
              <a:buSzPts val="800"/>
              <a:buFont typeface="Tahoma"/>
              <a:buNone/>
            </a:pPr>
            <a:r>
              <a:rPr b="0" i="1" lang="en-US" sz="800" u="none" cap="none" strike="noStrike">
                <a:solidFill>
                  <a:srgbClr val="8A94A2"/>
                </a:solidFill>
                <a:latin typeface="Tahoma"/>
                <a:ea typeface="Tahoma"/>
                <a:cs typeface="Tahoma"/>
                <a:sym typeface="Tahoma"/>
              </a:rPr>
              <a:t>ภาพ: Siyu Zhu (Fudan) Lecture 2 หน้า 35, 81 · Lecture 3 หน้า 33 (ต้นฉบับ Stanford University 2024) · Lecture 4&amp;5 หน้า 52 (ControlNet, Zhang et al. 2023)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F3864"/>
        </a:solidFill>
      </p:bgPr>
    </p:bg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4"/>
          <p:cNvSpPr txBox="1"/>
          <p:nvPr/>
        </p:nvSpPr>
        <p:spPr>
          <a:xfrm>
            <a:off x="6766560" y="1280160"/>
            <a:ext cx="2194560" cy="3108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7406F"/>
              </a:buClr>
              <a:buSzPts val="17000"/>
              <a:buFont typeface="Tahoma"/>
              <a:buNone/>
            </a:pPr>
            <a:r>
              <a:rPr b="1" i="0" lang="en-US" sz="17000" u="none" cap="none" strike="noStrike">
                <a:solidFill>
                  <a:srgbClr val="27406F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endParaRPr b="0" i="0" sz="17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4"/>
          <p:cNvSpPr txBox="1"/>
          <p:nvPr/>
        </p:nvSpPr>
        <p:spPr>
          <a:xfrm>
            <a:off x="640080" y="118872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DB8D9"/>
              </a:buClr>
              <a:buSzPts val="1500"/>
              <a:buFont typeface="Tahoma"/>
              <a:buNone/>
            </a:pPr>
            <a:r>
              <a:rPr b="1" i="0" lang="en-US" sz="1500" u="none" cap="none" strike="noStrike">
                <a:solidFill>
                  <a:srgbClr val="9DB8D9"/>
                </a:solidFill>
                <a:latin typeface="Tahoma"/>
                <a:ea typeface="Tahoma"/>
                <a:cs typeface="Tahoma"/>
                <a:sym typeface="Tahoma"/>
              </a:rPr>
              <a:t>ส่วนที่ 2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4"/>
          <p:cNvSpPr txBox="1"/>
          <p:nvPr/>
        </p:nvSpPr>
        <p:spPr>
          <a:xfrm>
            <a:off x="640080" y="1645920"/>
            <a:ext cx="62179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4"/>
          <p:cNvSpPr/>
          <p:nvPr/>
        </p:nvSpPr>
        <p:spPr>
          <a:xfrm>
            <a:off x="5394960" y="1005840"/>
            <a:ext cx="3657600" cy="3657600"/>
          </a:xfrm>
          <a:prstGeom prst="rect">
            <a:avLst/>
          </a:prstGeom>
          <a:solidFill>
            <a:srgbClr val="1F3864"/>
          </a:solidFill>
          <a:ln cap="flat" cmpd="sng" w="12700">
            <a:solidFill>
              <a:srgbClr val="1F38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4"/>
          <p:cNvSpPr txBox="1"/>
          <p:nvPr/>
        </p:nvSpPr>
        <p:spPr>
          <a:xfrm>
            <a:off x="640080" y="1645920"/>
            <a:ext cx="46634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Tahoma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VAE — บีบภาพเป็นรหัสสั้น ๆ แล้วคลายกลับ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4"/>
          <p:cNvSpPr txBox="1"/>
          <p:nvPr/>
        </p:nvSpPr>
        <p:spPr>
          <a:xfrm>
            <a:off x="640080" y="2926080"/>
            <a:ext cx="466344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Tahoma"/>
              <a:buNone/>
            </a:pPr>
            <a:r>
              <a:rPr b="0" i="0" lang="en-US" sz="1300" u="none" cap="none" strike="noStrike">
                <a:solidFill>
                  <a:srgbClr val="CADCFC"/>
                </a:solidFill>
                <a:latin typeface="Tahoma"/>
                <a:ea typeface="Tahoma"/>
                <a:cs typeface="Tahoma"/>
                <a:sym typeface="Tahoma"/>
              </a:rPr>
              <a:t>Autoencoder · ทำไมต้อง 'variational' · ทำไมภาพเบลอ · VQ-VAE และ 'vocab ของภาพ'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week4/slides/fig/use/e_L2_78_0.png" id="290" name="Google Shape;29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77840" y="2050140"/>
            <a:ext cx="3200400" cy="1386119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14"/>
          <p:cNvSpPr/>
          <p:nvPr/>
        </p:nvSpPr>
        <p:spPr>
          <a:xfrm>
            <a:off x="5577840" y="2050140"/>
            <a:ext cx="3200400" cy="1386119"/>
          </a:xfrm>
          <a:prstGeom prst="rect">
            <a:avLst/>
          </a:prstGeom>
          <a:noFill/>
          <a:ln cap="flat" cmpd="sng" w="9525">
            <a:solidFill>
              <a:srgbClr val="D9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14"/>
          <p:cNvSpPr txBox="1"/>
          <p:nvPr/>
        </p:nvSpPr>
        <p:spPr>
          <a:xfrm>
            <a:off x="457200" y="4576572"/>
            <a:ext cx="78638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DB8D9"/>
              </a:buClr>
              <a:buSzPts val="800"/>
              <a:buFont typeface="Tahoma"/>
              <a:buNone/>
            </a:pPr>
            <a:r>
              <a:rPr b="0" i="1" lang="en-US" sz="800" u="none" cap="none" strike="noStrike">
                <a:solidFill>
                  <a:srgbClr val="9DB8D9"/>
                </a:solidFill>
                <a:latin typeface="Tahoma"/>
                <a:ea typeface="Tahoma"/>
                <a:cs typeface="Tahoma"/>
                <a:sym typeface="Tahoma"/>
              </a:rPr>
              <a:t>ภาพ: Siyu Zhu (Fudan) Lecture 2 หน้า 78 · ต้นฉบับ Stanford University 2024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5"/>
          <p:cNvSpPr txBox="1"/>
          <p:nvPr/>
        </p:nvSpPr>
        <p:spPr>
          <a:xfrm>
            <a:off x="457200" y="4814316"/>
            <a:ext cx="5486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3AE"/>
              </a:buClr>
              <a:buSzPts val="900"/>
              <a:buFont typeface="Tahoma"/>
              <a:buNone/>
            </a:pPr>
            <a:r>
              <a:rPr b="0" i="0" lang="en-US" sz="900" u="none" cap="none" strike="noStrike">
                <a:solidFill>
                  <a:srgbClr val="9AA3AE"/>
                </a:solidFill>
                <a:latin typeface="Tahoma"/>
                <a:ea typeface="Tahoma"/>
                <a:cs typeface="Tahoma"/>
                <a:sym typeface="Tahoma"/>
              </a:rPr>
              <a:t>LLM &amp; Agentic AI · สัปดาห์ 4 · ช่วงเช้า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5"/>
          <p:cNvSpPr/>
          <p:nvPr/>
        </p:nvSpPr>
        <p:spPr>
          <a:xfrm>
            <a:off x="8357616" y="4759452"/>
            <a:ext cx="329184" cy="329184"/>
          </a:xfrm>
          <a:prstGeom prst="ellipse">
            <a:avLst/>
          </a:prstGeom>
          <a:solidFill>
            <a:srgbClr val="1F3864"/>
          </a:solidFill>
          <a:ln cap="flat" cmpd="sng" w="12700">
            <a:solidFill>
              <a:srgbClr val="1F38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15"/>
          <p:cNvSpPr txBox="1"/>
          <p:nvPr/>
        </p:nvSpPr>
        <p:spPr>
          <a:xfrm>
            <a:off x="8357616" y="4759452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Tahoma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15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5"/>
          <p:cNvSpPr/>
          <p:nvPr/>
        </p:nvSpPr>
        <p:spPr>
          <a:xfrm>
            <a:off x="457200" y="256032"/>
            <a:ext cx="836676" cy="274320"/>
          </a:xfrm>
          <a:prstGeom prst="roundRect">
            <a:avLst>
              <a:gd fmla="val 50000" name="adj"/>
            </a:avLst>
          </a:prstGeom>
          <a:solidFill>
            <a:srgbClr val="DDF1EA"/>
          </a:solidFill>
          <a:ln cap="flat" cmpd="sng" w="12700">
            <a:solidFill>
              <a:srgbClr val="DDF1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15"/>
          <p:cNvSpPr txBox="1"/>
          <p:nvPr/>
        </p:nvSpPr>
        <p:spPr>
          <a:xfrm>
            <a:off x="457200" y="256032"/>
            <a:ext cx="83667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6F5B"/>
              </a:buClr>
              <a:buSzPts val="1000"/>
              <a:buFont typeface="Tahoma"/>
              <a:buNone/>
            </a:pPr>
            <a:r>
              <a:rPr b="1" i="0" lang="en-US" sz="1000" u="none" cap="none" strike="noStrike">
                <a:solidFill>
                  <a:srgbClr val="1D6F5B"/>
                </a:solidFill>
                <a:latin typeface="Tahoma"/>
                <a:ea typeface="Tahoma"/>
                <a:cs typeface="Tahoma"/>
                <a:sym typeface="Tahoma"/>
              </a:rPr>
              <a:t>2 · VAE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5"/>
          <p:cNvSpPr txBox="1"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2400"/>
              <a:buFont typeface="Tahoma"/>
              <a:buNone/>
            </a:pPr>
            <a:r>
              <a:rPr b="1" i="0" lang="en-US" sz="2400" u="none" cap="none" strike="noStrike">
                <a:solidFill>
                  <a:srgbClr val="1F3864"/>
                </a:solidFill>
                <a:latin typeface="Tahoma"/>
                <a:ea typeface="Tahoma"/>
                <a:cs typeface="Tahoma"/>
                <a:sym typeface="Tahoma"/>
              </a:rPr>
              <a:t>Autoencoder: บีบแล้วคลาย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week4/slides/fig/f_autoencoder.png" id="304" name="Google Shape;30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14681" y="1298448"/>
            <a:ext cx="5714638" cy="2148840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15"/>
          <p:cNvSpPr/>
          <p:nvPr/>
        </p:nvSpPr>
        <p:spPr>
          <a:xfrm>
            <a:off x="457200" y="3630168"/>
            <a:ext cx="2621280" cy="1056132"/>
          </a:xfrm>
          <a:prstGeom prst="roundRect">
            <a:avLst>
              <a:gd fmla="val 6926" name="adj"/>
            </a:avLst>
          </a:prstGeom>
          <a:solidFill>
            <a:srgbClr val="E4ECF7"/>
          </a:solidFill>
          <a:ln cap="flat" cmpd="sng" w="12700">
            <a:solidFill>
              <a:srgbClr val="E4EC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15"/>
          <p:cNvSpPr/>
          <p:nvPr/>
        </p:nvSpPr>
        <p:spPr>
          <a:xfrm>
            <a:off x="585216" y="3758184"/>
            <a:ext cx="201168" cy="201168"/>
          </a:xfrm>
          <a:prstGeom prst="ellipse">
            <a:avLst/>
          </a:prstGeom>
          <a:solidFill>
            <a:srgbClr val="1F3864"/>
          </a:solidFill>
          <a:ln cap="flat" cmpd="sng" w="12700">
            <a:solidFill>
              <a:srgbClr val="1F38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15"/>
          <p:cNvSpPr txBox="1"/>
          <p:nvPr/>
        </p:nvSpPr>
        <p:spPr>
          <a:xfrm>
            <a:off x="868680" y="3703320"/>
            <a:ext cx="2072640" cy="9098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33"/>
              </a:buClr>
              <a:buSzPts val="1200"/>
              <a:buFont typeface="Tahoma"/>
              <a:buNone/>
            </a:pPr>
            <a:r>
              <a:rPr b="0" i="0" lang="en-US" sz="1200" u="none" cap="none" strike="noStrike">
                <a:solidFill>
                  <a:srgbClr val="1E2733"/>
                </a:solidFill>
                <a:latin typeface="Tahoma"/>
                <a:ea typeface="Tahoma"/>
                <a:cs typeface="Tahoma"/>
                <a:sym typeface="Tahoma"/>
              </a:rPr>
              <a:t>Encoder = CNN สัปดาห์ 1 ที่ตัดชั้น classifier ออก แล้วให้ออก 'รหัส z' สั้น ๆ (16 ตัวเลข)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5"/>
          <p:cNvSpPr/>
          <p:nvPr/>
        </p:nvSpPr>
        <p:spPr>
          <a:xfrm>
            <a:off x="3261360" y="3630168"/>
            <a:ext cx="2621280" cy="1056132"/>
          </a:xfrm>
          <a:prstGeom prst="roundRect">
            <a:avLst>
              <a:gd fmla="val 6926" name="adj"/>
            </a:avLst>
          </a:prstGeom>
          <a:solidFill>
            <a:srgbClr val="DDF1EA"/>
          </a:solidFill>
          <a:ln cap="flat" cmpd="sng" w="12700">
            <a:solidFill>
              <a:srgbClr val="DDF1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15"/>
          <p:cNvSpPr/>
          <p:nvPr/>
        </p:nvSpPr>
        <p:spPr>
          <a:xfrm>
            <a:off x="3389376" y="3758184"/>
            <a:ext cx="201168" cy="201168"/>
          </a:xfrm>
          <a:prstGeom prst="ellipse">
            <a:avLst/>
          </a:prstGeom>
          <a:solidFill>
            <a:srgbClr val="1D6F5B"/>
          </a:solidFill>
          <a:ln cap="flat" cmpd="sng" w="12700">
            <a:solidFill>
              <a:srgbClr val="1D6F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15"/>
          <p:cNvSpPr txBox="1"/>
          <p:nvPr/>
        </p:nvSpPr>
        <p:spPr>
          <a:xfrm>
            <a:off x="3672840" y="3703320"/>
            <a:ext cx="2072640" cy="9098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33"/>
              </a:buClr>
              <a:buSzPts val="1200"/>
              <a:buFont typeface="Tahoma"/>
              <a:buNone/>
            </a:pPr>
            <a:r>
              <a:rPr b="0" i="0" lang="en-US" sz="1200" u="none" cap="none" strike="noStrike">
                <a:solidFill>
                  <a:srgbClr val="1E2733"/>
                </a:solidFill>
                <a:latin typeface="Tahoma"/>
                <a:ea typeface="Tahoma"/>
                <a:cs typeface="Tahoma"/>
                <a:sym typeface="Tahoma"/>
              </a:rPr>
              <a:t>Decoder = CNN กลับทิศ: ขยายรหัส 16 ตัวกลับเป็นภาพ 768 ตัวเลข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5"/>
          <p:cNvSpPr/>
          <p:nvPr/>
        </p:nvSpPr>
        <p:spPr>
          <a:xfrm>
            <a:off x="6065520" y="3630168"/>
            <a:ext cx="2621280" cy="1056132"/>
          </a:xfrm>
          <a:prstGeom prst="roundRect">
            <a:avLst>
              <a:gd fmla="val 6926" name="adj"/>
            </a:avLst>
          </a:prstGeom>
          <a:solidFill>
            <a:srgbClr val="FCF0D9"/>
          </a:solidFill>
          <a:ln cap="flat" cmpd="sng" w="12700">
            <a:solidFill>
              <a:srgbClr val="FCF0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15"/>
          <p:cNvSpPr/>
          <p:nvPr/>
        </p:nvSpPr>
        <p:spPr>
          <a:xfrm>
            <a:off x="6193536" y="3758184"/>
            <a:ext cx="201168" cy="201168"/>
          </a:xfrm>
          <a:prstGeom prst="ellipse">
            <a:avLst/>
          </a:prstGeom>
          <a:solidFill>
            <a:srgbClr val="B7791F"/>
          </a:solidFill>
          <a:ln cap="flat" cmpd="sng" w="12700">
            <a:solidFill>
              <a:srgbClr val="B779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15"/>
          <p:cNvSpPr txBox="1"/>
          <p:nvPr/>
        </p:nvSpPr>
        <p:spPr>
          <a:xfrm>
            <a:off x="6477000" y="3703320"/>
            <a:ext cx="2072640" cy="9098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33"/>
              </a:buClr>
              <a:buSzPts val="1200"/>
              <a:buFont typeface="Tahoma"/>
              <a:buNone/>
            </a:pPr>
            <a:r>
              <a:rPr b="0" i="0" lang="en-US" sz="1200" u="none" cap="none" strike="noStrike">
                <a:solidFill>
                  <a:srgbClr val="1E2733"/>
                </a:solidFill>
                <a:latin typeface="Tahoma"/>
                <a:ea typeface="Tahoma"/>
                <a:cs typeface="Tahoma"/>
                <a:sym typeface="Tahoma"/>
              </a:rPr>
              <a:t>loss = ภาพออกต่างจากภาพเข้าแค่ไหน (MSE) — ไม่ต้องมีป้ายกำกับเลย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6"/>
          <p:cNvSpPr txBox="1"/>
          <p:nvPr/>
        </p:nvSpPr>
        <p:spPr>
          <a:xfrm>
            <a:off x="457200" y="4814316"/>
            <a:ext cx="5486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3AE"/>
              </a:buClr>
              <a:buSzPts val="900"/>
              <a:buFont typeface="Tahoma"/>
              <a:buNone/>
            </a:pPr>
            <a:r>
              <a:rPr b="0" i="0" lang="en-US" sz="900" u="none" cap="none" strike="noStrike">
                <a:solidFill>
                  <a:srgbClr val="9AA3AE"/>
                </a:solidFill>
                <a:latin typeface="Tahoma"/>
                <a:ea typeface="Tahoma"/>
                <a:cs typeface="Tahoma"/>
                <a:sym typeface="Tahoma"/>
              </a:rPr>
              <a:t>LLM &amp; Agentic AI · สัปดาห์ 4 · ช่วงเช้า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6"/>
          <p:cNvSpPr/>
          <p:nvPr/>
        </p:nvSpPr>
        <p:spPr>
          <a:xfrm>
            <a:off x="8357616" y="4759452"/>
            <a:ext cx="329184" cy="329184"/>
          </a:xfrm>
          <a:prstGeom prst="ellipse">
            <a:avLst/>
          </a:prstGeom>
          <a:solidFill>
            <a:srgbClr val="1F3864"/>
          </a:solidFill>
          <a:ln cap="flat" cmpd="sng" w="12700">
            <a:solidFill>
              <a:srgbClr val="1F38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16"/>
          <p:cNvSpPr txBox="1"/>
          <p:nvPr/>
        </p:nvSpPr>
        <p:spPr>
          <a:xfrm>
            <a:off x="8357616" y="4759452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Tahoma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16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6"/>
          <p:cNvSpPr/>
          <p:nvPr/>
        </p:nvSpPr>
        <p:spPr>
          <a:xfrm>
            <a:off x="457200" y="256032"/>
            <a:ext cx="836676" cy="274320"/>
          </a:xfrm>
          <a:prstGeom prst="roundRect">
            <a:avLst>
              <a:gd fmla="val 50000" name="adj"/>
            </a:avLst>
          </a:prstGeom>
          <a:solidFill>
            <a:srgbClr val="DDF1EA"/>
          </a:solidFill>
          <a:ln cap="flat" cmpd="sng" w="12700">
            <a:solidFill>
              <a:srgbClr val="DDF1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16"/>
          <p:cNvSpPr txBox="1"/>
          <p:nvPr/>
        </p:nvSpPr>
        <p:spPr>
          <a:xfrm>
            <a:off x="457200" y="256032"/>
            <a:ext cx="83667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6F5B"/>
              </a:buClr>
              <a:buSzPts val="1000"/>
              <a:buFont typeface="Tahoma"/>
              <a:buNone/>
            </a:pPr>
            <a:r>
              <a:rPr b="1" i="0" lang="en-US" sz="1000" u="none" cap="none" strike="noStrike">
                <a:solidFill>
                  <a:srgbClr val="1D6F5B"/>
                </a:solidFill>
                <a:latin typeface="Tahoma"/>
                <a:ea typeface="Tahoma"/>
                <a:cs typeface="Tahoma"/>
                <a:sym typeface="Tahoma"/>
              </a:rPr>
              <a:t>2 · VAE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6"/>
          <p:cNvSpPr txBox="1"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2400"/>
              <a:buFont typeface="Tahoma"/>
              <a:buNone/>
            </a:pPr>
            <a:r>
              <a:rPr b="1" i="0" lang="en-US" sz="2400" u="none" cap="none" strike="noStrike">
                <a:solidFill>
                  <a:srgbClr val="1F3864"/>
                </a:solidFill>
                <a:latin typeface="Tahoma"/>
                <a:ea typeface="Tahoma"/>
                <a:cs typeface="Tahoma"/>
                <a:sym typeface="Tahoma"/>
              </a:rPr>
              <a:t>Autoencoder ของจริง: ภาพจริง vs ภาพที่คลายกลับ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week4/slides/fig/use/e_L2_42_1.png" id="325" name="Google Shape;32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6366" y="1298448"/>
            <a:ext cx="2945027" cy="2011680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16"/>
          <p:cNvSpPr/>
          <p:nvPr/>
        </p:nvSpPr>
        <p:spPr>
          <a:xfrm>
            <a:off x="996366" y="1298448"/>
            <a:ext cx="2945027" cy="2011680"/>
          </a:xfrm>
          <a:prstGeom prst="rect">
            <a:avLst/>
          </a:prstGeom>
          <a:noFill/>
          <a:ln cap="flat" cmpd="sng" w="9525">
            <a:solidFill>
              <a:srgbClr val="D9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week4/slides/fig/use/e_L2_42_0.png" id="327" name="Google Shape;327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36178" y="1298448"/>
            <a:ext cx="1077884" cy="2011680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16"/>
          <p:cNvSpPr/>
          <p:nvPr/>
        </p:nvSpPr>
        <p:spPr>
          <a:xfrm>
            <a:off x="6136178" y="1298448"/>
            <a:ext cx="1077884" cy="2011680"/>
          </a:xfrm>
          <a:prstGeom prst="rect">
            <a:avLst/>
          </a:prstGeom>
          <a:noFill/>
          <a:ln cap="flat" cmpd="sng" w="9525">
            <a:solidFill>
              <a:srgbClr val="D9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16"/>
          <p:cNvSpPr/>
          <p:nvPr/>
        </p:nvSpPr>
        <p:spPr>
          <a:xfrm>
            <a:off x="457200" y="3447288"/>
            <a:ext cx="1933956" cy="1051560"/>
          </a:xfrm>
          <a:prstGeom prst="roundRect">
            <a:avLst>
              <a:gd fmla="val 6957" name="adj"/>
            </a:avLst>
          </a:prstGeom>
          <a:solidFill>
            <a:srgbClr val="E4ECF7"/>
          </a:solidFill>
          <a:ln cap="flat" cmpd="sng" w="12700">
            <a:solidFill>
              <a:srgbClr val="E4EC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16"/>
          <p:cNvSpPr/>
          <p:nvPr/>
        </p:nvSpPr>
        <p:spPr>
          <a:xfrm>
            <a:off x="585216" y="3575304"/>
            <a:ext cx="201168" cy="201168"/>
          </a:xfrm>
          <a:prstGeom prst="ellipse">
            <a:avLst/>
          </a:prstGeom>
          <a:solidFill>
            <a:srgbClr val="1F3864"/>
          </a:solidFill>
          <a:ln cap="flat" cmpd="sng" w="12700">
            <a:solidFill>
              <a:srgbClr val="1F38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16"/>
          <p:cNvSpPr txBox="1"/>
          <p:nvPr/>
        </p:nvSpPr>
        <p:spPr>
          <a:xfrm>
            <a:off x="868680" y="3520440"/>
            <a:ext cx="1385316" cy="9052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33"/>
              </a:buClr>
              <a:buSzPts val="1200"/>
              <a:buFont typeface="Tahoma"/>
              <a:buNone/>
            </a:pPr>
            <a:r>
              <a:rPr b="0" i="0" lang="en-US" sz="1200" u="none" cap="none" strike="noStrike">
                <a:solidFill>
                  <a:srgbClr val="1E2733"/>
                </a:solidFill>
                <a:latin typeface="Tahoma"/>
                <a:ea typeface="Tahoma"/>
                <a:cs typeface="Tahoma"/>
                <a:sym typeface="Tahoma"/>
              </a:rPr>
              <a:t>ซ้าย: x → Encoder → z (features) → Decoder → x̂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6"/>
          <p:cNvSpPr/>
          <p:nvPr/>
        </p:nvSpPr>
        <p:spPr>
          <a:xfrm>
            <a:off x="2555748" y="3447288"/>
            <a:ext cx="1933956" cy="1051560"/>
          </a:xfrm>
          <a:prstGeom prst="roundRect">
            <a:avLst>
              <a:gd fmla="val 6957" name="adj"/>
            </a:avLst>
          </a:prstGeom>
          <a:solidFill>
            <a:srgbClr val="DDF1EA"/>
          </a:solidFill>
          <a:ln cap="flat" cmpd="sng" w="12700">
            <a:solidFill>
              <a:srgbClr val="DDF1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16"/>
          <p:cNvSpPr/>
          <p:nvPr/>
        </p:nvSpPr>
        <p:spPr>
          <a:xfrm>
            <a:off x="2683764" y="3575304"/>
            <a:ext cx="201168" cy="201168"/>
          </a:xfrm>
          <a:prstGeom prst="ellipse">
            <a:avLst/>
          </a:prstGeom>
          <a:solidFill>
            <a:srgbClr val="1D6F5B"/>
          </a:solidFill>
          <a:ln cap="flat" cmpd="sng" w="12700">
            <a:solidFill>
              <a:srgbClr val="1D6F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16"/>
          <p:cNvSpPr txBox="1"/>
          <p:nvPr/>
        </p:nvSpPr>
        <p:spPr>
          <a:xfrm>
            <a:off x="2967228" y="3520440"/>
            <a:ext cx="1385316" cy="9052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33"/>
              </a:buClr>
              <a:buSzPts val="1200"/>
              <a:buFont typeface="Tahoma"/>
              <a:buNone/>
            </a:pPr>
            <a:r>
              <a:rPr b="0" i="0" lang="en-US" sz="1200" u="none" cap="none" strike="noStrike">
                <a:solidFill>
                  <a:srgbClr val="1E2733"/>
                </a:solidFill>
                <a:latin typeface="Tahoma"/>
                <a:ea typeface="Tahoma"/>
                <a:cs typeface="Tahoma"/>
                <a:sym typeface="Tahoma"/>
              </a:rPr>
              <a:t>ขวา: ล่าง = ภาพจริง CIFAR-10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6"/>
          <p:cNvSpPr/>
          <p:nvPr/>
        </p:nvSpPr>
        <p:spPr>
          <a:xfrm>
            <a:off x="4654296" y="3447288"/>
            <a:ext cx="1933956" cy="1051560"/>
          </a:xfrm>
          <a:prstGeom prst="roundRect">
            <a:avLst>
              <a:gd fmla="val 6957" name="adj"/>
            </a:avLst>
          </a:prstGeom>
          <a:solidFill>
            <a:srgbClr val="FCF0D9"/>
          </a:solidFill>
          <a:ln cap="flat" cmpd="sng" w="12700">
            <a:solidFill>
              <a:srgbClr val="FCF0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16"/>
          <p:cNvSpPr/>
          <p:nvPr/>
        </p:nvSpPr>
        <p:spPr>
          <a:xfrm>
            <a:off x="4782312" y="3575304"/>
            <a:ext cx="201168" cy="201168"/>
          </a:xfrm>
          <a:prstGeom prst="ellipse">
            <a:avLst/>
          </a:prstGeom>
          <a:solidFill>
            <a:srgbClr val="B7791F"/>
          </a:solidFill>
          <a:ln cap="flat" cmpd="sng" w="12700">
            <a:solidFill>
              <a:srgbClr val="B779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16"/>
          <p:cNvSpPr txBox="1"/>
          <p:nvPr/>
        </p:nvSpPr>
        <p:spPr>
          <a:xfrm>
            <a:off x="5065776" y="3520440"/>
            <a:ext cx="1385316" cy="9052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33"/>
              </a:buClr>
              <a:buSzPts val="1200"/>
              <a:buFont typeface="Tahoma"/>
              <a:buNone/>
            </a:pPr>
            <a:r>
              <a:rPr b="0" i="0" lang="en-US" sz="1200" u="none" cap="none" strike="noStrike">
                <a:solidFill>
                  <a:srgbClr val="1E2733"/>
                </a:solidFill>
                <a:latin typeface="Tahoma"/>
                <a:ea typeface="Tahoma"/>
                <a:cs typeface="Tahoma"/>
                <a:sym typeface="Tahoma"/>
              </a:rPr>
              <a:t>บน = ภาพที่คลายกลับจาก z (encoder/decoder อย่างละ 4 ชั้น)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6"/>
          <p:cNvSpPr/>
          <p:nvPr/>
        </p:nvSpPr>
        <p:spPr>
          <a:xfrm>
            <a:off x="6752844" y="3447288"/>
            <a:ext cx="1933956" cy="1051560"/>
          </a:xfrm>
          <a:prstGeom prst="roundRect">
            <a:avLst>
              <a:gd fmla="val 6957" name="adj"/>
            </a:avLst>
          </a:prstGeom>
          <a:solidFill>
            <a:srgbClr val="F1F3F6"/>
          </a:solidFill>
          <a:ln cap="flat" cmpd="sng" w="12700">
            <a:solidFill>
              <a:srgbClr val="F1F3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16"/>
          <p:cNvSpPr/>
          <p:nvPr/>
        </p:nvSpPr>
        <p:spPr>
          <a:xfrm>
            <a:off x="6880860" y="3575304"/>
            <a:ext cx="201168" cy="201168"/>
          </a:xfrm>
          <a:prstGeom prst="ellipse">
            <a:avLst/>
          </a:prstGeom>
          <a:solidFill>
            <a:srgbClr val="5F6B7A"/>
          </a:solidFill>
          <a:ln cap="flat" cmpd="sng" w="12700">
            <a:solidFill>
              <a:srgbClr val="5F6B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16"/>
          <p:cNvSpPr txBox="1"/>
          <p:nvPr/>
        </p:nvSpPr>
        <p:spPr>
          <a:xfrm>
            <a:off x="7164324" y="3520440"/>
            <a:ext cx="1385316" cy="9052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33"/>
              </a:buClr>
              <a:buSzPts val="1200"/>
              <a:buFont typeface="Tahoma"/>
              <a:buNone/>
            </a:pPr>
            <a:r>
              <a:rPr b="0" i="0" lang="en-US" sz="1200" u="none" cap="none" strike="noStrike">
                <a:solidFill>
                  <a:srgbClr val="1E2733"/>
                </a:solidFill>
                <a:latin typeface="Tahoma"/>
                <a:ea typeface="Tahoma"/>
                <a:cs typeface="Tahoma"/>
                <a:sym typeface="Tahoma"/>
              </a:rPr>
              <a:t>สี ท่าทาง ตำแหน่งถูก แต่รายละเอียดหาย — นี่คือ 'สาระ' ที่ z เก็บไว้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6"/>
          <p:cNvSpPr txBox="1"/>
          <p:nvPr/>
        </p:nvSpPr>
        <p:spPr>
          <a:xfrm>
            <a:off x="457200" y="4576572"/>
            <a:ext cx="78638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4A2"/>
              </a:buClr>
              <a:buSzPts val="800"/>
              <a:buFont typeface="Tahoma"/>
              <a:buNone/>
            </a:pPr>
            <a:r>
              <a:rPr b="0" i="1" lang="en-US" sz="800" u="none" cap="none" strike="noStrike">
                <a:solidFill>
                  <a:srgbClr val="8A94A2"/>
                </a:solidFill>
                <a:latin typeface="Tahoma"/>
                <a:ea typeface="Tahoma"/>
                <a:cs typeface="Tahoma"/>
                <a:sym typeface="Tahoma"/>
              </a:rPr>
              <a:t>ภาพ: Siyu Zhu (Fudan) Lecture 2 หน้า 42 · ต้นฉบับ Stanford University 2024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17"/>
          <p:cNvSpPr txBox="1"/>
          <p:nvPr/>
        </p:nvSpPr>
        <p:spPr>
          <a:xfrm>
            <a:off x="457200" y="4814316"/>
            <a:ext cx="5486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3AE"/>
              </a:buClr>
              <a:buSzPts val="900"/>
              <a:buFont typeface="Tahoma"/>
              <a:buNone/>
            </a:pPr>
            <a:r>
              <a:rPr b="0" i="0" lang="en-US" sz="900" u="none" cap="none" strike="noStrike">
                <a:solidFill>
                  <a:srgbClr val="9AA3AE"/>
                </a:solidFill>
                <a:latin typeface="Tahoma"/>
                <a:ea typeface="Tahoma"/>
                <a:cs typeface="Tahoma"/>
                <a:sym typeface="Tahoma"/>
              </a:rPr>
              <a:t>LLM &amp; Agentic AI · สัปดาห์ 4 · ช่วงเช้า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7"/>
          <p:cNvSpPr/>
          <p:nvPr/>
        </p:nvSpPr>
        <p:spPr>
          <a:xfrm>
            <a:off x="8357616" y="4759452"/>
            <a:ext cx="329184" cy="329184"/>
          </a:xfrm>
          <a:prstGeom prst="ellipse">
            <a:avLst/>
          </a:prstGeom>
          <a:solidFill>
            <a:srgbClr val="1F3864"/>
          </a:solidFill>
          <a:ln cap="flat" cmpd="sng" w="12700">
            <a:solidFill>
              <a:srgbClr val="1F38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17"/>
          <p:cNvSpPr txBox="1"/>
          <p:nvPr/>
        </p:nvSpPr>
        <p:spPr>
          <a:xfrm>
            <a:off x="8357616" y="4759452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Tahoma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17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7"/>
          <p:cNvSpPr/>
          <p:nvPr/>
        </p:nvSpPr>
        <p:spPr>
          <a:xfrm>
            <a:off x="457200" y="256032"/>
            <a:ext cx="836676" cy="274320"/>
          </a:xfrm>
          <a:prstGeom prst="roundRect">
            <a:avLst>
              <a:gd fmla="val 50000" name="adj"/>
            </a:avLst>
          </a:prstGeom>
          <a:solidFill>
            <a:srgbClr val="DDF1EA"/>
          </a:solidFill>
          <a:ln cap="flat" cmpd="sng" w="12700">
            <a:solidFill>
              <a:srgbClr val="DDF1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17"/>
          <p:cNvSpPr txBox="1"/>
          <p:nvPr/>
        </p:nvSpPr>
        <p:spPr>
          <a:xfrm>
            <a:off x="457200" y="256032"/>
            <a:ext cx="83667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6F5B"/>
              </a:buClr>
              <a:buSzPts val="1000"/>
              <a:buFont typeface="Tahoma"/>
              <a:buNone/>
            </a:pPr>
            <a:r>
              <a:rPr b="1" i="0" lang="en-US" sz="1000" u="none" cap="none" strike="noStrike">
                <a:solidFill>
                  <a:srgbClr val="1D6F5B"/>
                </a:solidFill>
                <a:latin typeface="Tahoma"/>
                <a:ea typeface="Tahoma"/>
                <a:cs typeface="Tahoma"/>
                <a:sym typeface="Tahoma"/>
              </a:rPr>
              <a:t>2 · VAE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7"/>
          <p:cNvSpPr txBox="1"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2400"/>
              <a:buFont typeface="Tahoma"/>
              <a:buNone/>
            </a:pPr>
            <a:r>
              <a:rPr b="1" i="0" lang="en-US" sz="2400" u="none" cap="none" strike="noStrike">
                <a:solidFill>
                  <a:srgbClr val="1F3864"/>
                </a:solidFill>
                <a:latin typeface="Tahoma"/>
                <a:ea typeface="Tahoma"/>
                <a:cs typeface="Tahoma"/>
                <a:sym typeface="Tahoma"/>
              </a:rPr>
              <a:t>แล้วเอา Autoencoder มาสร้างภาพใหม่ได้ไหม?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week4/slides/fig/f_latent_holes.png" id="353" name="Google Shape;35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95921" y="1298448"/>
            <a:ext cx="6152158" cy="2148840"/>
          </a:xfrm>
          <a:prstGeom prst="rect">
            <a:avLst/>
          </a:prstGeom>
          <a:noFill/>
          <a:ln>
            <a:noFill/>
          </a:ln>
        </p:spPr>
      </p:pic>
      <p:sp>
        <p:nvSpPr>
          <p:cNvPr id="354" name="Google Shape;354;p17"/>
          <p:cNvSpPr/>
          <p:nvPr/>
        </p:nvSpPr>
        <p:spPr>
          <a:xfrm>
            <a:off x="457200" y="3630168"/>
            <a:ext cx="2621280" cy="1056132"/>
          </a:xfrm>
          <a:prstGeom prst="roundRect">
            <a:avLst>
              <a:gd fmla="val 6926" name="adj"/>
            </a:avLst>
          </a:prstGeom>
          <a:solidFill>
            <a:srgbClr val="E4ECF7"/>
          </a:solidFill>
          <a:ln cap="flat" cmpd="sng" w="12700">
            <a:solidFill>
              <a:srgbClr val="E4EC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17"/>
          <p:cNvSpPr/>
          <p:nvPr/>
        </p:nvSpPr>
        <p:spPr>
          <a:xfrm>
            <a:off x="585216" y="3758184"/>
            <a:ext cx="201168" cy="201168"/>
          </a:xfrm>
          <a:prstGeom prst="ellipse">
            <a:avLst/>
          </a:prstGeom>
          <a:solidFill>
            <a:srgbClr val="1F3864"/>
          </a:solidFill>
          <a:ln cap="flat" cmpd="sng" w="12700">
            <a:solidFill>
              <a:srgbClr val="1F38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17"/>
          <p:cNvSpPr txBox="1"/>
          <p:nvPr/>
        </p:nvSpPr>
        <p:spPr>
          <a:xfrm>
            <a:off x="868680" y="3703320"/>
            <a:ext cx="2072640" cy="9098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33"/>
              </a:buClr>
              <a:buSzPts val="1200"/>
              <a:buFont typeface="Tahoma"/>
              <a:buNone/>
            </a:pPr>
            <a:r>
              <a:rPr b="0" i="0" lang="en-US" sz="1200" u="none" cap="none" strike="noStrike">
                <a:solidFill>
                  <a:srgbClr val="1E2733"/>
                </a:solidFill>
                <a:latin typeface="Tahoma"/>
                <a:ea typeface="Tahoma"/>
                <a:cs typeface="Tahoma"/>
                <a:sym typeface="Tahoma"/>
              </a:rPr>
              <a:t>ไอเดีย: สุ่ม z มั่ว ๆ แล้ว decode → น่าจะได้ภาพใหม่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7"/>
          <p:cNvSpPr/>
          <p:nvPr/>
        </p:nvSpPr>
        <p:spPr>
          <a:xfrm>
            <a:off x="3261360" y="3630168"/>
            <a:ext cx="2621280" cy="1056132"/>
          </a:xfrm>
          <a:prstGeom prst="roundRect">
            <a:avLst>
              <a:gd fmla="val 6926" name="adj"/>
            </a:avLst>
          </a:prstGeom>
          <a:solidFill>
            <a:srgbClr val="DDF1EA"/>
          </a:solidFill>
          <a:ln cap="flat" cmpd="sng" w="12700">
            <a:solidFill>
              <a:srgbClr val="DDF1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17"/>
          <p:cNvSpPr/>
          <p:nvPr/>
        </p:nvSpPr>
        <p:spPr>
          <a:xfrm>
            <a:off x="3389376" y="3758184"/>
            <a:ext cx="201168" cy="201168"/>
          </a:xfrm>
          <a:prstGeom prst="ellipse">
            <a:avLst/>
          </a:prstGeom>
          <a:solidFill>
            <a:srgbClr val="1D6F5B"/>
          </a:solidFill>
          <a:ln cap="flat" cmpd="sng" w="12700">
            <a:solidFill>
              <a:srgbClr val="1D6F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17"/>
          <p:cNvSpPr txBox="1"/>
          <p:nvPr/>
        </p:nvSpPr>
        <p:spPr>
          <a:xfrm>
            <a:off x="3672840" y="3703320"/>
            <a:ext cx="2072640" cy="9098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33"/>
              </a:buClr>
              <a:buSzPts val="1200"/>
              <a:buFont typeface="Tahoma"/>
              <a:buNone/>
            </a:pPr>
            <a:r>
              <a:rPr b="0" i="0" lang="en-US" sz="1200" u="none" cap="none" strike="noStrike">
                <a:solidFill>
                  <a:srgbClr val="1E2733"/>
                </a:solidFill>
                <a:latin typeface="Tahoma"/>
                <a:ea typeface="Tahoma"/>
                <a:cs typeface="Tahoma"/>
                <a:sym typeface="Tahoma"/>
              </a:rPr>
              <a:t>ปัญหา: autoencoder ธรรมดาวางรหัสภาพเป็นกระจุก ๆ ห่างกัน ระหว่างกระจุกคือ 'รู' — สุ่มลงรูได้ภาพขยะ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7"/>
          <p:cNvSpPr/>
          <p:nvPr/>
        </p:nvSpPr>
        <p:spPr>
          <a:xfrm>
            <a:off x="6065520" y="3630168"/>
            <a:ext cx="2621280" cy="1056132"/>
          </a:xfrm>
          <a:prstGeom prst="roundRect">
            <a:avLst>
              <a:gd fmla="val 6926" name="adj"/>
            </a:avLst>
          </a:prstGeom>
          <a:solidFill>
            <a:srgbClr val="FCF0D9"/>
          </a:solidFill>
          <a:ln cap="flat" cmpd="sng" w="12700">
            <a:solidFill>
              <a:srgbClr val="FCF0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17"/>
          <p:cNvSpPr/>
          <p:nvPr/>
        </p:nvSpPr>
        <p:spPr>
          <a:xfrm>
            <a:off x="6193536" y="3758184"/>
            <a:ext cx="201168" cy="201168"/>
          </a:xfrm>
          <a:prstGeom prst="ellipse">
            <a:avLst/>
          </a:prstGeom>
          <a:solidFill>
            <a:srgbClr val="B7791F"/>
          </a:solidFill>
          <a:ln cap="flat" cmpd="sng" w="12700">
            <a:solidFill>
              <a:srgbClr val="B779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17"/>
          <p:cNvSpPr txBox="1"/>
          <p:nvPr/>
        </p:nvSpPr>
        <p:spPr>
          <a:xfrm>
            <a:off x="6477000" y="3703320"/>
            <a:ext cx="2072640" cy="9098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33"/>
              </a:buClr>
              <a:buSzPts val="1200"/>
              <a:buFont typeface="Tahoma"/>
              <a:buNone/>
            </a:pPr>
            <a:r>
              <a:rPr b="0" i="0" lang="en-US" sz="1200" u="none" cap="none" strike="noStrike">
                <a:solidFill>
                  <a:srgbClr val="1E2733"/>
                </a:solidFill>
                <a:latin typeface="Tahoma"/>
                <a:ea typeface="Tahoma"/>
                <a:cs typeface="Tahoma"/>
                <a:sym typeface="Tahoma"/>
              </a:rPr>
              <a:t>VAE แก้โดยบังคับให้รหัสทั้งหมดรวมกันเป็น 'วงกลม' เต็ม ๆ ไม่มีรู → สุ่มตรงไหนก็ได้ภาพ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18"/>
          <p:cNvSpPr txBox="1"/>
          <p:nvPr/>
        </p:nvSpPr>
        <p:spPr>
          <a:xfrm>
            <a:off x="457200" y="4814316"/>
            <a:ext cx="5486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3AE"/>
              </a:buClr>
              <a:buSzPts val="900"/>
              <a:buFont typeface="Tahoma"/>
              <a:buNone/>
            </a:pPr>
            <a:r>
              <a:rPr b="0" i="0" lang="en-US" sz="900" u="none" cap="none" strike="noStrike">
                <a:solidFill>
                  <a:srgbClr val="9AA3AE"/>
                </a:solidFill>
                <a:latin typeface="Tahoma"/>
                <a:ea typeface="Tahoma"/>
                <a:cs typeface="Tahoma"/>
                <a:sym typeface="Tahoma"/>
              </a:rPr>
              <a:t>LLM &amp; Agentic AI · สัปดาห์ 4 · ช่วงเช้า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8"/>
          <p:cNvSpPr/>
          <p:nvPr/>
        </p:nvSpPr>
        <p:spPr>
          <a:xfrm>
            <a:off x="8357616" y="4759452"/>
            <a:ext cx="329184" cy="329184"/>
          </a:xfrm>
          <a:prstGeom prst="ellipse">
            <a:avLst/>
          </a:prstGeom>
          <a:solidFill>
            <a:srgbClr val="1F3864"/>
          </a:solidFill>
          <a:ln cap="flat" cmpd="sng" w="12700">
            <a:solidFill>
              <a:srgbClr val="1F38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18"/>
          <p:cNvSpPr txBox="1"/>
          <p:nvPr/>
        </p:nvSpPr>
        <p:spPr>
          <a:xfrm>
            <a:off x="8357616" y="4759452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Tahoma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18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8"/>
          <p:cNvSpPr/>
          <p:nvPr/>
        </p:nvSpPr>
        <p:spPr>
          <a:xfrm>
            <a:off x="457200" y="256032"/>
            <a:ext cx="836676" cy="274320"/>
          </a:xfrm>
          <a:prstGeom prst="roundRect">
            <a:avLst>
              <a:gd fmla="val 50000" name="adj"/>
            </a:avLst>
          </a:prstGeom>
          <a:solidFill>
            <a:srgbClr val="DDF1EA"/>
          </a:solidFill>
          <a:ln cap="flat" cmpd="sng" w="12700">
            <a:solidFill>
              <a:srgbClr val="DDF1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18"/>
          <p:cNvSpPr txBox="1"/>
          <p:nvPr/>
        </p:nvSpPr>
        <p:spPr>
          <a:xfrm>
            <a:off x="457200" y="256032"/>
            <a:ext cx="83667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6F5B"/>
              </a:buClr>
              <a:buSzPts val="1000"/>
              <a:buFont typeface="Tahoma"/>
              <a:buNone/>
            </a:pPr>
            <a:r>
              <a:rPr b="1" i="0" lang="en-US" sz="1000" u="none" cap="none" strike="noStrike">
                <a:solidFill>
                  <a:srgbClr val="1D6F5B"/>
                </a:solidFill>
                <a:latin typeface="Tahoma"/>
                <a:ea typeface="Tahoma"/>
                <a:cs typeface="Tahoma"/>
                <a:sym typeface="Tahoma"/>
              </a:rPr>
              <a:t>2 · VAE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8"/>
          <p:cNvSpPr txBox="1"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2400"/>
              <a:buFont typeface="Tahoma"/>
              <a:buNone/>
            </a:pPr>
            <a:r>
              <a:rPr b="1" i="0" lang="en-US" sz="2400" u="none" cap="none" strike="noStrike">
                <a:solidFill>
                  <a:srgbClr val="1F3864"/>
                </a:solidFill>
                <a:latin typeface="Tahoma"/>
                <a:ea typeface="Tahoma"/>
                <a:cs typeface="Tahoma"/>
                <a:sym typeface="Tahoma"/>
              </a:rPr>
              <a:t>VAE: encoder ให้ 'บริเวณ' ไม่ใช่ 'จุด'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week4/slides/fig/f_reparam.png" id="374" name="Google Shape;37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39183" y="1298448"/>
            <a:ext cx="5865634" cy="2148840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p18"/>
          <p:cNvSpPr/>
          <p:nvPr/>
        </p:nvSpPr>
        <p:spPr>
          <a:xfrm>
            <a:off x="457200" y="3630168"/>
            <a:ext cx="2621280" cy="1056132"/>
          </a:xfrm>
          <a:prstGeom prst="roundRect">
            <a:avLst>
              <a:gd fmla="val 6926" name="adj"/>
            </a:avLst>
          </a:prstGeom>
          <a:solidFill>
            <a:srgbClr val="E4ECF7"/>
          </a:solidFill>
          <a:ln cap="flat" cmpd="sng" w="12700">
            <a:solidFill>
              <a:srgbClr val="E4EC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18"/>
          <p:cNvSpPr/>
          <p:nvPr/>
        </p:nvSpPr>
        <p:spPr>
          <a:xfrm>
            <a:off x="585216" y="3758184"/>
            <a:ext cx="201168" cy="201168"/>
          </a:xfrm>
          <a:prstGeom prst="ellipse">
            <a:avLst/>
          </a:prstGeom>
          <a:solidFill>
            <a:srgbClr val="1F3864"/>
          </a:solidFill>
          <a:ln cap="flat" cmpd="sng" w="12700">
            <a:solidFill>
              <a:srgbClr val="1F38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18"/>
          <p:cNvSpPr txBox="1"/>
          <p:nvPr/>
        </p:nvSpPr>
        <p:spPr>
          <a:xfrm>
            <a:off x="868680" y="3703320"/>
            <a:ext cx="2072640" cy="9098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33"/>
              </a:buClr>
              <a:buSzPts val="1200"/>
              <a:buFont typeface="Tahoma"/>
              <a:buNone/>
            </a:pPr>
            <a:r>
              <a:rPr b="0" i="0" lang="en-US" sz="1200" u="none" cap="none" strike="noStrike">
                <a:solidFill>
                  <a:srgbClr val="1E2733"/>
                </a:solidFill>
                <a:latin typeface="Tahoma"/>
                <a:ea typeface="Tahoma"/>
                <a:cs typeface="Tahoma"/>
                <a:sym typeface="Tahoma"/>
              </a:rPr>
              <a:t>encoder ออก 2 อย่าง: mu (จุดกลาง) และ sigma (ความกว้างของบริเวณ)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8"/>
          <p:cNvSpPr/>
          <p:nvPr/>
        </p:nvSpPr>
        <p:spPr>
          <a:xfrm>
            <a:off x="3261360" y="3630168"/>
            <a:ext cx="2621280" cy="1056132"/>
          </a:xfrm>
          <a:prstGeom prst="roundRect">
            <a:avLst>
              <a:gd fmla="val 6926" name="adj"/>
            </a:avLst>
          </a:prstGeom>
          <a:solidFill>
            <a:srgbClr val="DDF1EA"/>
          </a:solidFill>
          <a:ln cap="flat" cmpd="sng" w="12700">
            <a:solidFill>
              <a:srgbClr val="DDF1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18"/>
          <p:cNvSpPr/>
          <p:nvPr/>
        </p:nvSpPr>
        <p:spPr>
          <a:xfrm>
            <a:off x="3389376" y="3758184"/>
            <a:ext cx="201168" cy="201168"/>
          </a:xfrm>
          <a:prstGeom prst="ellipse">
            <a:avLst/>
          </a:prstGeom>
          <a:solidFill>
            <a:srgbClr val="1D6F5B"/>
          </a:solidFill>
          <a:ln cap="flat" cmpd="sng" w="12700">
            <a:solidFill>
              <a:srgbClr val="1D6F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18"/>
          <p:cNvSpPr txBox="1"/>
          <p:nvPr/>
        </p:nvSpPr>
        <p:spPr>
          <a:xfrm>
            <a:off x="3672840" y="3703320"/>
            <a:ext cx="2072640" cy="9098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33"/>
              </a:buClr>
              <a:buSzPts val="1200"/>
              <a:buFont typeface="Tahoma"/>
              <a:buNone/>
            </a:pPr>
            <a:r>
              <a:rPr b="0" i="0" lang="en-US" sz="1200" u="none" cap="none" strike="noStrike">
                <a:solidFill>
                  <a:srgbClr val="1E2733"/>
                </a:solidFill>
                <a:latin typeface="Tahoma"/>
                <a:ea typeface="Tahoma"/>
                <a:cs typeface="Tahoma"/>
                <a:sym typeface="Tahoma"/>
              </a:rPr>
              <a:t>ตอนเทรน สุ่ม z จากบริเวณนั้น: z = mu + sigma × ε โดย ε สุ่มจาก N(0,1)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8"/>
          <p:cNvSpPr/>
          <p:nvPr/>
        </p:nvSpPr>
        <p:spPr>
          <a:xfrm>
            <a:off x="6065520" y="3630168"/>
            <a:ext cx="2621280" cy="1056132"/>
          </a:xfrm>
          <a:prstGeom prst="roundRect">
            <a:avLst>
              <a:gd fmla="val 6926" name="adj"/>
            </a:avLst>
          </a:prstGeom>
          <a:solidFill>
            <a:srgbClr val="FCF0D9"/>
          </a:solidFill>
          <a:ln cap="flat" cmpd="sng" w="12700">
            <a:solidFill>
              <a:srgbClr val="FCF0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18"/>
          <p:cNvSpPr/>
          <p:nvPr/>
        </p:nvSpPr>
        <p:spPr>
          <a:xfrm>
            <a:off x="6193536" y="3758184"/>
            <a:ext cx="201168" cy="201168"/>
          </a:xfrm>
          <a:prstGeom prst="ellipse">
            <a:avLst/>
          </a:prstGeom>
          <a:solidFill>
            <a:srgbClr val="B7791F"/>
          </a:solidFill>
          <a:ln cap="flat" cmpd="sng" w="12700">
            <a:solidFill>
              <a:srgbClr val="B779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18"/>
          <p:cNvSpPr txBox="1"/>
          <p:nvPr/>
        </p:nvSpPr>
        <p:spPr>
          <a:xfrm>
            <a:off x="6477000" y="3703320"/>
            <a:ext cx="2072640" cy="9098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33"/>
              </a:buClr>
              <a:buSzPts val="1200"/>
              <a:buFont typeface="Tahoma"/>
              <a:buNone/>
            </a:pPr>
            <a:r>
              <a:rPr b="0" i="0" lang="en-US" sz="1200" u="none" cap="none" strike="noStrike">
                <a:solidFill>
                  <a:srgbClr val="1E2733"/>
                </a:solidFill>
                <a:latin typeface="Tahoma"/>
                <a:ea typeface="Tahoma"/>
                <a:cs typeface="Tahoma"/>
                <a:sym typeface="Tahoma"/>
              </a:rPr>
              <a:t>ทริกสำคัญ: ความสุ่มอยู่ที่ ε นอกโมเดล → backprop ผ่าน mu, sigma ได้ (reparameterization trick)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19"/>
          <p:cNvSpPr txBox="1"/>
          <p:nvPr/>
        </p:nvSpPr>
        <p:spPr>
          <a:xfrm>
            <a:off x="457200" y="4814316"/>
            <a:ext cx="5486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3AE"/>
              </a:buClr>
              <a:buSzPts val="900"/>
              <a:buFont typeface="Tahoma"/>
              <a:buNone/>
            </a:pPr>
            <a:r>
              <a:rPr b="0" i="0" lang="en-US" sz="900" u="none" cap="none" strike="noStrike">
                <a:solidFill>
                  <a:srgbClr val="9AA3AE"/>
                </a:solidFill>
                <a:latin typeface="Tahoma"/>
                <a:ea typeface="Tahoma"/>
                <a:cs typeface="Tahoma"/>
                <a:sym typeface="Tahoma"/>
              </a:rPr>
              <a:t>LLM &amp; Agentic AI · สัปดาห์ 4 · ช่วงเช้า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9"/>
          <p:cNvSpPr/>
          <p:nvPr/>
        </p:nvSpPr>
        <p:spPr>
          <a:xfrm>
            <a:off x="8357616" y="4759452"/>
            <a:ext cx="329184" cy="329184"/>
          </a:xfrm>
          <a:prstGeom prst="ellipse">
            <a:avLst/>
          </a:prstGeom>
          <a:solidFill>
            <a:srgbClr val="1F3864"/>
          </a:solidFill>
          <a:ln cap="flat" cmpd="sng" w="12700">
            <a:solidFill>
              <a:srgbClr val="1F38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19"/>
          <p:cNvSpPr txBox="1"/>
          <p:nvPr/>
        </p:nvSpPr>
        <p:spPr>
          <a:xfrm>
            <a:off x="8357616" y="4759452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Tahoma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19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9"/>
          <p:cNvSpPr/>
          <p:nvPr/>
        </p:nvSpPr>
        <p:spPr>
          <a:xfrm>
            <a:off x="457200" y="256032"/>
            <a:ext cx="836676" cy="274320"/>
          </a:xfrm>
          <a:prstGeom prst="roundRect">
            <a:avLst>
              <a:gd fmla="val 50000" name="adj"/>
            </a:avLst>
          </a:prstGeom>
          <a:solidFill>
            <a:srgbClr val="DDF1EA"/>
          </a:solidFill>
          <a:ln cap="flat" cmpd="sng" w="12700">
            <a:solidFill>
              <a:srgbClr val="DDF1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19"/>
          <p:cNvSpPr txBox="1"/>
          <p:nvPr/>
        </p:nvSpPr>
        <p:spPr>
          <a:xfrm>
            <a:off x="457200" y="256032"/>
            <a:ext cx="83667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6F5B"/>
              </a:buClr>
              <a:buSzPts val="1000"/>
              <a:buFont typeface="Tahoma"/>
              <a:buNone/>
            </a:pPr>
            <a:r>
              <a:rPr b="1" i="0" lang="en-US" sz="1000" u="none" cap="none" strike="noStrike">
                <a:solidFill>
                  <a:srgbClr val="1D6F5B"/>
                </a:solidFill>
                <a:latin typeface="Tahoma"/>
                <a:ea typeface="Tahoma"/>
                <a:cs typeface="Tahoma"/>
                <a:sym typeface="Tahoma"/>
              </a:rPr>
              <a:t>2 · VAE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9"/>
          <p:cNvSpPr txBox="1"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2400"/>
              <a:buFont typeface="Tahoma"/>
              <a:buNone/>
            </a:pPr>
            <a:r>
              <a:rPr b="1" i="0" lang="en-US" sz="2400" u="none" cap="none" strike="noStrike">
                <a:solidFill>
                  <a:srgbClr val="1F3864"/>
                </a:solidFill>
                <a:latin typeface="Tahoma"/>
                <a:ea typeface="Tahoma"/>
                <a:cs typeface="Tahoma"/>
                <a:sym typeface="Tahoma"/>
              </a:rPr>
              <a:t>loss ของ VAE มี 2 ส่วน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week4/slides/fig/f_vae_loss.png" id="395" name="Google Shape;395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64626" y="1298448"/>
            <a:ext cx="6814748" cy="2148840"/>
          </a:xfrm>
          <a:prstGeom prst="rect">
            <a:avLst/>
          </a:prstGeom>
          <a:noFill/>
          <a:ln>
            <a:noFill/>
          </a:ln>
        </p:spPr>
      </p:pic>
      <p:sp>
        <p:nvSpPr>
          <p:cNvPr id="396" name="Google Shape;396;p19"/>
          <p:cNvSpPr/>
          <p:nvPr/>
        </p:nvSpPr>
        <p:spPr>
          <a:xfrm>
            <a:off x="457200" y="3630168"/>
            <a:ext cx="2621280" cy="1056132"/>
          </a:xfrm>
          <a:prstGeom prst="roundRect">
            <a:avLst>
              <a:gd fmla="val 6926" name="adj"/>
            </a:avLst>
          </a:prstGeom>
          <a:solidFill>
            <a:srgbClr val="E4ECF7"/>
          </a:solidFill>
          <a:ln cap="flat" cmpd="sng" w="12700">
            <a:solidFill>
              <a:srgbClr val="E4EC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19"/>
          <p:cNvSpPr/>
          <p:nvPr/>
        </p:nvSpPr>
        <p:spPr>
          <a:xfrm>
            <a:off x="585216" y="3758184"/>
            <a:ext cx="201168" cy="201168"/>
          </a:xfrm>
          <a:prstGeom prst="ellipse">
            <a:avLst/>
          </a:prstGeom>
          <a:solidFill>
            <a:srgbClr val="1F3864"/>
          </a:solidFill>
          <a:ln cap="flat" cmpd="sng" w="12700">
            <a:solidFill>
              <a:srgbClr val="1F38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19"/>
          <p:cNvSpPr txBox="1"/>
          <p:nvPr/>
        </p:nvSpPr>
        <p:spPr>
          <a:xfrm>
            <a:off x="868680" y="3703320"/>
            <a:ext cx="2072640" cy="9098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33"/>
              </a:buClr>
              <a:buSzPts val="1200"/>
              <a:buFont typeface="Tahoma"/>
              <a:buNone/>
            </a:pPr>
            <a:r>
              <a:rPr b="0" i="0" lang="en-US" sz="1200" u="none" cap="none" strike="noStrike">
                <a:solidFill>
                  <a:srgbClr val="1E2733"/>
                </a:solidFill>
                <a:latin typeface="Tahoma"/>
                <a:ea typeface="Tahoma"/>
                <a:cs typeface="Tahoma"/>
                <a:sym typeface="Tahoma"/>
              </a:rPr>
              <a:t>ส่วนแรก: คลายภาพได้แม่นแค่ไหน (MSE) — เหมือน autoencoder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9"/>
          <p:cNvSpPr/>
          <p:nvPr/>
        </p:nvSpPr>
        <p:spPr>
          <a:xfrm>
            <a:off x="3261360" y="3630168"/>
            <a:ext cx="2621280" cy="1056132"/>
          </a:xfrm>
          <a:prstGeom prst="roundRect">
            <a:avLst>
              <a:gd fmla="val 6926" name="adj"/>
            </a:avLst>
          </a:prstGeom>
          <a:solidFill>
            <a:srgbClr val="DDF1EA"/>
          </a:solidFill>
          <a:ln cap="flat" cmpd="sng" w="12700">
            <a:solidFill>
              <a:srgbClr val="DDF1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19"/>
          <p:cNvSpPr/>
          <p:nvPr/>
        </p:nvSpPr>
        <p:spPr>
          <a:xfrm>
            <a:off x="3389376" y="3758184"/>
            <a:ext cx="201168" cy="201168"/>
          </a:xfrm>
          <a:prstGeom prst="ellipse">
            <a:avLst/>
          </a:prstGeom>
          <a:solidFill>
            <a:srgbClr val="1D6F5B"/>
          </a:solidFill>
          <a:ln cap="flat" cmpd="sng" w="12700">
            <a:solidFill>
              <a:srgbClr val="1D6F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19"/>
          <p:cNvSpPr txBox="1"/>
          <p:nvPr/>
        </p:nvSpPr>
        <p:spPr>
          <a:xfrm>
            <a:off x="3672840" y="3703320"/>
            <a:ext cx="2072640" cy="9098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33"/>
              </a:buClr>
              <a:buSzPts val="1200"/>
              <a:buFont typeface="Tahoma"/>
              <a:buNone/>
            </a:pPr>
            <a:r>
              <a:rPr b="0" i="0" lang="en-US" sz="1200" u="none" cap="none" strike="noStrike">
                <a:solidFill>
                  <a:srgbClr val="1E2733"/>
                </a:solidFill>
                <a:latin typeface="Tahoma"/>
                <a:ea typeface="Tahoma"/>
                <a:cs typeface="Tahoma"/>
                <a:sym typeface="Tahoma"/>
              </a:rPr>
              <a:t>ส่วนสอง: KL divergence = บริเวณของภาพนี้หนีไปไกลจากวงกลมมาตรฐาน N(0, I) แค่ไหน — ค่าปรับที่กันไม่ให้เกิด 'รู'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9"/>
          <p:cNvSpPr/>
          <p:nvPr/>
        </p:nvSpPr>
        <p:spPr>
          <a:xfrm>
            <a:off x="6065520" y="3630168"/>
            <a:ext cx="2621280" cy="1056132"/>
          </a:xfrm>
          <a:prstGeom prst="roundRect">
            <a:avLst>
              <a:gd fmla="val 6926" name="adj"/>
            </a:avLst>
          </a:prstGeom>
          <a:solidFill>
            <a:srgbClr val="FCF0D9"/>
          </a:solidFill>
          <a:ln cap="flat" cmpd="sng" w="12700">
            <a:solidFill>
              <a:srgbClr val="FCF0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19"/>
          <p:cNvSpPr/>
          <p:nvPr/>
        </p:nvSpPr>
        <p:spPr>
          <a:xfrm>
            <a:off x="6193536" y="3758184"/>
            <a:ext cx="201168" cy="201168"/>
          </a:xfrm>
          <a:prstGeom prst="ellipse">
            <a:avLst/>
          </a:prstGeom>
          <a:solidFill>
            <a:srgbClr val="B7791F"/>
          </a:solidFill>
          <a:ln cap="flat" cmpd="sng" w="12700">
            <a:solidFill>
              <a:srgbClr val="B779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19"/>
          <p:cNvSpPr txBox="1"/>
          <p:nvPr/>
        </p:nvSpPr>
        <p:spPr>
          <a:xfrm>
            <a:off x="6477000" y="3703320"/>
            <a:ext cx="2072640" cy="9098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33"/>
              </a:buClr>
              <a:buSzPts val="1200"/>
              <a:buFont typeface="Tahoma"/>
              <a:buNone/>
            </a:pPr>
            <a:r>
              <a:rPr b="0" i="0" lang="en-US" sz="1200" u="none" cap="none" strike="noStrike">
                <a:solidFill>
                  <a:srgbClr val="1E2733"/>
                </a:solidFill>
                <a:latin typeface="Tahoma"/>
                <a:ea typeface="Tahoma"/>
                <a:cs typeface="Tahoma"/>
                <a:sym typeface="Tahoma"/>
              </a:rPr>
              <a:t>β คือตัวถ่วงน้ำหนักระหว่างสองอย่าง (β สูง = latent เป็นระเบียบแต่ภาพเบลอกว่า)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20"/>
          <p:cNvSpPr txBox="1"/>
          <p:nvPr/>
        </p:nvSpPr>
        <p:spPr>
          <a:xfrm>
            <a:off x="457200" y="4814316"/>
            <a:ext cx="5486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3AE"/>
              </a:buClr>
              <a:buSzPts val="900"/>
              <a:buFont typeface="Tahoma"/>
              <a:buNone/>
            </a:pPr>
            <a:r>
              <a:rPr b="0" i="0" lang="en-US" sz="900" u="none" cap="none" strike="noStrike">
                <a:solidFill>
                  <a:srgbClr val="9AA3AE"/>
                </a:solidFill>
                <a:latin typeface="Tahoma"/>
                <a:ea typeface="Tahoma"/>
                <a:cs typeface="Tahoma"/>
                <a:sym typeface="Tahoma"/>
              </a:rPr>
              <a:t>LLM &amp; Agentic AI · สัปดาห์ 4 · ช่วงเช้า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20"/>
          <p:cNvSpPr/>
          <p:nvPr/>
        </p:nvSpPr>
        <p:spPr>
          <a:xfrm>
            <a:off x="8357616" y="4759452"/>
            <a:ext cx="329184" cy="329184"/>
          </a:xfrm>
          <a:prstGeom prst="ellipse">
            <a:avLst/>
          </a:prstGeom>
          <a:solidFill>
            <a:srgbClr val="1F3864"/>
          </a:solidFill>
          <a:ln cap="flat" cmpd="sng" w="12700">
            <a:solidFill>
              <a:srgbClr val="1F38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20"/>
          <p:cNvSpPr txBox="1"/>
          <p:nvPr/>
        </p:nvSpPr>
        <p:spPr>
          <a:xfrm>
            <a:off x="8357616" y="4759452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Tahoma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20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20"/>
          <p:cNvSpPr/>
          <p:nvPr/>
        </p:nvSpPr>
        <p:spPr>
          <a:xfrm>
            <a:off x="457200" y="256032"/>
            <a:ext cx="836676" cy="274320"/>
          </a:xfrm>
          <a:prstGeom prst="roundRect">
            <a:avLst>
              <a:gd fmla="val 50000" name="adj"/>
            </a:avLst>
          </a:prstGeom>
          <a:solidFill>
            <a:srgbClr val="DDF1EA"/>
          </a:solidFill>
          <a:ln cap="flat" cmpd="sng" w="12700">
            <a:solidFill>
              <a:srgbClr val="DDF1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20"/>
          <p:cNvSpPr txBox="1"/>
          <p:nvPr/>
        </p:nvSpPr>
        <p:spPr>
          <a:xfrm>
            <a:off x="457200" y="256032"/>
            <a:ext cx="83667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6F5B"/>
              </a:buClr>
              <a:buSzPts val="1000"/>
              <a:buFont typeface="Tahoma"/>
              <a:buNone/>
            </a:pPr>
            <a:r>
              <a:rPr b="1" i="0" lang="en-US" sz="1000" u="none" cap="none" strike="noStrike">
                <a:solidFill>
                  <a:srgbClr val="1D6F5B"/>
                </a:solidFill>
                <a:latin typeface="Tahoma"/>
                <a:ea typeface="Tahoma"/>
                <a:cs typeface="Tahoma"/>
                <a:sym typeface="Tahoma"/>
              </a:rPr>
              <a:t>2 · VAE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20"/>
          <p:cNvSpPr txBox="1"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2400"/>
              <a:buFont typeface="Tahoma"/>
              <a:buNone/>
            </a:pPr>
            <a:r>
              <a:rPr b="1" i="0" lang="en-US" sz="2400" u="none" cap="none" strike="noStrike">
                <a:solidFill>
                  <a:srgbClr val="1F3864"/>
                </a:solidFill>
                <a:latin typeface="Tahoma"/>
                <a:ea typeface="Tahoma"/>
                <a:cs typeface="Tahoma"/>
                <a:sym typeface="Tahoma"/>
              </a:rPr>
              <a:t>VAE ทั้งระบบ: encoder → สุ่ม z → decoder → loss 2 ส่วน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week4/slides/fig/f_vae_system.png" id="416" name="Google Shape;416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28539" y="1252728"/>
            <a:ext cx="6686923" cy="3246120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Google Shape;417;p20"/>
          <p:cNvSpPr/>
          <p:nvPr/>
        </p:nvSpPr>
        <p:spPr>
          <a:xfrm>
            <a:off x="1228539" y="1252728"/>
            <a:ext cx="6686923" cy="3246120"/>
          </a:xfrm>
          <a:prstGeom prst="rect">
            <a:avLst/>
          </a:prstGeom>
          <a:noFill/>
          <a:ln cap="flat" cmpd="sng" w="9525">
            <a:solidFill>
              <a:srgbClr val="D9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20"/>
          <p:cNvSpPr txBox="1"/>
          <p:nvPr/>
        </p:nvSpPr>
        <p:spPr>
          <a:xfrm>
            <a:off x="457200" y="4576572"/>
            <a:ext cx="78638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4A2"/>
              </a:buClr>
              <a:buSzPts val="800"/>
              <a:buFont typeface="Tahoma"/>
              <a:buNone/>
            </a:pPr>
            <a:r>
              <a:rPr b="0" i="1" lang="en-US" sz="800" u="none" cap="none" strike="noStrike">
                <a:solidFill>
                  <a:srgbClr val="8A94A2"/>
                </a:solidFill>
                <a:latin typeface="Tahoma"/>
                <a:ea typeface="Tahoma"/>
                <a:cs typeface="Tahoma"/>
                <a:sym typeface="Tahoma"/>
              </a:rPr>
              <a:t>ภาพ: VAE ที่เทรนจริงบน sprite 10,000 ภาพ (โครงเดียวกับแล็บ 1, เทรนบน CPU) — แทนภาพสมการ Lecture 2 หน้า 75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21"/>
          <p:cNvSpPr txBox="1"/>
          <p:nvPr/>
        </p:nvSpPr>
        <p:spPr>
          <a:xfrm>
            <a:off x="457200" y="4814316"/>
            <a:ext cx="5486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3AE"/>
              </a:buClr>
              <a:buSzPts val="900"/>
              <a:buFont typeface="Tahoma"/>
              <a:buNone/>
            </a:pPr>
            <a:r>
              <a:rPr b="0" i="0" lang="en-US" sz="900" u="none" cap="none" strike="noStrike">
                <a:solidFill>
                  <a:srgbClr val="9AA3AE"/>
                </a:solidFill>
                <a:latin typeface="Tahoma"/>
                <a:ea typeface="Tahoma"/>
                <a:cs typeface="Tahoma"/>
                <a:sym typeface="Tahoma"/>
              </a:rPr>
              <a:t>LLM &amp; Agentic AI · สัปดาห์ 4 · ช่วงเช้า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21"/>
          <p:cNvSpPr/>
          <p:nvPr/>
        </p:nvSpPr>
        <p:spPr>
          <a:xfrm>
            <a:off x="8357616" y="4759452"/>
            <a:ext cx="329184" cy="329184"/>
          </a:xfrm>
          <a:prstGeom prst="ellipse">
            <a:avLst/>
          </a:prstGeom>
          <a:solidFill>
            <a:srgbClr val="1F3864"/>
          </a:solidFill>
          <a:ln cap="flat" cmpd="sng" w="12700">
            <a:solidFill>
              <a:srgbClr val="1F38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21"/>
          <p:cNvSpPr txBox="1"/>
          <p:nvPr/>
        </p:nvSpPr>
        <p:spPr>
          <a:xfrm>
            <a:off x="8357616" y="4759452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Tahoma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21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21"/>
          <p:cNvSpPr/>
          <p:nvPr/>
        </p:nvSpPr>
        <p:spPr>
          <a:xfrm>
            <a:off x="457200" y="256032"/>
            <a:ext cx="836676" cy="274320"/>
          </a:xfrm>
          <a:prstGeom prst="roundRect">
            <a:avLst>
              <a:gd fmla="val 50000" name="adj"/>
            </a:avLst>
          </a:prstGeom>
          <a:solidFill>
            <a:srgbClr val="DDF1EA"/>
          </a:solidFill>
          <a:ln cap="flat" cmpd="sng" w="12700">
            <a:solidFill>
              <a:srgbClr val="DDF1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21"/>
          <p:cNvSpPr txBox="1"/>
          <p:nvPr/>
        </p:nvSpPr>
        <p:spPr>
          <a:xfrm>
            <a:off x="457200" y="256032"/>
            <a:ext cx="83667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6F5B"/>
              </a:buClr>
              <a:buSzPts val="1000"/>
              <a:buFont typeface="Tahoma"/>
              <a:buNone/>
            </a:pPr>
            <a:r>
              <a:rPr b="1" i="0" lang="en-US" sz="1000" u="none" cap="none" strike="noStrike">
                <a:solidFill>
                  <a:srgbClr val="1D6F5B"/>
                </a:solidFill>
                <a:latin typeface="Tahoma"/>
                <a:ea typeface="Tahoma"/>
                <a:cs typeface="Tahoma"/>
                <a:sym typeface="Tahoma"/>
              </a:rPr>
              <a:t>2 · VAE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21"/>
          <p:cNvSpPr txBox="1"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2400"/>
              <a:buFont typeface="Tahoma"/>
              <a:buNone/>
            </a:pPr>
            <a:r>
              <a:rPr b="1" i="0" lang="en-US" sz="2400" u="none" cap="none" strike="noStrike">
                <a:solidFill>
                  <a:srgbClr val="1F3864"/>
                </a:solidFill>
                <a:latin typeface="Tahoma"/>
                <a:ea typeface="Tahoma"/>
                <a:cs typeface="Tahoma"/>
                <a:sym typeface="Tahoma"/>
              </a:rPr>
              <a:t>โค้ดที่จะเทรนตอนบ่าย (แล็บ 1)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21"/>
          <p:cNvSpPr/>
          <p:nvPr/>
        </p:nvSpPr>
        <p:spPr>
          <a:xfrm>
            <a:off x="457200" y="1298448"/>
            <a:ext cx="4965192" cy="3200400"/>
          </a:xfrm>
          <a:prstGeom prst="roundRect">
            <a:avLst>
              <a:gd fmla="val 2286" name="adj"/>
            </a:avLst>
          </a:prstGeom>
          <a:solidFill>
            <a:srgbClr val="1E2733"/>
          </a:solidFill>
          <a:ln cap="flat" cmpd="sng" w="12700">
            <a:solidFill>
              <a:srgbClr val="1E27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21"/>
          <p:cNvSpPr txBox="1"/>
          <p:nvPr/>
        </p:nvSpPr>
        <p:spPr>
          <a:xfrm>
            <a:off x="621792" y="1426464"/>
            <a:ext cx="4636008" cy="2944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CF2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E8ECF2"/>
                </a:solidFill>
                <a:latin typeface="Courier New"/>
                <a:ea typeface="Courier New"/>
                <a:cs typeface="Courier New"/>
                <a:sym typeface="Courier New"/>
              </a:rPr>
              <a:t>class VAE(nn.Module):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CF2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E8ECF2"/>
                </a:solidFill>
                <a:latin typeface="Courier New"/>
                <a:ea typeface="Courier New"/>
                <a:cs typeface="Courier New"/>
                <a:sym typeface="Courier New"/>
              </a:rPr>
              <a:t>    def __init__(self, z_dim=Z_DIM):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CF2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E8ECF2"/>
                </a:solidFill>
                <a:latin typeface="Courier New"/>
                <a:ea typeface="Courier New"/>
                <a:cs typeface="Courier New"/>
                <a:sym typeface="Courier New"/>
              </a:rPr>
              <a:t>        super().__init__()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CF2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E8ECF2"/>
                </a:solidFill>
                <a:latin typeface="Courier New"/>
                <a:ea typeface="Courier New"/>
                <a:cs typeface="Courier New"/>
                <a:sym typeface="Courier New"/>
              </a:rPr>
              <a:t>        # encoder: 16×16 → 8×8 → 4×4 → 64×4×4 = 1024 ตัวเลข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CF2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E8ECF2"/>
                </a:solidFill>
                <a:latin typeface="Courier New"/>
                <a:ea typeface="Courier New"/>
                <a:cs typeface="Courier New"/>
                <a:sym typeface="Courier New"/>
              </a:rPr>
              <a:t>        self.enc = nn.Sequential(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CF2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E8ECF2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nn.Conv2d(3, 32, 4, 2, 1), nn.ReLU(),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CF2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E8ECF2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nn.Conv2d(32, 64, 4, 2, 1), nn.ReLU(), nn.Flatten())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CF2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E8ECF2"/>
                </a:solidFill>
                <a:latin typeface="Courier New"/>
                <a:ea typeface="Courier New"/>
                <a:cs typeface="Courier New"/>
                <a:sym typeface="Courier New"/>
              </a:rPr>
              <a:t>        self.fc_mu = nn.Linear(1024, z_dim)        # จุดกลางของบริเวณ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CF2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E8ECF2"/>
                </a:solidFill>
                <a:latin typeface="Courier New"/>
                <a:ea typeface="Courier New"/>
                <a:cs typeface="Courier New"/>
                <a:sym typeface="Courier New"/>
              </a:rPr>
              <a:t>        self.fc_logvar = nn.Linear(1024, z_dim)    # ความกว้าง (log sigma²)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CF2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E8ECF2"/>
                </a:solidFill>
                <a:latin typeface="Courier New"/>
                <a:ea typeface="Courier New"/>
                <a:cs typeface="Courier New"/>
                <a:sym typeface="Courier New"/>
              </a:rPr>
              <a:t>        # decoder: z → 4×4 → 8×8 → 16×16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CF2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E8ECF2"/>
                </a:solidFill>
                <a:latin typeface="Courier New"/>
                <a:ea typeface="Courier New"/>
                <a:cs typeface="Courier New"/>
                <a:sym typeface="Courier New"/>
              </a:rPr>
              <a:t>        self.dec_fc = nn.Linear(z_dim, 1024)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CF2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E8ECF2"/>
                </a:solidFill>
                <a:latin typeface="Courier New"/>
                <a:ea typeface="Courier New"/>
                <a:cs typeface="Courier New"/>
                <a:sym typeface="Courier New"/>
              </a:rPr>
              <a:t>        self.dec = nn.Sequential(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CF2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E8ECF2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nn.ConvTranspose2d(64, 32, 4, 2, 1), nn.ReLU(),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CF2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E8ECF2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nn.ConvTranspose2d(32, 3, 4, 2, 1), nn.Tanh())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CF2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E8ECF2"/>
                </a:solidFill>
                <a:latin typeface="Courier New"/>
                <a:ea typeface="Courier New"/>
                <a:cs typeface="Courier New"/>
                <a:sym typeface="Courier New"/>
              </a:rPr>
              <a:t>    def encode(self, x):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CF2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E8ECF2"/>
                </a:solidFill>
                <a:latin typeface="Courier New"/>
                <a:ea typeface="Courier New"/>
                <a:cs typeface="Courier New"/>
                <a:sym typeface="Courier New"/>
              </a:rPr>
              <a:t>        h = self.enc(x)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CF2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E8ECF2"/>
                </a:solidFill>
                <a:latin typeface="Courier New"/>
                <a:ea typeface="Courier New"/>
                <a:cs typeface="Courier New"/>
                <a:sym typeface="Courier New"/>
              </a:rPr>
              <a:t>        return self.fc_mu(h), self.fc_logvar(h)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CF2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E8ECF2"/>
                </a:solidFill>
                <a:latin typeface="Courier New"/>
                <a:ea typeface="Courier New"/>
                <a:cs typeface="Courier New"/>
                <a:sym typeface="Courier New"/>
              </a:rPr>
              <a:t>    def reparameterize(self, mu, logvar):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CF2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E8ECF2"/>
                </a:solidFill>
                <a:latin typeface="Courier New"/>
                <a:ea typeface="Courier New"/>
                <a:cs typeface="Courier New"/>
                <a:sym typeface="Courier New"/>
              </a:rPr>
              <a:t>        # z = mu + sigma × ε  (สุ่มแบบที่ยัง backprop ผ่าน mu, sigma ได้)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CF2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E8ECF2"/>
                </a:solidFill>
                <a:latin typeface="Courier New"/>
                <a:ea typeface="Courier New"/>
                <a:cs typeface="Courier New"/>
                <a:sym typeface="Courier New"/>
              </a:rPr>
              <a:t>        return mu + torch.exp(0.5 * logvar) * torch.randn_like(mu)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21"/>
          <p:cNvSpPr txBox="1"/>
          <p:nvPr/>
        </p:nvSpPr>
        <p:spPr>
          <a:xfrm>
            <a:off x="5650992" y="1298448"/>
            <a:ext cx="3035808" cy="21488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-203200" lvl="0" marL="203200" marR="0" rtl="0" algn="l">
              <a:spcBef>
                <a:spcPts val="0"/>
              </a:spcBef>
              <a:spcAft>
                <a:spcPts val="0"/>
              </a:spcAft>
              <a:buClr>
                <a:srgbClr val="1E2733"/>
              </a:buClr>
              <a:buSzPts val="1050"/>
              <a:buFont typeface="Tahoma"/>
              <a:buChar char="•"/>
            </a:pPr>
            <a:r>
              <a:rPr b="1" i="0" lang="en-US" sz="1050" u="none" cap="none" strike="noStrike">
                <a:solidFill>
                  <a:srgbClr val="1E2733"/>
                </a:solidFill>
                <a:latin typeface="Tahoma"/>
                <a:ea typeface="Tahoma"/>
                <a:cs typeface="Tahoma"/>
                <a:sym typeface="Tahoma"/>
              </a:rPr>
              <a:t>enc = Conv 2 ชั้น 16→8→4 (เหมือนสัปดาห์ 1)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0" marL="203200" marR="0" rtl="0" algn="l">
              <a:spcBef>
                <a:spcPts val="800"/>
              </a:spcBef>
              <a:spcAft>
                <a:spcPts val="0"/>
              </a:spcAft>
              <a:buClr>
                <a:srgbClr val="1E2733"/>
              </a:buClr>
              <a:buSzPts val="1050"/>
              <a:buFont typeface="Tahoma"/>
              <a:buChar char="•"/>
            </a:pPr>
            <a:r>
              <a:rPr b="0" i="0" lang="en-US" sz="1050" u="none" cap="none" strike="noStrike">
                <a:solidFill>
                  <a:srgbClr val="1E2733"/>
                </a:solidFill>
                <a:latin typeface="Tahoma"/>
                <a:ea typeface="Tahoma"/>
                <a:cs typeface="Tahoma"/>
                <a:sym typeface="Tahoma"/>
              </a:rPr>
              <a:t>fc_mu / fc_logvar = จุดกลางและความกว้าง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0" marL="203200" marR="0" rtl="0" algn="l">
              <a:spcBef>
                <a:spcPts val="800"/>
              </a:spcBef>
              <a:spcAft>
                <a:spcPts val="0"/>
              </a:spcAft>
              <a:buClr>
                <a:srgbClr val="1E2733"/>
              </a:buClr>
              <a:buSzPts val="1050"/>
              <a:buFont typeface="Tahoma"/>
              <a:buChar char="•"/>
            </a:pPr>
            <a:r>
              <a:rPr b="1" i="0" lang="en-US" sz="1050" u="none" cap="none" strike="noStrike">
                <a:solidFill>
                  <a:srgbClr val="1E2733"/>
                </a:solidFill>
                <a:latin typeface="Tahoma"/>
                <a:ea typeface="Tahoma"/>
                <a:cs typeface="Tahoma"/>
                <a:sym typeface="Tahoma"/>
              </a:rPr>
              <a:t>reparameterize = z = mu + sigma × ε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0" marL="203200" marR="0" rtl="0" algn="l">
              <a:spcBef>
                <a:spcPts val="800"/>
              </a:spcBef>
              <a:spcAft>
                <a:spcPts val="0"/>
              </a:spcAft>
              <a:buClr>
                <a:srgbClr val="1E2733"/>
              </a:buClr>
              <a:buSzPts val="1050"/>
              <a:buFont typeface="Tahoma"/>
              <a:buChar char="•"/>
            </a:pPr>
            <a:r>
              <a:rPr b="0" i="0" lang="en-US" sz="1050" u="none" cap="none" strike="noStrike">
                <a:solidFill>
                  <a:srgbClr val="1E2733"/>
                </a:solidFill>
                <a:latin typeface="Tahoma"/>
                <a:ea typeface="Tahoma"/>
                <a:cs typeface="Tahoma"/>
                <a:sym typeface="Tahoma"/>
              </a:rPr>
              <a:t>dec = ConvTranspose กลับทิศ 4→8→16 + Tanh (ต่อใน notebook)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1" marL="355600" marR="0" rtl="0" algn="l">
              <a:spcBef>
                <a:spcPts val="800"/>
              </a:spcBef>
              <a:spcAft>
                <a:spcPts val="0"/>
              </a:spcAft>
              <a:buClr>
                <a:srgbClr val="5F6B7A"/>
              </a:buClr>
              <a:buSzPts val="850"/>
              <a:buFont typeface="Tahoma"/>
              <a:buChar char="–"/>
            </a:pPr>
            <a:r>
              <a:rPr b="0" i="0" lang="en-US" sz="850" u="none" cap="none" strike="noStrike">
                <a:solidFill>
                  <a:srgbClr val="5F6B7A"/>
                </a:solidFill>
                <a:latin typeface="Tahoma"/>
                <a:ea typeface="Tahoma"/>
                <a:cs typeface="Tahoma"/>
                <a:sym typeface="Tahoma"/>
              </a:rPr>
              <a:t>logvar แทน sigma เพื่อให้ค่าเป็นบวกเสมอ: sigma = exp(0.5·logvar)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1" marL="355600" marR="0" rtl="0" algn="l">
              <a:spcBef>
                <a:spcPts val="500"/>
              </a:spcBef>
              <a:spcAft>
                <a:spcPts val="0"/>
              </a:spcAft>
              <a:buClr>
                <a:srgbClr val="5F6B7A"/>
              </a:buClr>
              <a:buSzPts val="850"/>
              <a:buFont typeface="Tahoma"/>
              <a:buChar char="–"/>
            </a:pPr>
            <a:r>
              <a:rPr b="0" i="0" lang="en-US" sz="850" u="none" cap="none" strike="noStrike">
                <a:solidFill>
                  <a:srgbClr val="5F6B7A"/>
                </a:solidFill>
                <a:latin typeface="Tahoma"/>
                <a:ea typeface="Tahoma"/>
                <a:cs typeface="Tahoma"/>
                <a:sym typeface="Tahoma"/>
              </a:rPr>
              <a:t>Z_DIM = 16 ตัวเลข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week4/slides/fig/f_vae_system.png" id="433" name="Google Shape;433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79985" y="3538728"/>
            <a:ext cx="1977822" cy="960120"/>
          </a:xfrm>
          <a:prstGeom prst="rect">
            <a:avLst/>
          </a:prstGeom>
          <a:noFill/>
          <a:ln>
            <a:noFill/>
          </a:ln>
        </p:spPr>
      </p:pic>
      <p:sp>
        <p:nvSpPr>
          <p:cNvPr id="434" name="Google Shape;434;p21"/>
          <p:cNvSpPr/>
          <p:nvPr/>
        </p:nvSpPr>
        <p:spPr>
          <a:xfrm>
            <a:off x="6179985" y="3538728"/>
            <a:ext cx="1977822" cy="960120"/>
          </a:xfrm>
          <a:prstGeom prst="rect">
            <a:avLst/>
          </a:prstGeom>
          <a:noFill/>
          <a:ln cap="flat" cmpd="sng" w="9525">
            <a:solidFill>
              <a:srgbClr val="D9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21"/>
          <p:cNvSpPr txBox="1"/>
          <p:nvPr/>
        </p:nvSpPr>
        <p:spPr>
          <a:xfrm>
            <a:off x="457200" y="4576572"/>
            <a:ext cx="78638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4A2"/>
              </a:buClr>
              <a:buSzPts val="800"/>
              <a:buFont typeface="Tahoma"/>
              <a:buNone/>
            </a:pPr>
            <a:r>
              <a:rPr b="0" i="1" lang="en-US" sz="800" u="none" cap="none" strike="noStrike">
                <a:solidFill>
                  <a:srgbClr val="8A94A2"/>
                </a:solidFill>
                <a:latin typeface="Tahoma"/>
                <a:ea typeface="Tahoma"/>
                <a:cs typeface="Tahoma"/>
                <a:sym typeface="Tahoma"/>
              </a:rPr>
              <a:t>ภาพ: VAE ที่เทรนจริงบน sprite (หน้าก่อน)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22"/>
          <p:cNvSpPr txBox="1"/>
          <p:nvPr/>
        </p:nvSpPr>
        <p:spPr>
          <a:xfrm>
            <a:off x="457200" y="4814316"/>
            <a:ext cx="5486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3AE"/>
              </a:buClr>
              <a:buSzPts val="900"/>
              <a:buFont typeface="Tahoma"/>
              <a:buNone/>
            </a:pPr>
            <a:r>
              <a:rPr b="0" i="0" lang="en-US" sz="900" u="none" cap="none" strike="noStrike">
                <a:solidFill>
                  <a:srgbClr val="9AA3AE"/>
                </a:solidFill>
                <a:latin typeface="Tahoma"/>
                <a:ea typeface="Tahoma"/>
                <a:cs typeface="Tahoma"/>
                <a:sym typeface="Tahoma"/>
              </a:rPr>
              <a:t>LLM &amp; Agentic AI · สัปดาห์ 4 · ช่วงเช้า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22"/>
          <p:cNvSpPr/>
          <p:nvPr/>
        </p:nvSpPr>
        <p:spPr>
          <a:xfrm>
            <a:off x="8357616" y="4759452"/>
            <a:ext cx="329184" cy="329184"/>
          </a:xfrm>
          <a:prstGeom prst="ellipse">
            <a:avLst/>
          </a:prstGeom>
          <a:solidFill>
            <a:srgbClr val="1F3864"/>
          </a:solidFill>
          <a:ln cap="flat" cmpd="sng" w="12700">
            <a:solidFill>
              <a:srgbClr val="1F38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22"/>
          <p:cNvSpPr txBox="1"/>
          <p:nvPr/>
        </p:nvSpPr>
        <p:spPr>
          <a:xfrm>
            <a:off x="8357616" y="4759452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Tahoma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22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22"/>
          <p:cNvSpPr/>
          <p:nvPr/>
        </p:nvSpPr>
        <p:spPr>
          <a:xfrm>
            <a:off x="457200" y="256032"/>
            <a:ext cx="836676" cy="274320"/>
          </a:xfrm>
          <a:prstGeom prst="roundRect">
            <a:avLst>
              <a:gd fmla="val 50000" name="adj"/>
            </a:avLst>
          </a:prstGeom>
          <a:solidFill>
            <a:srgbClr val="DDF1EA"/>
          </a:solidFill>
          <a:ln cap="flat" cmpd="sng" w="12700">
            <a:solidFill>
              <a:srgbClr val="DDF1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22"/>
          <p:cNvSpPr txBox="1"/>
          <p:nvPr/>
        </p:nvSpPr>
        <p:spPr>
          <a:xfrm>
            <a:off x="457200" y="256032"/>
            <a:ext cx="83667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6F5B"/>
              </a:buClr>
              <a:buSzPts val="1000"/>
              <a:buFont typeface="Tahoma"/>
              <a:buNone/>
            </a:pPr>
            <a:r>
              <a:rPr b="1" i="0" lang="en-US" sz="1000" u="none" cap="none" strike="noStrike">
                <a:solidFill>
                  <a:srgbClr val="1D6F5B"/>
                </a:solidFill>
                <a:latin typeface="Tahoma"/>
                <a:ea typeface="Tahoma"/>
                <a:cs typeface="Tahoma"/>
                <a:sym typeface="Tahoma"/>
              </a:rPr>
              <a:t>2 · VAE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22"/>
          <p:cNvSpPr txBox="1"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2400"/>
              <a:buFont typeface="Tahoma"/>
              <a:buNone/>
            </a:pPr>
            <a:r>
              <a:rPr b="1" i="0" lang="en-US" sz="2400" u="none" cap="none" strike="noStrike">
                <a:solidFill>
                  <a:srgbClr val="1F3864"/>
                </a:solidFill>
                <a:latin typeface="Tahoma"/>
                <a:ea typeface="Tahoma"/>
                <a:cs typeface="Tahoma"/>
                <a:sym typeface="Tahoma"/>
              </a:rPr>
              <a:t>ผลที่จะได้เห็น: VAE สร้างภาพได้ แต่ 'เบลอ'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week4/slides/fig/f_blur.png" id="447" name="Google Shape;447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5071" y="1252728"/>
            <a:ext cx="8013859" cy="3246120"/>
          </a:xfrm>
          <a:prstGeom prst="rect">
            <a:avLst/>
          </a:prstGeom>
          <a:noFill/>
          <a:ln>
            <a:noFill/>
          </a:ln>
        </p:spPr>
      </p:pic>
      <p:sp>
        <p:nvSpPr>
          <p:cNvPr id="448" name="Google Shape;448;p22"/>
          <p:cNvSpPr/>
          <p:nvPr/>
        </p:nvSpPr>
        <p:spPr>
          <a:xfrm>
            <a:off x="565071" y="1252728"/>
            <a:ext cx="8013859" cy="3246120"/>
          </a:xfrm>
          <a:prstGeom prst="rect">
            <a:avLst/>
          </a:prstGeom>
          <a:noFill/>
          <a:ln cap="flat" cmpd="sng" w="9525">
            <a:solidFill>
              <a:srgbClr val="D9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22"/>
          <p:cNvSpPr txBox="1"/>
          <p:nvPr/>
        </p:nvSpPr>
        <p:spPr>
          <a:xfrm>
            <a:off x="457200" y="4576572"/>
            <a:ext cx="78638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4A2"/>
              </a:buClr>
              <a:buSzPts val="800"/>
              <a:buFont typeface="Tahoma"/>
              <a:buNone/>
            </a:pPr>
            <a:r>
              <a:rPr b="0" i="1" lang="en-US" sz="800" u="none" cap="none" strike="noStrike">
                <a:solidFill>
                  <a:srgbClr val="8A94A2"/>
                </a:solidFill>
                <a:latin typeface="Tahoma"/>
                <a:ea typeface="Tahoma"/>
                <a:cs typeface="Tahoma"/>
                <a:sym typeface="Tahoma"/>
              </a:rPr>
              <a:t>ภาพ: VAE / VQ-VAE ที่เทรนจริงบน sprite 10,000 ภาพ (โครงเดียวกับแล็บ 1, เทรนบน CPU)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23"/>
          <p:cNvSpPr txBox="1"/>
          <p:nvPr/>
        </p:nvSpPr>
        <p:spPr>
          <a:xfrm>
            <a:off x="457200" y="4814316"/>
            <a:ext cx="5486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3AE"/>
              </a:buClr>
              <a:buSzPts val="900"/>
              <a:buFont typeface="Tahoma"/>
              <a:buNone/>
            </a:pPr>
            <a:r>
              <a:rPr b="0" i="0" lang="en-US" sz="900" u="none" cap="none" strike="noStrike">
                <a:solidFill>
                  <a:srgbClr val="9AA3AE"/>
                </a:solidFill>
                <a:latin typeface="Tahoma"/>
                <a:ea typeface="Tahoma"/>
                <a:cs typeface="Tahoma"/>
                <a:sym typeface="Tahoma"/>
              </a:rPr>
              <a:t>LLM &amp; Agentic AI · สัปดาห์ 4 · ช่วงเช้า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23"/>
          <p:cNvSpPr/>
          <p:nvPr/>
        </p:nvSpPr>
        <p:spPr>
          <a:xfrm>
            <a:off x="8357616" y="4759452"/>
            <a:ext cx="329184" cy="329184"/>
          </a:xfrm>
          <a:prstGeom prst="ellipse">
            <a:avLst/>
          </a:prstGeom>
          <a:solidFill>
            <a:srgbClr val="1F3864"/>
          </a:solidFill>
          <a:ln cap="flat" cmpd="sng" w="12700">
            <a:solidFill>
              <a:srgbClr val="1F38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p23"/>
          <p:cNvSpPr txBox="1"/>
          <p:nvPr/>
        </p:nvSpPr>
        <p:spPr>
          <a:xfrm>
            <a:off x="8357616" y="4759452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Tahoma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23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23"/>
          <p:cNvSpPr/>
          <p:nvPr/>
        </p:nvSpPr>
        <p:spPr>
          <a:xfrm>
            <a:off x="457200" y="256032"/>
            <a:ext cx="836676" cy="274320"/>
          </a:xfrm>
          <a:prstGeom prst="roundRect">
            <a:avLst>
              <a:gd fmla="val 50000" name="adj"/>
            </a:avLst>
          </a:prstGeom>
          <a:solidFill>
            <a:srgbClr val="DDF1EA"/>
          </a:solidFill>
          <a:ln cap="flat" cmpd="sng" w="12700">
            <a:solidFill>
              <a:srgbClr val="DDF1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23"/>
          <p:cNvSpPr txBox="1"/>
          <p:nvPr/>
        </p:nvSpPr>
        <p:spPr>
          <a:xfrm>
            <a:off x="457200" y="256032"/>
            <a:ext cx="83667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6F5B"/>
              </a:buClr>
              <a:buSzPts val="1000"/>
              <a:buFont typeface="Tahoma"/>
              <a:buNone/>
            </a:pPr>
            <a:r>
              <a:rPr b="1" i="0" lang="en-US" sz="1000" u="none" cap="none" strike="noStrike">
                <a:solidFill>
                  <a:srgbClr val="1D6F5B"/>
                </a:solidFill>
                <a:latin typeface="Tahoma"/>
                <a:ea typeface="Tahoma"/>
                <a:cs typeface="Tahoma"/>
                <a:sym typeface="Tahoma"/>
              </a:rPr>
              <a:t>2 · VAE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23"/>
          <p:cNvSpPr txBox="1"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2400"/>
              <a:buFont typeface="Tahoma"/>
              <a:buNone/>
            </a:pPr>
            <a:r>
              <a:rPr b="1" i="0" lang="en-US" sz="2400" u="none" cap="none" strike="noStrike">
                <a:solidFill>
                  <a:srgbClr val="1F3864"/>
                </a:solidFill>
                <a:latin typeface="Tahoma"/>
                <a:ea typeface="Tahoma"/>
                <a:cs typeface="Tahoma"/>
                <a:sym typeface="Tahoma"/>
              </a:rPr>
              <a:t>ภาพที่ VAE สร้างได้จริง: latent ต่อเนื่อง + ภาพใหม่ที่เบลอ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week4/slides/fig/f_vae_real.png" id="461" name="Google Shape;46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2801" y="1252728"/>
            <a:ext cx="7818399" cy="3246120"/>
          </a:xfrm>
          <a:prstGeom prst="rect">
            <a:avLst/>
          </a:prstGeom>
          <a:noFill/>
          <a:ln>
            <a:noFill/>
          </a:ln>
        </p:spPr>
      </p:pic>
      <p:sp>
        <p:nvSpPr>
          <p:cNvPr id="462" name="Google Shape;462;p23"/>
          <p:cNvSpPr/>
          <p:nvPr/>
        </p:nvSpPr>
        <p:spPr>
          <a:xfrm>
            <a:off x="662801" y="1252728"/>
            <a:ext cx="7818399" cy="3246120"/>
          </a:xfrm>
          <a:prstGeom prst="rect">
            <a:avLst/>
          </a:prstGeom>
          <a:noFill/>
          <a:ln cap="flat" cmpd="sng" w="9525">
            <a:solidFill>
              <a:srgbClr val="D9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23"/>
          <p:cNvSpPr txBox="1"/>
          <p:nvPr/>
        </p:nvSpPr>
        <p:spPr>
          <a:xfrm>
            <a:off x="457200" y="4576572"/>
            <a:ext cx="78638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4A2"/>
              </a:buClr>
              <a:buSzPts val="800"/>
              <a:buFont typeface="Tahoma"/>
              <a:buNone/>
            </a:pPr>
            <a:r>
              <a:rPr b="0" i="1" lang="en-US" sz="800" u="none" cap="none" strike="noStrike">
                <a:solidFill>
                  <a:srgbClr val="8A94A2"/>
                </a:solidFill>
                <a:latin typeface="Tahoma"/>
                <a:ea typeface="Tahoma"/>
                <a:cs typeface="Tahoma"/>
                <a:sym typeface="Tahoma"/>
              </a:rPr>
              <a:t>ภาพ: VAE / VQ-VAE ที่เทรนจริงบน sprite 10,000 ภาพ (โครงเดียวกับแล็บ 1, เทรนบน CPU)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24"/>
          <p:cNvSpPr txBox="1"/>
          <p:nvPr/>
        </p:nvSpPr>
        <p:spPr>
          <a:xfrm>
            <a:off x="457200" y="4814316"/>
            <a:ext cx="5486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3AE"/>
              </a:buClr>
              <a:buSzPts val="900"/>
              <a:buFont typeface="Tahoma"/>
              <a:buNone/>
            </a:pPr>
            <a:r>
              <a:rPr b="0" i="0" lang="en-US" sz="900" u="none" cap="none" strike="noStrike">
                <a:solidFill>
                  <a:srgbClr val="9AA3AE"/>
                </a:solidFill>
                <a:latin typeface="Tahoma"/>
                <a:ea typeface="Tahoma"/>
                <a:cs typeface="Tahoma"/>
                <a:sym typeface="Tahoma"/>
              </a:rPr>
              <a:t>LLM &amp; Agentic AI · สัปดาห์ 4 · ช่วงเช้า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24"/>
          <p:cNvSpPr/>
          <p:nvPr/>
        </p:nvSpPr>
        <p:spPr>
          <a:xfrm>
            <a:off x="8357616" y="4759452"/>
            <a:ext cx="329184" cy="329184"/>
          </a:xfrm>
          <a:prstGeom prst="ellipse">
            <a:avLst/>
          </a:prstGeom>
          <a:solidFill>
            <a:srgbClr val="1F3864"/>
          </a:solidFill>
          <a:ln cap="flat" cmpd="sng" w="12700">
            <a:solidFill>
              <a:srgbClr val="1F38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24"/>
          <p:cNvSpPr txBox="1"/>
          <p:nvPr/>
        </p:nvSpPr>
        <p:spPr>
          <a:xfrm>
            <a:off x="8357616" y="4759452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Tahoma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24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24"/>
          <p:cNvSpPr/>
          <p:nvPr/>
        </p:nvSpPr>
        <p:spPr>
          <a:xfrm>
            <a:off x="457200" y="256032"/>
            <a:ext cx="1069848" cy="274320"/>
          </a:xfrm>
          <a:prstGeom prst="roundRect">
            <a:avLst>
              <a:gd fmla="val 50000" name="adj"/>
            </a:avLst>
          </a:prstGeom>
          <a:solidFill>
            <a:srgbClr val="DDF1EA"/>
          </a:solidFill>
          <a:ln cap="flat" cmpd="sng" w="12700">
            <a:solidFill>
              <a:srgbClr val="DDF1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p24"/>
          <p:cNvSpPr txBox="1"/>
          <p:nvPr/>
        </p:nvSpPr>
        <p:spPr>
          <a:xfrm>
            <a:off x="457200" y="256032"/>
            <a:ext cx="106984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6F5B"/>
              </a:buClr>
              <a:buSzPts val="1000"/>
              <a:buFont typeface="Tahoma"/>
              <a:buNone/>
            </a:pPr>
            <a:r>
              <a:rPr b="1" i="0" lang="en-US" sz="1000" u="none" cap="none" strike="noStrike">
                <a:solidFill>
                  <a:srgbClr val="1D6F5B"/>
                </a:solidFill>
                <a:latin typeface="Tahoma"/>
                <a:ea typeface="Tahoma"/>
                <a:cs typeface="Tahoma"/>
                <a:sym typeface="Tahoma"/>
              </a:rPr>
              <a:t>2 · VQ-VAE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24"/>
          <p:cNvSpPr txBox="1"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2400"/>
              <a:buFont typeface="Tahoma"/>
              <a:buNone/>
            </a:pPr>
            <a:r>
              <a:rPr b="1" i="0" lang="en-US" sz="2400" u="none" cap="none" strike="noStrike">
                <a:solidFill>
                  <a:srgbClr val="1F3864"/>
                </a:solidFill>
                <a:latin typeface="Tahoma"/>
                <a:ea typeface="Tahoma"/>
                <a:cs typeface="Tahoma"/>
                <a:sym typeface="Tahoma"/>
              </a:rPr>
              <a:t>VQ-VAE ต่างจาก VAE ตรงไหน: ตัวเลขอิสระ vs หมายเลขคำ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week4/slides/fig/f_vae_vs_vq.png" id="475" name="Google Shape;475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5382" y="1252728"/>
            <a:ext cx="7153235" cy="3246120"/>
          </a:xfrm>
          <a:prstGeom prst="rect">
            <a:avLst/>
          </a:prstGeom>
          <a:noFill/>
          <a:ln>
            <a:noFill/>
          </a:ln>
        </p:spPr>
      </p:pic>
      <p:sp>
        <p:nvSpPr>
          <p:cNvPr id="476" name="Google Shape;476;p24"/>
          <p:cNvSpPr/>
          <p:nvPr/>
        </p:nvSpPr>
        <p:spPr>
          <a:xfrm>
            <a:off x="995382" y="1252728"/>
            <a:ext cx="7153235" cy="3246120"/>
          </a:xfrm>
          <a:prstGeom prst="rect">
            <a:avLst/>
          </a:prstGeom>
          <a:noFill/>
          <a:ln cap="flat" cmpd="sng" w="9525">
            <a:solidFill>
              <a:srgbClr val="D9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24"/>
          <p:cNvSpPr txBox="1"/>
          <p:nvPr/>
        </p:nvSpPr>
        <p:spPr>
          <a:xfrm>
            <a:off x="457200" y="4576572"/>
            <a:ext cx="78638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4A2"/>
              </a:buClr>
              <a:buSzPts val="800"/>
              <a:buFont typeface="Tahoma"/>
              <a:buNone/>
            </a:pPr>
            <a:r>
              <a:rPr b="0" i="1" lang="en-US" sz="800" u="none" cap="none" strike="noStrike">
                <a:solidFill>
                  <a:srgbClr val="8A94A2"/>
                </a:solidFill>
                <a:latin typeface="Tahoma"/>
                <a:ea typeface="Tahoma"/>
                <a:cs typeface="Tahoma"/>
                <a:sym typeface="Tahoma"/>
              </a:rPr>
              <a:t>ภาพ: VAE / VQ-VAE ที่เทรนจริงบน sprite 10,000 ภาพ (โครงเดียวกับแล็บ 1, เทรนบน CPU)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25"/>
          <p:cNvSpPr txBox="1"/>
          <p:nvPr/>
        </p:nvSpPr>
        <p:spPr>
          <a:xfrm>
            <a:off x="457200" y="4814316"/>
            <a:ext cx="5486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3AE"/>
              </a:buClr>
              <a:buSzPts val="900"/>
              <a:buFont typeface="Tahoma"/>
              <a:buNone/>
            </a:pPr>
            <a:r>
              <a:rPr b="0" i="0" lang="en-US" sz="900" u="none" cap="none" strike="noStrike">
                <a:solidFill>
                  <a:srgbClr val="9AA3AE"/>
                </a:solidFill>
                <a:latin typeface="Tahoma"/>
                <a:ea typeface="Tahoma"/>
                <a:cs typeface="Tahoma"/>
                <a:sym typeface="Tahoma"/>
              </a:rPr>
              <a:t>LLM &amp; Agentic AI · สัปดาห์ 4 · ช่วงเช้า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25"/>
          <p:cNvSpPr/>
          <p:nvPr/>
        </p:nvSpPr>
        <p:spPr>
          <a:xfrm>
            <a:off x="8357616" y="4759452"/>
            <a:ext cx="329184" cy="329184"/>
          </a:xfrm>
          <a:prstGeom prst="ellipse">
            <a:avLst/>
          </a:prstGeom>
          <a:solidFill>
            <a:srgbClr val="1F3864"/>
          </a:solidFill>
          <a:ln cap="flat" cmpd="sng" w="12700">
            <a:solidFill>
              <a:srgbClr val="1F38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p25"/>
          <p:cNvSpPr txBox="1"/>
          <p:nvPr/>
        </p:nvSpPr>
        <p:spPr>
          <a:xfrm>
            <a:off x="8357616" y="4759452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Tahoma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25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25"/>
          <p:cNvSpPr/>
          <p:nvPr/>
        </p:nvSpPr>
        <p:spPr>
          <a:xfrm>
            <a:off x="457200" y="256032"/>
            <a:ext cx="1069848" cy="274320"/>
          </a:xfrm>
          <a:prstGeom prst="roundRect">
            <a:avLst>
              <a:gd fmla="val 50000" name="adj"/>
            </a:avLst>
          </a:prstGeom>
          <a:solidFill>
            <a:srgbClr val="DDF1EA"/>
          </a:solidFill>
          <a:ln cap="flat" cmpd="sng" w="12700">
            <a:solidFill>
              <a:srgbClr val="DDF1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25"/>
          <p:cNvSpPr txBox="1"/>
          <p:nvPr/>
        </p:nvSpPr>
        <p:spPr>
          <a:xfrm>
            <a:off x="457200" y="256032"/>
            <a:ext cx="106984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6F5B"/>
              </a:buClr>
              <a:buSzPts val="1000"/>
              <a:buFont typeface="Tahoma"/>
              <a:buNone/>
            </a:pPr>
            <a:r>
              <a:rPr b="1" i="0" lang="en-US" sz="1000" u="none" cap="none" strike="noStrike">
                <a:solidFill>
                  <a:srgbClr val="1D6F5B"/>
                </a:solidFill>
                <a:latin typeface="Tahoma"/>
                <a:ea typeface="Tahoma"/>
                <a:cs typeface="Tahoma"/>
                <a:sym typeface="Tahoma"/>
              </a:rPr>
              <a:t>2 · VQ-VAE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25"/>
          <p:cNvSpPr txBox="1"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2400"/>
              <a:buFont typeface="Tahoma"/>
              <a:buNone/>
            </a:pPr>
            <a:r>
              <a:rPr b="1" i="0" lang="en-US" sz="2400" u="none" cap="none" strike="noStrike">
                <a:solidFill>
                  <a:srgbClr val="1F3864"/>
                </a:solidFill>
                <a:latin typeface="Tahoma"/>
                <a:ea typeface="Tahoma"/>
                <a:cs typeface="Tahoma"/>
                <a:sym typeface="Tahoma"/>
              </a:rPr>
              <a:t>VQ-VAE ทีละขั้น: ภาพ → หมายเลขคำ → ภาพ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week4/slides/fig/f_vq_real.png" id="489" name="Google Shape;489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4074" y="1252728"/>
            <a:ext cx="7735852" cy="3246120"/>
          </a:xfrm>
          <a:prstGeom prst="rect">
            <a:avLst/>
          </a:prstGeom>
          <a:noFill/>
          <a:ln>
            <a:noFill/>
          </a:ln>
        </p:spPr>
      </p:pic>
      <p:sp>
        <p:nvSpPr>
          <p:cNvPr id="490" name="Google Shape;490;p25"/>
          <p:cNvSpPr/>
          <p:nvPr/>
        </p:nvSpPr>
        <p:spPr>
          <a:xfrm>
            <a:off x="704074" y="1252728"/>
            <a:ext cx="7735852" cy="3246120"/>
          </a:xfrm>
          <a:prstGeom prst="rect">
            <a:avLst/>
          </a:prstGeom>
          <a:noFill/>
          <a:ln cap="flat" cmpd="sng" w="9525">
            <a:solidFill>
              <a:srgbClr val="D9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p25"/>
          <p:cNvSpPr txBox="1"/>
          <p:nvPr/>
        </p:nvSpPr>
        <p:spPr>
          <a:xfrm>
            <a:off x="457200" y="4576572"/>
            <a:ext cx="78638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4A2"/>
              </a:buClr>
              <a:buSzPts val="800"/>
              <a:buFont typeface="Tahoma"/>
              <a:buNone/>
            </a:pPr>
            <a:r>
              <a:rPr b="0" i="1" lang="en-US" sz="800" u="none" cap="none" strike="noStrike">
                <a:solidFill>
                  <a:srgbClr val="8A94A2"/>
                </a:solidFill>
                <a:latin typeface="Tahoma"/>
                <a:ea typeface="Tahoma"/>
                <a:cs typeface="Tahoma"/>
                <a:sym typeface="Tahoma"/>
              </a:rPr>
              <a:t>ภาพ: VAE / VQ-VAE ที่เทรนจริงบน sprite 10,000 ภาพ (โครงเดียวกับแล็บ 1, เทรนบน CPU) — แนวคิดจาก van den Oord et al. 2017 (Siyu Zhu Lecture 2 หน้า 83)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26"/>
          <p:cNvSpPr txBox="1"/>
          <p:nvPr/>
        </p:nvSpPr>
        <p:spPr>
          <a:xfrm>
            <a:off x="457200" y="4814316"/>
            <a:ext cx="5486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3AE"/>
              </a:buClr>
              <a:buSzPts val="900"/>
              <a:buFont typeface="Tahoma"/>
              <a:buNone/>
            </a:pPr>
            <a:r>
              <a:rPr b="0" i="0" lang="en-US" sz="900" u="none" cap="none" strike="noStrike">
                <a:solidFill>
                  <a:srgbClr val="9AA3AE"/>
                </a:solidFill>
                <a:latin typeface="Tahoma"/>
                <a:ea typeface="Tahoma"/>
                <a:cs typeface="Tahoma"/>
                <a:sym typeface="Tahoma"/>
              </a:rPr>
              <a:t>LLM &amp; Agentic AI · สัปดาห์ 4 · ช่วงเช้า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26"/>
          <p:cNvSpPr/>
          <p:nvPr/>
        </p:nvSpPr>
        <p:spPr>
          <a:xfrm>
            <a:off x="8357616" y="4759452"/>
            <a:ext cx="329184" cy="329184"/>
          </a:xfrm>
          <a:prstGeom prst="ellipse">
            <a:avLst/>
          </a:prstGeom>
          <a:solidFill>
            <a:srgbClr val="1F3864"/>
          </a:solidFill>
          <a:ln cap="flat" cmpd="sng" w="12700">
            <a:solidFill>
              <a:srgbClr val="1F38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26"/>
          <p:cNvSpPr txBox="1"/>
          <p:nvPr/>
        </p:nvSpPr>
        <p:spPr>
          <a:xfrm>
            <a:off x="8357616" y="4759452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Tahoma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26"/>
          <p:cNvSpPr/>
          <p:nvPr/>
        </p:nvSpPr>
        <p:spPr>
          <a:xfrm>
            <a:off x="457200" y="256032"/>
            <a:ext cx="836676" cy="274320"/>
          </a:xfrm>
          <a:prstGeom prst="roundRect">
            <a:avLst>
              <a:gd fmla="val 50000" name="adj"/>
            </a:avLst>
          </a:prstGeom>
          <a:solidFill>
            <a:srgbClr val="DDF1EA"/>
          </a:solidFill>
          <a:ln cap="flat" cmpd="sng" w="12700">
            <a:solidFill>
              <a:srgbClr val="DDF1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26"/>
          <p:cNvSpPr txBox="1"/>
          <p:nvPr/>
        </p:nvSpPr>
        <p:spPr>
          <a:xfrm>
            <a:off x="457200" y="256032"/>
            <a:ext cx="83667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6F5B"/>
              </a:buClr>
              <a:buSzPts val="1000"/>
              <a:buFont typeface="Tahoma"/>
              <a:buNone/>
            </a:pPr>
            <a:r>
              <a:rPr b="1" i="0" lang="en-US" sz="1000" u="none" cap="none" strike="noStrike">
                <a:solidFill>
                  <a:srgbClr val="1D6F5B"/>
                </a:solidFill>
                <a:latin typeface="Tahoma"/>
                <a:ea typeface="Tahoma"/>
                <a:cs typeface="Tahoma"/>
                <a:sym typeface="Tahoma"/>
              </a:rPr>
              <a:t>2 · VAE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26"/>
          <p:cNvSpPr txBox="1"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2400"/>
              <a:buFont typeface="Tahoma"/>
              <a:buNone/>
            </a:pPr>
            <a:r>
              <a:rPr b="1" i="0" lang="en-US" sz="2400" u="none" cap="none" strike="noStrike">
                <a:solidFill>
                  <a:srgbClr val="1F3864"/>
                </a:solidFill>
                <a:latin typeface="Tahoma"/>
                <a:ea typeface="Tahoma"/>
                <a:cs typeface="Tahoma"/>
                <a:sym typeface="Tahoma"/>
              </a:rPr>
              <a:t>VAE ไปอยู่ที่ไหนในของจริง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week4/slides/fig/use/e_L4_26_0.png" id="503" name="Google Shape;503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03520" y="1727684"/>
            <a:ext cx="3383280" cy="1326944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26"/>
          <p:cNvSpPr/>
          <p:nvPr/>
        </p:nvSpPr>
        <p:spPr>
          <a:xfrm>
            <a:off x="5303520" y="1727684"/>
            <a:ext cx="3383280" cy="1326944"/>
          </a:xfrm>
          <a:prstGeom prst="rect">
            <a:avLst/>
          </a:prstGeom>
          <a:noFill/>
          <a:ln cap="flat" cmpd="sng" w="9525">
            <a:solidFill>
              <a:srgbClr val="D9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26"/>
          <p:cNvSpPr txBox="1"/>
          <p:nvPr/>
        </p:nvSpPr>
        <p:spPr>
          <a:xfrm>
            <a:off x="5303520" y="3082060"/>
            <a:ext cx="3383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F6B7A"/>
              </a:buClr>
              <a:buSzPts val="1000"/>
              <a:buFont typeface="Tahoma"/>
              <a:buNone/>
            </a:pPr>
            <a:r>
              <a:rPr b="0" i="0" lang="en-US" sz="1000" u="none" cap="none" strike="noStrike">
                <a:solidFill>
                  <a:srgbClr val="5F6B7A"/>
                </a:solidFill>
                <a:latin typeface="Tahoma"/>
                <a:ea typeface="Tahoma"/>
                <a:cs typeface="Tahoma"/>
                <a:sym typeface="Tahoma"/>
              </a:rPr>
              <a:t>บน: diffusion บนพิกเซล · ล่าง: บีบด้วย VAE ก่อน (latent)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26"/>
          <p:cNvSpPr txBox="1"/>
          <p:nvPr/>
        </p:nvSpPr>
        <p:spPr>
          <a:xfrm>
            <a:off x="457200" y="1298448"/>
            <a:ext cx="4617720" cy="24231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-203200" lvl="0" marL="203200" marR="0" rtl="0" algn="l">
              <a:spcBef>
                <a:spcPts val="0"/>
              </a:spcBef>
              <a:spcAft>
                <a:spcPts val="0"/>
              </a:spcAft>
              <a:buClr>
                <a:srgbClr val="1E2733"/>
              </a:buClr>
              <a:buSzPts val="1100"/>
              <a:buFont typeface="Tahoma"/>
              <a:buChar char="•"/>
            </a:pPr>
            <a:r>
              <a:rPr b="1" i="0" lang="en-US" sz="1100" u="none" cap="none" strike="noStrike">
                <a:solidFill>
                  <a:srgbClr val="1E2733"/>
                </a:solidFill>
                <a:latin typeface="Tahoma"/>
                <a:ea typeface="Tahoma"/>
                <a:cs typeface="Tahoma"/>
                <a:sym typeface="Tahoma"/>
              </a:rPr>
              <a:t>Stable Diffusion ใช้ VAE บีบภาพ 512×512×3 ให้เหลือ latent 64×64×4 ก่อน (เล็กลง 48 เท่า) แล้วค่อยทำ diffusion บน latent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1" marL="355600" marR="0" rtl="0" algn="l">
              <a:spcBef>
                <a:spcPts val="800"/>
              </a:spcBef>
              <a:spcAft>
                <a:spcPts val="0"/>
              </a:spcAft>
              <a:buClr>
                <a:srgbClr val="5F6B7A"/>
              </a:buClr>
              <a:buSzPts val="900"/>
              <a:buFont typeface="Tahoma"/>
              <a:buChar char="–"/>
            </a:pPr>
            <a:r>
              <a:rPr b="0" i="0" lang="en-US" sz="900" u="none" cap="none" strike="noStrike">
                <a:solidFill>
                  <a:srgbClr val="5F6B7A"/>
                </a:solidFill>
                <a:latin typeface="Tahoma"/>
                <a:ea typeface="Tahoma"/>
                <a:cs typeface="Tahoma"/>
                <a:sym typeface="Tahoma"/>
              </a:rPr>
              <a:t>เหตุผล: diffusion บนพิกเซลเต็ม ๆ ช้าและกินหน่วยความจำมาก — บีบก่อนแล้วค่อยทำจะเร็วกว่าหลายสิบเท่า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0" marL="203200" marR="0" rtl="0" algn="l">
              <a:spcBef>
                <a:spcPts val="500"/>
              </a:spcBef>
              <a:spcAft>
                <a:spcPts val="0"/>
              </a:spcAft>
              <a:buClr>
                <a:srgbClr val="1E2733"/>
              </a:buClr>
              <a:buSzPts val="1100"/>
              <a:buFont typeface="Tahoma"/>
              <a:buChar char="•"/>
            </a:pPr>
            <a:r>
              <a:rPr b="0" i="0" lang="en-US" sz="1100" u="none" cap="none" strike="noStrike">
                <a:solidFill>
                  <a:srgbClr val="1E2733"/>
                </a:solidFill>
                <a:latin typeface="Tahoma"/>
                <a:ea typeface="Tahoma"/>
                <a:cs typeface="Tahoma"/>
                <a:sym typeface="Tahoma"/>
              </a:rPr>
              <a:t>VAE ตัวนั้น latent ต่อเนื่อง (KL) แต่เทรนด้วยสูตร loss ของ VQ-GAN: มี 'กรรมการ' แบบ GAN + perceptual loss (วัดความต่างด้วยฟีเจอร์ CNN แทนพิกเซล) เพื่อให้ภาพคม — ส่วน 3 จะเล่าว่ากรรมการคืออะไร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0" marL="203200" marR="0" rtl="0" algn="l">
              <a:spcBef>
                <a:spcPts val="800"/>
              </a:spcBef>
              <a:spcAft>
                <a:spcPts val="0"/>
              </a:spcAft>
              <a:buClr>
                <a:srgbClr val="1E2733"/>
              </a:buClr>
              <a:buSzPts val="1100"/>
              <a:buFont typeface="Tahoma"/>
              <a:buChar char="•"/>
            </a:pPr>
            <a:r>
              <a:rPr b="0" i="0" lang="en-US" sz="1100" u="none" cap="none" strike="noStrike">
                <a:solidFill>
                  <a:srgbClr val="1E2733"/>
                </a:solidFill>
                <a:latin typeface="Tahoma"/>
                <a:ea typeface="Tahoma"/>
                <a:cs typeface="Tahoma"/>
                <a:sym typeface="Tahoma"/>
              </a:rPr>
              <a:t>VQ-VAE: image token สำหรับโมเดล autoregressive (DALL·E 1; โมเดลภาพของ GPT-4o ก็เป็น autoregressive แต่ไม่เปิดเผยตัว tokenizer)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0" marL="203200" marR="0" rtl="0" algn="l">
              <a:spcBef>
                <a:spcPts val="800"/>
              </a:spcBef>
              <a:spcAft>
                <a:spcPts val="0"/>
              </a:spcAft>
              <a:buClr>
                <a:srgbClr val="1E2733"/>
              </a:buClr>
              <a:buSzPts val="1100"/>
              <a:buFont typeface="Tahoma"/>
              <a:buChar char="•"/>
            </a:pPr>
            <a:r>
              <a:rPr b="0" i="0" lang="en-US" sz="1100" u="none" cap="none" strike="noStrike">
                <a:solidFill>
                  <a:srgbClr val="1E2733"/>
                </a:solidFill>
                <a:latin typeface="Tahoma"/>
                <a:ea typeface="Tahoma"/>
                <a:cs typeface="Tahoma"/>
                <a:sym typeface="Tahoma"/>
              </a:rPr>
              <a:t>งานวิจัย: anomaly detection (ภาพที่ VAE คลายกลับไม่ได้ = ผิดปกติ), การบีบอัด, การสร้างข้อมูลสังเคราะห์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26"/>
          <p:cNvSpPr/>
          <p:nvPr/>
        </p:nvSpPr>
        <p:spPr>
          <a:xfrm>
            <a:off x="457200" y="3840480"/>
            <a:ext cx="8229600" cy="658368"/>
          </a:xfrm>
          <a:prstGeom prst="roundRect">
            <a:avLst>
              <a:gd fmla="val 11111" name="adj"/>
            </a:avLst>
          </a:prstGeom>
          <a:solidFill>
            <a:srgbClr val="DDF1EA"/>
          </a:solidFill>
          <a:ln cap="flat" cmpd="sng" w="12700">
            <a:solidFill>
              <a:srgbClr val="DDF1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8" name="Google Shape;508;p26"/>
          <p:cNvSpPr/>
          <p:nvPr/>
        </p:nvSpPr>
        <p:spPr>
          <a:xfrm>
            <a:off x="621792" y="4087368"/>
            <a:ext cx="164592" cy="164592"/>
          </a:xfrm>
          <a:prstGeom prst="ellipse">
            <a:avLst/>
          </a:prstGeom>
          <a:solidFill>
            <a:srgbClr val="1D6F5B"/>
          </a:solidFill>
          <a:ln cap="flat" cmpd="sng" w="12700">
            <a:solidFill>
              <a:srgbClr val="1D6F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p26"/>
          <p:cNvSpPr txBox="1"/>
          <p:nvPr/>
        </p:nvSpPr>
        <p:spPr>
          <a:xfrm>
            <a:off x="914400" y="3840480"/>
            <a:ext cx="76352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33"/>
              </a:buClr>
              <a:buSzPts val="1300"/>
              <a:buFont typeface="Tahoma"/>
              <a:buNone/>
            </a:pPr>
            <a:r>
              <a:rPr b="0" i="0" lang="en-US" sz="1300" u="none" cap="none" strike="noStrike">
                <a:solidFill>
                  <a:srgbClr val="1E2733"/>
                </a:solidFill>
                <a:latin typeface="Tahoma"/>
                <a:ea typeface="Tahoma"/>
                <a:cs typeface="Tahoma"/>
                <a:sym typeface="Tahoma"/>
              </a:rPr>
              <a:t>ตอนบ่ายแล็บ 1: เทรน VAE บน sprite แล้วดู latent 'แผนที่ของภาพ' — สิ่งเดียวกับที่ Stable Diffusion ทำงานอยู่ข้างใน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26"/>
          <p:cNvSpPr txBox="1"/>
          <p:nvPr/>
        </p:nvSpPr>
        <p:spPr>
          <a:xfrm>
            <a:off x="457200" y="4576572"/>
            <a:ext cx="78638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4A2"/>
              </a:buClr>
              <a:buSzPts val="800"/>
              <a:buFont typeface="Tahoma"/>
              <a:buNone/>
            </a:pPr>
            <a:r>
              <a:rPr b="0" i="1" lang="en-US" sz="800" u="none" cap="none" strike="noStrike">
                <a:solidFill>
                  <a:srgbClr val="8A94A2"/>
                </a:solidFill>
                <a:latin typeface="Tahoma"/>
                <a:ea typeface="Tahoma"/>
                <a:cs typeface="Tahoma"/>
                <a:sym typeface="Tahoma"/>
              </a:rPr>
              <a:t>ภาพ: Siyu Zhu (Fudan) Lecture 4&amp;5 หน้า 26 · ต้นฉบับ Mike Shou, NUS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F3864"/>
        </a:solidFill>
      </p:bgPr>
    </p:bg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27"/>
          <p:cNvSpPr txBox="1"/>
          <p:nvPr/>
        </p:nvSpPr>
        <p:spPr>
          <a:xfrm>
            <a:off x="6766560" y="1280160"/>
            <a:ext cx="2194560" cy="3108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7406F"/>
              </a:buClr>
              <a:buSzPts val="17000"/>
              <a:buFont typeface="Tahoma"/>
              <a:buNone/>
            </a:pPr>
            <a:r>
              <a:rPr b="1" i="0" lang="en-US" sz="17000" u="none" cap="none" strike="noStrike">
                <a:solidFill>
                  <a:srgbClr val="27406F"/>
                </a:solidFill>
                <a:latin typeface="Tahoma"/>
                <a:ea typeface="Tahoma"/>
                <a:cs typeface="Tahoma"/>
                <a:sym typeface="Tahoma"/>
              </a:rPr>
              <a:t>3</a:t>
            </a:r>
            <a:endParaRPr b="0" i="0" sz="17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27"/>
          <p:cNvSpPr txBox="1"/>
          <p:nvPr/>
        </p:nvSpPr>
        <p:spPr>
          <a:xfrm>
            <a:off x="640080" y="118872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DB8D9"/>
              </a:buClr>
              <a:buSzPts val="1500"/>
              <a:buFont typeface="Tahoma"/>
              <a:buNone/>
            </a:pPr>
            <a:r>
              <a:rPr b="1" i="0" lang="en-US" sz="1500" u="none" cap="none" strike="noStrike">
                <a:solidFill>
                  <a:srgbClr val="9DB8D9"/>
                </a:solidFill>
                <a:latin typeface="Tahoma"/>
                <a:ea typeface="Tahoma"/>
                <a:cs typeface="Tahoma"/>
                <a:sym typeface="Tahoma"/>
              </a:rPr>
              <a:t>ส่วนที่ 3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27"/>
          <p:cNvSpPr txBox="1"/>
          <p:nvPr/>
        </p:nvSpPr>
        <p:spPr>
          <a:xfrm>
            <a:off x="640080" y="1645920"/>
            <a:ext cx="62179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27"/>
          <p:cNvSpPr/>
          <p:nvPr/>
        </p:nvSpPr>
        <p:spPr>
          <a:xfrm>
            <a:off x="5394960" y="1005840"/>
            <a:ext cx="3657600" cy="3657600"/>
          </a:xfrm>
          <a:prstGeom prst="rect">
            <a:avLst/>
          </a:prstGeom>
          <a:solidFill>
            <a:srgbClr val="1F3864"/>
          </a:solidFill>
          <a:ln cap="flat" cmpd="sng" w="12700">
            <a:solidFill>
              <a:srgbClr val="1F38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" name="Google Shape;520;p27"/>
          <p:cNvSpPr txBox="1"/>
          <p:nvPr/>
        </p:nvSpPr>
        <p:spPr>
          <a:xfrm>
            <a:off x="640080" y="1645920"/>
            <a:ext cx="46634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Tahoma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GAN — เกมสองฝ่าย: คนปลอมแบงก์ vs ตำรวจ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27"/>
          <p:cNvSpPr txBox="1"/>
          <p:nvPr/>
        </p:nvSpPr>
        <p:spPr>
          <a:xfrm>
            <a:off x="640080" y="2926080"/>
            <a:ext cx="466344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Tahoma"/>
              <a:buNone/>
            </a:pPr>
            <a:r>
              <a:rPr b="0" i="0" lang="en-US" sz="1300" u="none" cap="none" strike="noStrike">
                <a:solidFill>
                  <a:srgbClr val="CADCFC"/>
                </a:solidFill>
                <a:latin typeface="Tahoma"/>
                <a:ea typeface="Tahoma"/>
                <a:cs typeface="Tahoma"/>
                <a:sym typeface="Tahoma"/>
              </a:rPr>
              <a:t>ไม่ต้องมีเฉลยพิกเซล · เทรนสลับกันสองขั้น · ภาพคม แต่เทรนยากและเสี่ยง mode collapse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week4/slides/fig/use/e_L3_33_0.png" id="522" name="Google Shape;522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77840" y="2075800"/>
            <a:ext cx="3200400" cy="1334801"/>
          </a:xfrm>
          <a:prstGeom prst="rect">
            <a:avLst/>
          </a:prstGeom>
          <a:noFill/>
          <a:ln>
            <a:noFill/>
          </a:ln>
        </p:spPr>
      </p:pic>
      <p:sp>
        <p:nvSpPr>
          <p:cNvPr id="523" name="Google Shape;523;p27"/>
          <p:cNvSpPr/>
          <p:nvPr/>
        </p:nvSpPr>
        <p:spPr>
          <a:xfrm>
            <a:off x="5577840" y="2075800"/>
            <a:ext cx="3200400" cy="1334801"/>
          </a:xfrm>
          <a:prstGeom prst="rect">
            <a:avLst/>
          </a:prstGeom>
          <a:noFill/>
          <a:ln cap="flat" cmpd="sng" w="9525">
            <a:solidFill>
              <a:srgbClr val="D9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p27"/>
          <p:cNvSpPr txBox="1"/>
          <p:nvPr/>
        </p:nvSpPr>
        <p:spPr>
          <a:xfrm>
            <a:off x="457200" y="4576572"/>
            <a:ext cx="78638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DB8D9"/>
              </a:buClr>
              <a:buSzPts val="800"/>
              <a:buFont typeface="Tahoma"/>
              <a:buNone/>
            </a:pPr>
            <a:r>
              <a:rPr b="0" i="1" lang="en-US" sz="800" u="none" cap="none" strike="noStrike">
                <a:solidFill>
                  <a:srgbClr val="9DB8D9"/>
                </a:solidFill>
                <a:latin typeface="Tahoma"/>
                <a:ea typeface="Tahoma"/>
                <a:cs typeface="Tahoma"/>
                <a:sym typeface="Tahoma"/>
              </a:rPr>
              <a:t>ภาพ: Siyu Zhu (Fudan) Lecture 3 หน้า 33 · ต้นฉบับ Stanford University 2024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28"/>
          <p:cNvSpPr txBox="1"/>
          <p:nvPr/>
        </p:nvSpPr>
        <p:spPr>
          <a:xfrm>
            <a:off x="457200" y="4814316"/>
            <a:ext cx="5486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3AE"/>
              </a:buClr>
              <a:buSzPts val="900"/>
              <a:buFont typeface="Tahoma"/>
              <a:buNone/>
            </a:pPr>
            <a:r>
              <a:rPr b="0" i="0" lang="en-US" sz="900" u="none" cap="none" strike="noStrike">
                <a:solidFill>
                  <a:srgbClr val="9AA3AE"/>
                </a:solidFill>
                <a:latin typeface="Tahoma"/>
                <a:ea typeface="Tahoma"/>
                <a:cs typeface="Tahoma"/>
                <a:sym typeface="Tahoma"/>
              </a:rPr>
              <a:t>LLM &amp; Agentic AI · สัปดาห์ 4 · ช่วงเช้า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28"/>
          <p:cNvSpPr/>
          <p:nvPr/>
        </p:nvSpPr>
        <p:spPr>
          <a:xfrm>
            <a:off x="8357616" y="4759452"/>
            <a:ext cx="329184" cy="329184"/>
          </a:xfrm>
          <a:prstGeom prst="ellipse">
            <a:avLst/>
          </a:prstGeom>
          <a:solidFill>
            <a:srgbClr val="1F3864"/>
          </a:solidFill>
          <a:ln cap="flat" cmpd="sng" w="12700">
            <a:solidFill>
              <a:srgbClr val="1F38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2" name="Google Shape;532;p28"/>
          <p:cNvSpPr txBox="1"/>
          <p:nvPr/>
        </p:nvSpPr>
        <p:spPr>
          <a:xfrm>
            <a:off x="8357616" y="4759452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Tahoma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28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28"/>
          <p:cNvSpPr/>
          <p:nvPr/>
        </p:nvSpPr>
        <p:spPr>
          <a:xfrm>
            <a:off x="457200" y="256032"/>
            <a:ext cx="836676" cy="274320"/>
          </a:xfrm>
          <a:prstGeom prst="roundRect">
            <a:avLst>
              <a:gd fmla="val 50000" name="adj"/>
            </a:avLst>
          </a:prstGeom>
          <a:solidFill>
            <a:srgbClr val="DDF1EA"/>
          </a:solidFill>
          <a:ln cap="flat" cmpd="sng" w="12700">
            <a:solidFill>
              <a:srgbClr val="DDF1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" name="Google Shape;534;p28"/>
          <p:cNvSpPr txBox="1"/>
          <p:nvPr/>
        </p:nvSpPr>
        <p:spPr>
          <a:xfrm>
            <a:off x="457200" y="256032"/>
            <a:ext cx="83667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6F5B"/>
              </a:buClr>
              <a:buSzPts val="1000"/>
              <a:buFont typeface="Tahoma"/>
              <a:buNone/>
            </a:pPr>
            <a:r>
              <a:rPr b="1" i="0" lang="en-US" sz="1000" u="none" cap="none" strike="noStrike">
                <a:solidFill>
                  <a:srgbClr val="1D6F5B"/>
                </a:solidFill>
                <a:latin typeface="Tahoma"/>
                <a:ea typeface="Tahoma"/>
                <a:cs typeface="Tahoma"/>
                <a:sym typeface="Tahoma"/>
              </a:rPr>
              <a:t>3 · GAN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28"/>
          <p:cNvSpPr txBox="1"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2400"/>
              <a:buFont typeface="Tahoma"/>
              <a:buNone/>
            </a:pPr>
            <a:r>
              <a:rPr b="1" i="0" lang="en-US" sz="2400" u="none" cap="none" strike="noStrike">
                <a:solidFill>
                  <a:srgbClr val="1F3864"/>
                </a:solidFill>
                <a:latin typeface="Tahoma"/>
                <a:ea typeface="Tahoma"/>
                <a:cs typeface="Tahoma"/>
                <a:sym typeface="Tahoma"/>
              </a:rPr>
              <a:t>เกมสองฝ่าย: ภาพจริงเข้าทางไหน noise เข้าทางไหน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week4/slides/fig/f_gan_entry.png" id="536" name="Google Shape;536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1966" y="1252728"/>
            <a:ext cx="7380068" cy="3246120"/>
          </a:xfrm>
          <a:prstGeom prst="rect">
            <a:avLst/>
          </a:prstGeom>
          <a:noFill/>
          <a:ln>
            <a:noFill/>
          </a:ln>
        </p:spPr>
      </p:pic>
      <p:sp>
        <p:nvSpPr>
          <p:cNvPr id="537" name="Google Shape;537;p28"/>
          <p:cNvSpPr/>
          <p:nvPr/>
        </p:nvSpPr>
        <p:spPr>
          <a:xfrm>
            <a:off x="881966" y="1252728"/>
            <a:ext cx="7380068" cy="3246120"/>
          </a:xfrm>
          <a:prstGeom prst="rect">
            <a:avLst/>
          </a:prstGeom>
          <a:noFill/>
          <a:ln cap="flat" cmpd="sng" w="9525">
            <a:solidFill>
              <a:srgbClr val="D9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8" name="Google Shape;538;p28"/>
          <p:cNvSpPr txBox="1"/>
          <p:nvPr/>
        </p:nvSpPr>
        <p:spPr>
          <a:xfrm>
            <a:off x="457200" y="4576572"/>
            <a:ext cx="78638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4A2"/>
              </a:buClr>
              <a:buSzPts val="800"/>
              <a:buFont typeface="Tahoma"/>
              <a:buNone/>
            </a:pPr>
            <a:r>
              <a:rPr b="0" i="1" lang="en-US" sz="800" u="none" cap="none" strike="noStrike">
                <a:solidFill>
                  <a:srgbClr val="8A94A2"/>
                </a:solidFill>
                <a:latin typeface="Tahoma"/>
                <a:ea typeface="Tahoma"/>
                <a:cs typeface="Tahoma"/>
                <a:sym typeface="Tahoma"/>
              </a:rPr>
              <a:t>ภาพ: DCGAN ที่เทรนจริงบน sprite 10,000 ภาพ (โครงเดียวกับแล็บ 2, เทรนบน CPU)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29"/>
          <p:cNvSpPr txBox="1"/>
          <p:nvPr/>
        </p:nvSpPr>
        <p:spPr>
          <a:xfrm>
            <a:off x="457200" y="4814316"/>
            <a:ext cx="5486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3AE"/>
              </a:buClr>
              <a:buSzPts val="900"/>
              <a:buFont typeface="Tahoma"/>
              <a:buNone/>
            </a:pPr>
            <a:r>
              <a:rPr b="0" i="0" lang="en-US" sz="900" u="none" cap="none" strike="noStrike">
                <a:solidFill>
                  <a:srgbClr val="9AA3AE"/>
                </a:solidFill>
                <a:latin typeface="Tahoma"/>
                <a:ea typeface="Tahoma"/>
                <a:cs typeface="Tahoma"/>
                <a:sym typeface="Tahoma"/>
              </a:rPr>
              <a:t>LLM &amp; Agentic AI · สัปดาห์ 4 · ช่วงเช้า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29"/>
          <p:cNvSpPr/>
          <p:nvPr/>
        </p:nvSpPr>
        <p:spPr>
          <a:xfrm>
            <a:off x="8357616" y="4759452"/>
            <a:ext cx="329184" cy="329184"/>
          </a:xfrm>
          <a:prstGeom prst="ellipse">
            <a:avLst/>
          </a:prstGeom>
          <a:solidFill>
            <a:srgbClr val="1F3864"/>
          </a:solidFill>
          <a:ln cap="flat" cmpd="sng" w="12700">
            <a:solidFill>
              <a:srgbClr val="1F38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6" name="Google Shape;546;p29"/>
          <p:cNvSpPr txBox="1"/>
          <p:nvPr/>
        </p:nvSpPr>
        <p:spPr>
          <a:xfrm>
            <a:off x="8357616" y="4759452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Tahoma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29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29"/>
          <p:cNvSpPr/>
          <p:nvPr/>
        </p:nvSpPr>
        <p:spPr>
          <a:xfrm>
            <a:off x="457200" y="256032"/>
            <a:ext cx="836676" cy="274320"/>
          </a:xfrm>
          <a:prstGeom prst="roundRect">
            <a:avLst>
              <a:gd fmla="val 50000" name="adj"/>
            </a:avLst>
          </a:prstGeom>
          <a:solidFill>
            <a:srgbClr val="DDF1EA"/>
          </a:solidFill>
          <a:ln cap="flat" cmpd="sng" w="12700">
            <a:solidFill>
              <a:srgbClr val="DDF1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29"/>
          <p:cNvSpPr txBox="1"/>
          <p:nvPr/>
        </p:nvSpPr>
        <p:spPr>
          <a:xfrm>
            <a:off x="457200" y="256032"/>
            <a:ext cx="83667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6F5B"/>
              </a:buClr>
              <a:buSzPts val="1000"/>
              <a:buFont typeface="Tahoma"/>
              <a:buNone/>
            </a:pPr>
            <a:r>
              <a:rPr b="1" i="0" lang="en-US" sz="1000" u="none" cap="none" strike="noStrike">
                <a:solidFill>
                  <a:srgbClr val="1D6F5B"/>
                </a:solidFill>
                <a:latin typeface="Tahoma"/>
                <a:ea typeface="Tahoma"/>
                <a:cs typeface="Tahoma"/>
                <a:sym typeface="Tahoma"/>
              </a:rPr>
              <a:t>3 · GAN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29"/>
          <p:cNvSpPr txBox="1"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2400"/>
              <a:buFont typeface="Tahoma"/>
              <a:buNone/>
            </a:pPr>
            <a:r>
              <a:rPr b="1" i="0" lang="en-US" sz="2400" u="none" cap="none" strike="noStrike">
                <a:solidFill>
                  <a:srgbClr val="1F3864"/>
                </a:solidFill>
                <a:latin typeface="Tahoma"/>
                <a:ea typeface="Tahoma"/>
                <a:cs typeface="Tahoma"/>
                <a:sym typeface="Tahoma"/>
              </a:rPr>
              <a:t>จุดพลิก: VAE มีเฉลยพิกเซล — GAN มีแค่คะแนนจาก D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week4/slides/fig/f_gan_vs_vae.png" id="550" name="Google Shape;550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3757" y="1252728"/>
            <a:ext cx="7476486" cy="3246120"/>
          </a:xfrm>
          <a:prstGeom prst="rect">
            <a:avLst/>
          </a:prstGeom>
          <a:noFill/>
          <a:ln>
            <a:noFill/>
          </a:ln>
        </p:spPr>
      </p:pic>
      <p:sp>
        <p:nvSpPr>
          <p:cNvPr id="551" name="Google Shape;551;p29"/>
          <p:cNvSpPr/>
          <p:nvPr/>
        </p:nvSpPr>
        <p:spPr>
          <a:xfrm>
            <a:off x="833757" y="1252728"/>
            <a:ext cx="7476486" cy="3246120"/>
          </a:xfrm>
          <a:prstGeom prst="rect">
            <a:avLst/>
          </a:prstGeom>
          <a:noFill/>
          <a:ln cap="flat" cmpd="sng" w="9525">
            <a:solidFill>
              <a:srgbClr val="D9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2" name="Google Shape;552;p29"/>
          <p:cNvSpPr txBox="1"/>
          <p:nvPr/>
        </p:nvSpPr>
        <p:spPr>
          <a:xfrm>
            <a:off x="457200" y="4576572"/>
            <a:ext cx="78638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4A2"/>
              </a:buClr>
              <a:buSzPts val="800"/>
              <a:buFont typeface="Tahoma"/>
              <a:buNone/>
            </a:pPr>
            <a:r>
              <a:rPr b="0" i="1" lang="en-US" sz="800" u="none" cap="none" strike="noStrike">
                <a:solidFill>
                  <a:srgbClr val="8A94A2"/>
                </a:solidFill>
                <a:latin typeface="Tahoma"/>
                <a:ea typeface="Tahoma"/>
                <a:cs typeface="Tahoma"/>
                <a:sym typeface="Tahoma"/>
              </a:rPr>
              <a:t>ภาพ: DCGAN ที่เทรนจริงบน sprite 10,000 ภาพ (โครงเดียวกับแล็บ 2, เทรนบน CPU)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30"/>
          <p:cNvSpPr txBox="1"/>
          <p:nvPr/>
        </p:nvSpPr>
        <p:spPr>
          <a:xfrm>
            <a:off x="457200" y="4814316"/>
            <a:ext cx="5486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3AE"/>
              </a:buClr>
              <a:buSzPts val="900"/>
              <a:buFont typeface="Tahoma"/>
              <a:buNone/>
            </a:pPr>
            <a:r>
              <a:rPr b="0" i="0" lang="en-US" sz="900" u="none" cap="none" strike="noStrike">
                <a:solidFill>
                  <a:srgbClr val="9AA3AE"/>
                </a:solidFill>
                <a:latin typeface="Tahoma"/>
                <a:ea typeface="Tahoma"/>
                <a:cs typeface="Tahoma"/>
                <a:sym typeface="Tahoma"/>
              </a:rPr>
              <a:t>LLM &amp; Agentic AI · สัปดาห์ 4 · ช่วงเช้า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30"/>
          <p:cNvSpPr/>
          <p:nvPr/>
        </p:nvSpPr>
        <p:spPr>
          <a:xfrm>
            <a:off x="8357616" y="4759452"/>
            <a:ext cx="329184" cy="329184"/>
          </a:xfrm>
          <a:prstGeom prst="ellipse">
            <a:avLst/>
          </a:prstGeom>
          <a:solidFill>
            <a:srgbClr val="1F3864"/>
          </a:solidFill>
          <a:ln cap="flat" cmpd="sng" w="12700">
            <a:solidFill>
              <a:srgbClr val="1F38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0" name="Google Shape;560;p30"/>
          <p:cNvSpPr txBox="1"/>
          <p:nvPr/>
        </p:nvSpPr>
        <p:spPr>
          <a:xfrm>
            <a:off x="8357616" y="4759452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Tahoma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30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30"/>
          <p:cNvSpPr/>
          <p:nvPr/>
        </p:nvSpPr>
        <p:spPr>
          <a:xfrm>
            <a:off x="457200" y="256032"/>
            <a:ext cx="836676" cy="274320"/>
          </a:xfrm>
          <a:prstGeom prst="roundRect">
            <a:avLst>
              <a:gd fmla="val 50000" name="adj"/>
            </a:avLst>
          </a:prstGeom>
          <a:solidFill>
            <a:srgbClr val="DDF1EA"/>
          </a:solidFill>
          <a:ln cap="flat" cmpd="sng" w="12700">
            <a:solidFill>
              <a:srgbClr val="DDF1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2" name="Google Shape;562;p30"/>
          <p:cNvSpPr txBox="1"/>
          <p:nvPr/>
        </p:nvSpPr>
        <p:spPr>
          <a:xfrm>
            <a:off x="457200" y="256032"/>
            <a:ext cx="83667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6F5B"/>
              </a:buClr>
              <a:buSzPts val="1000"/>
              <a:buFont typeface="Tahoma"/>
              <a:buNone/>
            </a:pPr>
            <a:r>
              <a:rPr b="1" i="0" lang="en-US" sz="1000" u="none" cap="none" strike="noStrike">
                <a:solidFill>
                  <a:srgbClr val="1D6F5B"/>
                </a:solidFill>
                <a:latin typeface="Tahoma"/>
                <a:ea typeface="Tahoma"/>
                <a:cs typeface="Tahoma"/>
                <a:sym typeface="Tahoma"/>
              </a:rPr>
              <a:t>3 · GAN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30"/>
          <p:cNvSpPr txBox="1"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2400"/>
              <a:buFont typeface="Tahoma"/>
              <a:buNone/>
            </a:pPr>
            <a:r>
              <a:rPr b="1" i="0" lang="en-US" sz="2400" u="none" cap="none" strike="noStrike">
                <a:solidFill>
                  <a:srgbClr val="1F3864"/>
                </a:solidFill>
                <a:latin typeface="Tahoma"/>
                <a:ea typeface="Tahoma"/>
                <a:cs typeface="Tahoma"/>
                <a:sym typeface="Tahoma"/>
              </a:rPr>
              <a:t>ขั้นที่ 1: สอนตำรวจ D ให้แยกภาพจริงกับภาพปลอม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week4/slides/fig/f_gan_stepD.png" id="564" name="Google Shape;564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5026" y="1252728"/>
            <a:ext cx="7233949" cy="3246120"/>
          </a:xfrm>
          <a:prstGeom prst="rect">
            <a:avLst/>
          </a:prstGeom>
          <a:noFill/>
          <a:ln>
            <a:noFill/>
          </a:ln>
        </p:spPr>
      </p:pic>
      <p:sp>
        <p:nvSpPr>
          <p:cNvPr id="565" name="Google Shape;565;p30"/>
          <p:cNvSpPr/>
          <p:nvPr/>
        </p:nvSpPr>
        <p:spPr>
          <a:xfrm>
            <a:off x="955026" y="1252728"/>
            <a:ext cx="7233949" cy="3246120"/>
          </a:xfrm>
          <a:prstGeom prst="rect">
            <a:avLst/>
          </a:prstGeom>
          <a:noFill/>
          <a:ln cap="flat" cmpd="sng" w="9525">
            <a:solidFill>
              <a:srgbClr val="D9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6" name="Google Shape;566;p30"/>
          <p:cNvSpPr txBox="1"/>
          <p:nvPr/>
        </p:nvSpPr>
        <p:spPr>
          <a:xfrm>
            <a:off x="457200" y="4576572"/>
            <a:ext cx="78638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4A2"/>
              </a:buClr>
              <a:buSzPts val="800"/>
              <a:buFont typeface="Tahoma"/>
              <a:buNone/>
            </a:pPr>
            <a:r>
              <a:rPr b="0" i="1" lang="en-US" sz="800" u="none" cap="none" strike="noStrike">
                <a:solidFill>
                  <a:srgbClr val="8A94A2"/>
                </a:solidFill>
                <a:latin typeface="Tahoma"/>
                <a:ea typeface="Tahoma"/>
                <a:cs typeface="Tahoma"/>
                <a:sym typeface="Tahoma"/>
              </a:rPr>
              <a:t>ภาพ: DCGAN ที่เทรนจริงบน sprite 10,000 ภาพ (โครงเดียวกับแล็บ 2, เทรนบน CPU)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31"/>
          <p:cNvSpPr txBox="1"/>
          <p:nvPr/>
        </p:nvSpPr>
        <p:spPr>
          <a:xfrm>
            <a:off x="457200" y="4814316"/>
            <a:ext cx="5486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3AE"/>
              </a:buClr>
              <a:buSzPts val="900"/>
              <a:buFont typeface="Tahoma"/>
              <a:buNone/>
            </a:pPr>
            <a:r>
              <a:rPr b="0" i="0" lang="en-US" sz="900" u="none" cap="none" strike="noStrike">
                <a:solidFill>
                  <a:srgbClr val="9AA3AE"/>
                </a:solidFill>
                <a:latin typeface="Tahoma"/>
                <a:ea typeface="Tahoma"/>
                <a:cs typeface="Tahoma"/>
                <a:sym typeface="Tahoma"/>
              </a:rPr>
              <a:t>LLM &amp; Agentic AI · สัปดาห์ 4 · ช่วงเช้า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p31"/>
          <p:cNvSpPr/>
          <p:nvPr/>
        </p:nvSpPr>
        <p:spPr>
          <a:xfrm>
            <a:off x="8357616" y="4759452"/>
            <a:ext cx="329184" cy="329184"/>
          </a:xfrm>
          <a:prstGeom prst="ellipse">
            <a:avLst/>
          </a:prstGeom>
          <a:solidFill>
            <a:srgbClr val="1F3864"/>
          </a:solidFill>
          <a:ln cap="flat" cmpd="sng" w="12700">
            <a:solidFill>
              <a:srgbClr val="1F38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4" name="Google Shape;574;p31"/>
          <p:cNvSpPr txBox="1"/>
          <p:nvPr/>
        </p:nvSpPr>
        <p:spPr>
          <a:xfrm>
            <a:off x="8357616" y="4759452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Tahoma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31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p31"/>
          <p:cNvSpPr/>
          <p:nvPr/>
        </p:nvSpPr>
        <p:spPr>
          <a:xfrm>
            <a:off x="457200" y="256032"/>
            <a:ext cx="836676" cy="274320"/>
          </a:xfrm>
          <a:prstGeom prst="roundRect">
            <a:avLst>
              <a:gd fmla="val 50000" name="adj"/>
            </a:avLst>
          </a:prstGeom>
          <a:solidFill>
            <a:srgbClr val="DDF1EA"/>
          </a:solidFill>
          <a:ln cap="flat" cmpd="sng" w="12700">
            <a:solidFill>
              <a:srgbClr val="DDF1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6" name="Google Shape;576;p31"/>
          <p:cNvSpPr txBox="1"/>
          <p:nvPr/>
        </p:nvSpPr>
        <p:spPr>
          <a:xfrm>
            <a:off x="457200" y="256032"/>
            <a:ext cx="83667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6F5B"/>
              </a:buClr>
              <a:buSzPts val="1000"/>
              <a:buFont typeface="Tahoma"/>
              <a:buNone/>
            </a:pPr>
            <a:r>
              <a:rPr b="1" i="0" lang="en-US" sz="1000" u="none" cap="none" strike="noStrike">
                <a:solidFill>
                  <a:srgbClr val="1D6F5B"/>
                </a:solidFill>
                <a:latin typeface="Tahoma"/>
                <a:ea typeface="Tahoma"/>
                <a:cs typeface="Tahoma"/>
                <a:sym typeface="Tahoma"/>
              </a:rPr>
              <a:t>3 · GAN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31"/>
          <p:cNvSpPr txBox="1"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2400"/>
              <a:buFont typeface="Tahoma"/>
              <a:buNone/>
            </a:pPr>
            <a:r>
              <a:rPr b="1" i="0" lang="en-US" sz="2400" u="none" cap="none" strike="noStrike">
                <a:solidFill>
                  <a:srgbClr val="1F3864"/>
                </a:solidFill>
                <a:latin typeface="Tahoma"/>
                <a:ea typeface="Tahoma"/>
                <a:cs typeface="Tahoma"/>
                <a:sym typeface="Tahoma"/>
              </a:rPr>
              <a:t>ขั้นที่ 2: สอนคนปลอม G ผ่านคะแนนของ D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week4/slides/fig/f_gan_stepG.png" id="578" name="Google Shape;578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8959" y="1252728"/>
            <a:ext cx="7306082" cy="3246120"/>
          </a:xfrm>
          <a:prstGeom prst="rect">
            <a:avLst/>
          </a:prstGeom>
          <a:noFill/>
          <a:ln>
            <a:noFill/>
          </a:ln>
        </p:spPr>
      </p:pic>
      <p:sp>
        <p:nvSpPr>
          <p:cNvPr id="579" name="Google Shape;579;p31"/>
          <p:cNvSpPr/>
          <p:nvPr/>
        </p:nvSpPr>
        <p:spPr>
          <a:xfrm>
            <a:off x="918959" y="1252728"/>
            <a:ext cx="7306082" cy="3246120"/>
          </a:xfrm>
          <a:prstGeom prst="rect">
            <a:avLst/>
          </a:prstGeom>
          <a:noFill/>
          <a:ln cap="flat" cmpd="sng" w="9525">
            <a:solidFill>
              <a:srgbClr val="D9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0" name="Google Shape;580;p31"/>
          <p:cNvSpPr txBox="1"/>
          <p:nvPr/>
        </p:nvSpPr>
        <p:spPr>
          <a:xfrm>
            <a:off x="457200" y="4576572"/>
            <a:ext cx="78638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4A2"/>
              </a:buClr>
              <a:buSzPts val="800"/>
              <a:buFont typeface="Tahoma"/>
              <a:buNone/>
            </a:pPr>
            <a:r>
              <a:rPr b="0" i="1" lang="en-US" sz="800" u="none" cap="none" strike="noStrike">
                <a:solidFill>
                  <a:srgbClr val="8A94A2"/>
                </a:solidFill>
                <a:latin typeface="Tahoma"/>
                <a:ea typeface="Tahoma"/>
                <a:cs typeface="Tahoma"/>
                <a:sym typeface="Tahoma"/>
              </a:rPr>
              <a:t>ภาพ: DCGAN ที่เทรนจริงบน sprite 10,000 ภาพ (โครงเดียวกับแล็บ 2, เทรนบน CPU)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32"/>
          <p:cNvSpPr txBox="1"/>
          <p:nvPr/>
        </p:nvSpPr>
        <p:spPr>
          <a:xfrm>
            <a:off x="457200" y="4814316"/>
            <a:ext cx="5486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3AE"/>
              </a:buClr>
              <a:buSzPts val="900"/>
              <a:buFont typeface="Tahoma"/>
              <a:buNone/>
            </a:pPr>
            <a:r>
              <a:rPr b="0" i="0" lang="en-US" sz="900" u="none" cap="none" strike="noStrike">
                <a:solidFill>
                  <a:srgbClr val="9AA3AE"/>
                </a:solidFill>
                <a:latin typeface="Tahoma"/>
                <a:ea typeface="Tahoma"/>
                <a:cs typeface="Tahoma"/>
                <a:sym typeface="Tahoma"/>
              </a:rPr>
              <a:t>LLM &amp; Agentic AI · สัปดาห์ 4 · ช่วงเช้า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p32"/>
          <p:cNvSpPr/>
          <p:nvPr/>
        </p:nvSpPr>
        <p:spPr>
          <a:xfrm>
            <a:off x="8357616" y="4759452"/>
            <a:ext cx="329184" cy="329184"/>
          </a:xfrm>
          <a:prstGeom prst="ellipse">
            <a:avLst/>
          </a:prstGeom>
          <a:solidFill>
            <a:srgbClr val="1F3864"/>
          </a:solidFill>
          <a:ln cap="flat" cmpd="sng" w="12700">
            <a:solidFill>
              <a:srgbClr val="1F38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8" name="Google Shape;588;p32"/>
          <p:cNvSpPr txBox="1"/>
          <p:nvPr/>
        </p:nvSpPr>
        <p:spPr>
          <a:xfrm>
            <a:off x="8357616" y="4759452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Tahoma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32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p32"/>
          <p:cNvSpPr/>
          <p:nvPr/>
        </p:nvSpPr>
        <p:spPr>
          <a:xfrm>
            <a:off x="457200" y="256032"/>
            <a:ext cx="836676" cy="274320"/>
          </a:xfrm>
          <a:prstGeom prst="roundRect">
            <a:avLst>
              <a:gd fmla="val 50000" name="adj"/>
            </a:avLst>
          </a:prstGeom>
          <a:solidFill>
            <a:srgbClr val="DDF1EA"/>
          </a:solidFill>
          <a:ln cap="flat" cmpd="sng" w="12700">
            <a:solidFill>
              <a:srgbClr val="DDF1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0" name="Google Shape;590;p32"/>
          <p:cNvSpPr txBox="1"/>
          <p:nvPr/>
        </p:nvSpPr>
        <p:spPr>
          <a:xfrm>
            <a:off x="457200" y="256032"/>
            <a:ext cx="83667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6F5B"/>
              </a:buClr>
              <a:buSzPts val="1000"/>
              <a:buFont typeface="Tahoma"/>
              <a:buNone/>
            </a:pPr>
            <a:r>
              <a:rPr b="1" i="0" lang="en-US" sz="1000" u="none" cap="none" strike="noStrike">
                <a:solidFill>
                  <a:srgbClr val="1D6F5B"/>
                </a:solidFill>
                <a:latin typeface="Tahoma"/>
                <a:ea typeface="Tahoma"/>
                <a:cs typeface="Tahoma"/>
                <a:sym typeface="Tahoma"/>
              </a:rPr>
              <a:t>3 · GAN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p32"/>
          <p:cNvSpPr txBox="1"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2400"/>
              <a:buFont typeface="Tahoma"/>
              <a:buNone/>
            </a:pPr>
            <a:r>
              <a:rPr b="1" i="0" lang="en-US" sz="2400" u="none" cap="none" strike="noStrike">
                <a:solidFill>
                  <a:srgbClr val="1F3864"/>
                </a:solidFill>
                <a:latin typeface="Tahoma"/>
                <a:ea typeface="Tahoma"/>
                <a:cs typeface="Tahoma"/>
                <a:sym typeface="Tahoma"/>
              </a:rPr>
              <a:t>วนสองขั้นนี้ทุก batch: ของปลอมเก่งขึ้นเรื่อย ๆ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week4/slides/fig/f_gan_progress.png" id="592" name="Google Shape;592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38160" y="1252728"/>
            <a:ext cx="6467679" cy="3246120"/>
          </a:xfrm>
          <a:prstGeom prst="rect">
            <a:avLst/>
          </a:prstGeom>
          <a:noFill/>
          <a:ln>
            <a:noFill/>
          </a:ln>
        </p:spPr>
      </p:pic>
      <p:sp>
        <p:nvSpPr>
          <p:cNvPr id="593" name="Google Shape;593;p32"/>
          <p:cNvSpPr/>
          <p:nvPr/>
        </p:nvSpPr>
        <p:spPr>
          <a:xfrm>
            <a:off x="1338160" y="1252728"/>
            <a:ext cx="6467679" cy="3246120"/>
          </a:xfrm>
          <a:prstGeom prst="rect">
            <a:avLst/>
          </a:prstGeom>
          <a:noFill/>
          <a:ln cap="flat" cmpd="sng" w="9525">
            <a:solidFill>
              <a:srgbClr val="D9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4" name="Google Shape;594;p32"/>
          <p:cNvSpPr txBox="1"/>
          <p:nvPr/>
        </p:nvSpPr>
        <p:spPr>
          <a:xfrm>
            <a:off x="457200" y="4576572"/>
            <a:ext cx="78638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4A2"/>
              </a:buClr>
              <a:buSzPts val="800"/>
              <a:buFont typeface="Tahoma"/>
              <a:buNone/>
            </a:pPr>
            <a:r>
              <a:rPr b="0" i="1" lang="en-US" sz="800" u="none" cap="none" strike="noStrike">
                <a:solidFill>
                  <a:srgbClr val="8A94A2"/>
                </a:solidFill>
                <a:latin typeface="Tahoma"/>
                <a:ea typeface="Tahoma"/>
                <a:cs typeface="Tahoma"/>
                <a:sym typeface="Tahoma"/>
              </a:rPr>
              <a:t>ภาพ: DCGAN ที่เทรนจริงบน sprite 10,000 ภาพ (โครงเดียวกับแล็บ 2, เทรนบน CPU) — อัลกอริทึมจาก Goodfellow et al. 2014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33"/>
          <p:cNvSpPr txBox="1"/>
          <p:nvPr/>
        </p:nvSpPr>
        <p:spPr>
          <a:xfrm>
            <a:off x="457200" y="4814316"/>
            <a:ext cx="5486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3AE"/>
              </a:buClr>
              <a:buSzPts val="900"/>
              <a:buFont typeface="Tahoma"/>
              <a:buNone/>
            </a:pPr>
            <a:r>
              <a:rPr b="0" i="0" lang="en-US" sz="900" u="none" cap="none" strike="noStrike">
                <a:solidFill>
                  <a:srgbClr val="9AA3AE"/>
                </a:solidFill>
                <a:latin typeface="Tahoma"/>
                <a:ea typeface="Tahoma"/>
                <a:cs typeface="Tahoma"/>
                <a:sym typeface="Tahoma"/>
              </a:rPr>
              <a:t>LLM &amp; Agentic AI · สัปดาห์ 4 · ช่วงเช้า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p33"/>
          <p:cNvSpPr/>
          <p:nvPr/>
        </p:nvSpPr>
        <p:spPr>
          <a:xfrm>
            <a:off x="8357616" y="4759452"/>
            <a:ext cx="329184" cy="329184"/>
          </a:xfrm>
          <a:prstGeom prst="ellipse">
            <a:avLst/>
          </a:prstGeom>
          <a:solidFill>
            <a:srgbClr val="1F3864"/>
          </a:solidFill>
          <a:ln cap="flat" cmpd="sng" w="12700">
            <a:solidFill>
              <a:srgbClr val="1F38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2" name="Google Shape;602;p33"/>
          <p:cNvSpPr txBox="1"/>
          <p:nvPr/>
        </p:nvSpPr>
        <p:spPr>
          <a:xfrm>
            <a:off x="8357616" y="4759452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Tahoma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33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p33"/>
          <p:cNvSpPr/>
          <p:nvPr/>
        </p:nvSpPr>
        <p:spPr>
          <a:xfrm>
            <a:off x="457200" y="256032"/>
            <a:ext cx="836676" cy="274320"/>
          </a:xfrm>
          <a:prstGeom prst="roundRect">
            <a:avLst>
              <a:gd fmla="val 50000" name="adj"/>
            </a:avLst>
          </a:prstGeom>
          <a:solidFill>
            <a:srgbClr val="DDF1EA"/>
          </a:solidFill>
          <a:ln cap="flat" cmpd="sng" w="12700">
            <a:solidFill>
              <a:srgbClr val="DDF1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4" name="Google Shape;604;p33"/>
          <p:cNvSpPr txBox="1"/>
          <p:nvPr/>
        </p:nvSpPr>
        <p:spPr>
          <a:xfrm>
            <a:off x="457200" y="256032"/>
            <a:ext cx="83667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6F5B"/>
              </a:buClr>
              <a:buSzPts val="1000"/>
              <a:buFont typeface="Tahoma"/>
              <a:buNone/>
            </a:pPr>
            <a:r>
              <a:rPr b="1" i="0" lang="en-US" sz="1000" u="none" cap="none" strike="noStrike">
                <a:solidFill>
                  <a:srgbClr val="1D6F5B"/>
                </a:solidFill>
                <a:latin typeface="Tahoma"/>
                <a:ea typeface="Tahoma"/>
                <a:cs typeface="Tahoma"/>
                <a:sym typeface="Tahoma"/>
              </a:rPr>
              <a:t>3 · GAN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p33"/>
          <p:cNvSpPr txBox="1"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2400"/>
              <a:buFont typeface="Tahoma"/>
              <a:buNone/>
            </a:pPr>
            <a:r>
              <a:rPr b="1" i="0" lang="en-US" sz="2400" u="none" cap="none" strike="noStrike">
                <a:solidFill>
                  <a:srgbClr val="1F3864"/>
                </a:solidFill>
                <a:latin typeface="Tahoma"/>
                <a:ea typeface="Tahoma"/>
                <a:cs typeface="Tahoma"/>
                <a:sym typeface="Tahoma"/>
              </a:rPr>
              <a:t>โค้ดที่จะเทรนตอนบ่าย (แล็บ 2)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Google Shape;606;p33"/>
          <p:cNvSpPr/>
          <p:nvPr/>
        </p:nvSpPr>
        <p:spPr>
          <a:xfrm>
            <a:off x="457200" y="1298448"/>
            <a:ext cx="4800600" cy="3200400"/>
          </a:xfrm>
          <a:prstGeom prst="roundRect">
            <a:avLst>
              <a:gd fmla="val 2286" name="adj"/>
            </a:avLst>
          </a:prstGeom>
          <a:solidFill>
            <a:srgbClr val="1E2733"/>
          </a:solidFill>
          <a:ln cap="flat" cmpd="sng" w="12700">
            <a:solidFill>
              <a:srgbClr val="1E27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7" name="Google Shape;607;p33"/>
          <p:cNvSpPr txBox="1"/>
          <p:nvPr/>
        </p:nvSpPr>
        <p:spPr>
          <a:xfrm>
            <a:off x="621792" y="1426464"/>
            <a:ext cx="4471416" cy="2944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CF2"/>
              </a:buClr>
              <a:buSzPts val="850"/>
              <a:buFont typeface="Courier New"/>
              <a:buNone/>
            </a:pPr>
            <a:r>
              <a:rPr b="0" i="0" lang="en-US" sz="850" u="none" cap="none" strike="noStrike">
                <a:solidFill>
                  <a:srgbClr val="E8ECF2"/>
                </a:solidFill>
                <a:latin typeface="Courier New"/>
                <a:ea typeface="Courier New"/>
                <a:cs typeface="Courier New"/>
                <a:sym typeface="Courier New"/>
              </a:rPr>
              <a:t># --- (1) ฝึกกรรมการ D ---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CF2"/>
              </a:buClr>
              <a:buSzPts val="850"/>
              <a:buFont typeface="Courier New"/>
              <a:buNone/>
            </a:pPr>
            <a:r>
              <a:rPr b="0" i="0" lang="en-US" sz="850" u="none" cap="none" strike="noStrike">
                <a:solidFill>
                  <a:srgbClr val="E8ECF2"/>
                </a:solidFill>
                <a:latin typeface="Courier New"/>
                <a:ea typeface="Courier New"/>
                <a:cs typeface="Courier New"/>
                <a:sym typeface="Courier New"/>
              </a:rPr>
              <a:t>fake = G(torch.randn(BATCH, NZ, device=device))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CF2"/>
              </a:buClr>
              <a:buSzPts val="850"/>
              <a:buFont typeface="Courier New"/>
              <a:buNone/>
            </a:pPr>
            <a:r>
              <a:rPr b="0" i="0" lang="en-US" sz="850" u="none" cap="none" strike="noStrike">
                <a:solidFill>
                  <a:srgbClr val="E8ECF2"/>
                </a:solidFill>
                <a:latin typeface="Courier New"/>
                <a:ea typeface="Courier New"/>
                <a:cs typeface="Courier New"/>
                <a:sym typeface="Courier New"/>
              </a:rPr>
              <a:t>lossD = bce(D(xb), real_lbl) + bce(D(fake.detach()), fake_lbl)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CF2"/>
              </a:buClr>
              <a:buSzPts val="850"/>
              <a:buFont typeface="Courier New"/>
              <a:buNone/>
            </a:pPr>
            <a:r>
              <a:rPr b="0" i="0" lang="en-US" sz="850" u="none" cap="none" strike="noStrike">
                <a:solidFill>
                  <a:srgbClr val="E8ECF2"/>
                </a:solidFill>
                <a:latin typeface="Courier New"/>
                <a:ea typeface="Courier New"/>
                <a:cs typeface="Courier New"/>
                <a:sym typeface="Courier New"/>
              </a:rPr>
              <a:t>optD.zero_grad(); lossD.backward(); optD.step()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CF2"/>
              </a:buClr>
              <a:buSzPts val="850"/>
              <a:buFont typeface="Courier New"/>
              <a:buNone/>
            </a:pPr>
            <a:r>
              <a:rPr b="0" i="0" lang="en-US" sz="850" u="none" cap="none" strike="noStrike">
                <a:solidFill>
                  <a:srgbClr val="E8ECF2"/>
                </a:solidFill>
                <a:latin typeface="Courier New"/>
                <a:ea typeface="Courier New"/>
                <a:cs typeface="Courier New"/>
                <a:sym typeface="Courier New"/>
              </a:rPr>
              <a:t># --- (2) ฝึกคนปลอม G: อยากให้ D ตอบ "จริง" ---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CF2"/>
              </a:buClr>
              <a:buSzPts val="850"/>
              <a:buFont typeface="Courier New"/>
              <a:buNone/>
            </a:pPr>
            <a:r>
              <a:rPr b="0" i="0" lang="en-US" sz="850" u="none" cap="none" strike="noStrike">
                <a:solidFill>
                  <a:srgbClr val="E8ECF2"/>
                </a:solidFill>
                <a:latin typeface="Courier New"/>
                <a:ea typeface="Courier New"/>
                <a:cs typeface="Courier New"/>
                <a:sym typeface="Courier New"/>
              </a:rPr>
              <a:t>lossG = bce(D(fake), real_lbl)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CF2"/>
              </a:buClr>
              <a:buSzPts val="850"/>
              <a:buFont typeface="Courier New"/>
              <a:buNone/>
            </a:pPr>
            <a:r>
              <a:rPr b="0" i="0" lang="en-US" sz="850" u="none" cap="none" strike="noStrike">
                <a:solidFill>
                  <a:srgbClr val="E8ECF2"/>
                </a:solidFill>
                <a:latin typeface="Courier New"/>
                <a:ea typeface="Courier New"/>
                <a:cs typeface="Courier New"/>
                <a:sym typeface="Courier New"/>
              </a:rPr>
              <a:t>optG.zero_grad(); lossG.backward(); optG.step()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33"/>
          <p:cNvSpPr txBox="1"/>
          <p:nvPr/>
        </p:nvSpPr>
        <p:spPr>
          <a:xfrm>
            <a:off x="5486400" y="1298448"/>
            <a:ext cx="3200400" cy="16916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-203200" lvl="0" marL="203200" marR="0" rtl="0" algn="l">
              <a:spcBef>
                <a:spcPts val="0"/>
              </a:spcBef>
              <a:spcAft>
                <a:spcPts val="0"/>
              </a:spcAft>
              <a:buClr>
                <a:srgbClr val="1E2733"/>
              </a:buClr>
              <a:buSzPts val="1150"/>
              <a:buFont typeface="Tahoma"/>
              <a:buChar char="•"/>
            </a:pPr>
            <a:r>
              <a:rPr b="1" i="0" lang="en-US" sz="1150" u="none" cap="none" strike="noStrike">
                <a:solidFill>
                  <a:srgbClr val="1E2733"/>
                </a:solidFill>
                <a:latin typeface="Tahoma"/>
                <a:ea typeface="Tahoma"/>
                <a:cs typeface="Tahoma"/>
                <a:sym typeface="Tahoma"/>
              </a:rPr>
              <a:t>(1) D: BCE(D(จริง), 1) + BCE(D(ปลอม), 0)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1" marL="355600" marR="0" rtl="0" algn="l">
              <a:spcBef>
                <a:spcPts val="800"/>
              </a:spcBef>
              <a:spcAft>
                <a:spcPts val="0"/>
              </a:spcAft>
              <a:buClr>
                <a:srgbClr val="5F6B7A"/>
              </a:buClr>
              <a:buSzPts val="950"/>
              <a:buFont typeface="Tahoma"/>
              <a:buChar char="–"/>
            </a:pPr>
            <a:r>
              <a:rPr b="0" i="0" lang="en-US" sz="950" u="none" cap="none" strike="noStrike">
                <a:solidFill>
                  <a:srgbClr val="5F6B7A"/>
                </a:solidFill>
                <a:latin typeface="Tahoma"/>
                <a:ea typeface="Tahoma"/>
                <a:cs typeface="Tahoma"/>
                <a:sym typeface="Tahoma"/>
              </a:rPr>
              <a:t>fake.detach() = ไม่ให้ gradient ของขั้น 1 ไหลเข้า G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0" marL="203200" marR="0" rtl="0" algn="l">
              <a:spcBef>
                <a:spcPts val="500"/>
              </a:spcBef>
              <a:spcAft>
                <a:spcPts val="0"/>
              </a:spcAft>
              <a:buClr>
                <a:srgbClr val="1E2733"/>
              </a:buClr>
              <a:buSzPts val="1150"/>
              <a:buFont typeface="Tahoma"/>
              <a:buChar char="•"/>
            </a:pPr>
            <a:r>
              <a:rPr b="1" i="0" lang="en-US" sz="1150" u="none" cap="none" strike="noStrike">
                <a:solidFill>
                  <a:srgbClr val="1E2733"/>
                </a:solidFill>
                <a:latin typeface="Tahoma"/>
                <a:ea typeface="Tahoma"/>
                <a:cs typeface="Tahoma"/>
                <a:sym typeface="Tahoma"/>
              </a:rPr>
              <a:t>(2) G: BCE(D(G(z)), 1) — 'อยากให้ตำรวจเชื่อ'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1" marL="355600" marR="0" rtl="0" algn="l">
              <a:spcBef>
                <a:spcPts val="800"/>
              </a:spcBef>
              <a:spcAft>
                <a:spcPts val="0"/>
              </a:spcAft>
              <a:buClr>
                <a:srgbClr val="5F6B7A"/>
              </a:buClr>
              <a:buSzPts val="950"/>
              <a:buFont typeface="Tahoma"/>
              <a:buChar char="–"/>
            </a:pPr>
            <a:r>
              <a:rPr b="0" i="0" lang="en-US" sz="950" u="none" cap="none" strike="noStrike">
                <a:solidFill>
                  <a:srgbClr val="5F6B7A"/>
                </a:solidFill>
                <a:latin typeface="Tahoma"/>
                <a:ea typeface="Tahoma"/>
                <a:cs typeface="Tahoma"/>
                <a:sym typeface="Tahoma"/>
              </a:rPr>
              <a:t>optD / optG แยกกัน: Adam lr 2e-4, betas (0.5, 0.999) — ค่ามาตรฐานของ DCGAN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0" marL="203200" marR="0" rtl="0" algn="l">
              <a:spcBef>
                <a:spcPts val="500"/>
              </a:spcBef>
              <a:spcAft>
                <a:spcPts val="0"/>
              </a:spcAft>
              <a:buClr>
                <a:srgbClr val="1E2733"/>
              </a:buClr>
              <a:buSzPts val="1150"/>
              <a:buFont typeface="Tahoma"/>
              <a:buChar char="•"/>
            </a:pPr>
            <a:r>
              <a:rPr b="0" i="0" lang="en-US" sz="1150" u="none" cap="none" strike="noStrike">
                <a:solidFill>
                  <a:srgbClr val="1E2733"/>
                </a:solidFill>
                <a:latin typeface="Tahoma"/>
                <a:ea typeface="Tahoma"/>
                <a:cs typeface="Tahoma"/>
                <a:sym typeface="Tahoma"/>
              </a:rPr>
              <a:t>ทั้งสองขั้นทำทุก batch สลับกัน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week4/slides/fig/f_gan_entry.png" id="609" name="Google Shape;609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0" y="3086341"/>
            <a:ext cx="3200400" cy="1407695"/>
          </a:xfrm>
          <a:prstGeom prst="rect">
            <a:avLst/>
          </a:prstGeom>
          <a:noFill/>
          <a:ln>
            <a:noFill/>
          </a:ln>
        </p:spPr>
      </p:pic>
      <p:sp>
        <p:nvSpPr>
          <p:cNvPr id="610" name="Google Shape;610;p33"/>
          <p:cNvSpPr/>
          <p:nvPr/>
        </p:nvSpPr>
        <p:spPr>
          <a:xfrm>
            <a:off x="5486400" y="3086341"/>
            <a:ext cx="3200400" cy="1407695"/>
          </a:xfrm>
          <a:prstGeom prst="rect">
            <a:avLst/>
          </a:prstGeom>
          <a:noFill/>
          <a:ln cap="flat" cmpd="sng" w="9525">
            <a:solidFill>
              <a:srgbClr val="D9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1" name="Google Shape;611;p33"/>
          <p:cNvSpPr txBox="1"/>
          <p:nvPr/>
        </p:nvSpPr>
        <p:spPr>
          <a:xfrm>
            <a:off x="457200" y="4576572"/>
            <a:ext cx="78638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4A2"/>
              </a:buClr>
              <a:buSzPts val="800"/>
              <a:buFont typeface="Tahoma"/>
              <a:buNone/>
            </a:pPr>
            <a:r>
              <a:rPr b="0" i="1" lang="en-US" sz="800" u="none" cap="none" strike="noStrike">
                <a:solidFill>
                  <a:srgbClr val="8A94A2"/>
                </a:solidFill>
                <a:latin typeface="Tahoma"/>
                <a:ea typeface="Tahoma"/>
                <a:cs typeface="Tahoma"/>
                <a:sym typeface="Tahoma"/>
              </a:rPr>
              <a:t>ภาพ: DCGAN ที่เทรนจริงบน sprite (สไลด์ 28)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p34"/>
          <p:cNvSpPr txBox="1"/>
          <p:nvPr/>
        </p:nvSpPr>
        <p:spPr>
          <a:xfrm>
            <a:off x="457200" y="4814316"/>
            <a:ext cx="5486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3AE"/>
              </a:buClr>
              <a:buSzPts val="900"/>
              <a:buFont typeface="Tahoma"/>
              <a:buNone/>
            </a:pPr>
            <a:r>
              <a:rPr b="0" i="0" lang="en-US" sz="900" u="none" cap="none" strike="noStrike">
                <a:solidFill>
                  <a:srgbClr val="9AA3AE"/>
                </a:solidFill>
                <a:latin typeface="Tahoma"/>
                <a:ea typeface="Tahoma"/>
                <a:cs typeface="Tahoma"/>
                <a:sym typeface="Tahoma"/>
              </a:rPr>
              <a:t>LLM &amp; Agentic AI · สัปดาห์ 4 · ช่วงเช้า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8" name="Google Shape;618;p34"/>
          <p:cNvSpPr/>
          <p:nvPr/>
        </p:nvSpPr>
        <p:spPr>
          <a:xfrm>
            <a:off x="8357616" y="4759452"/>
            <a:ext cx="329184" cy="329184"/>
          </a:xfrm>
          <a:prstGeom prst="ellipse">
            <a:avLst/>
          </a:prstGeom>
          <a:solidFill>
            <a:srgbClr val="1F3864"/>
          </a:solidFill>
          <a:ln cap="flat" cmpd="sng" w="12700">
            <a:solidFill>
              <a:srgbClr val="1F38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9" name="Google Shape;619;p34"/>
          <p:cNvSpPr txBox="1"/>
          <p:nvPr/>
        </p:nvSpPr>
        <p:spPr>
          <a:xfrm>
            <a:off x="8357616" y="4759452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Tahoma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34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" name="Google Shape;620;p34"/>
          <p:cNvSpPr/>
          <p:nvPr/>
        </p:nvSpPr>
        <p:spPr>
          <a:xfrm>
            <a:off x="457200" y="256032"/>
            <a:ext cx="836676" cy="274320"/>
          </a:xfrm>
          <a:prstGeom prst="roundRect">
            <a:avLst>
              <a:gd fmla="val 50000" name="adj"/>
            </a:avLst>
          </a:prstGeom>
          <a:solidFill>
            <a:srgbClr val="DDF1EA"/>
          </a:solidFill>
          <a:ln cap="flat" cmpd="sng" w="12700">
            <a:solidFill>
              <a:srgbClr val="DDF1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1" name="Google Shape;621;p34"/>
          <p:cNvSpPr txBox="1"/>
          <p:nvPr/>
        </p:nvSpPr>
        <p:spPr>
          <a:xfrm>
            <a:off x="457200" y="256032"/>
            <a:ext cx="83667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6F5B"/>
              </a:buClr>
              <a:buSzPts val="1000"/>
              <a:buFont typeface="Tahoma"/>
              <a:buNone/>
            </a:pPr>
            <a:r>
              <a:rPr b="1" i="0" lang="en-US" sz="1000" u="none" cap="none" strike="noStrike">
                <a:solidFill>
                  <a:srgbClr val="1D6F5B"/>
                </a:solidFill>
                <a:latin typeface="Tahoma"/>
                <a:ea typeface="Tahoma"/>
                <a:cs typeface="Tahoma"/>
                <a:sym typeface="Tahoma"/>
              </a:rPr>
              <a:t>3 · GAN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" name="Google Shape;622;p34"/>
          <p:cNvSpPr txBox="1"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2400"/>
              <a:buFont typeface="Tahoma"/>
              <a:buNone/>
            </a:pPr>
            <a:r>
              <a:rPr b="1" i="0" lang="en-US" sz="2400" u="none" cap="none" strike="noStrike">
                <a:solidFill>
                  <a:srgbClr val="1F3864"/>
                </a:solidFill>
                <a:latin typeface="Tahoma"/>
                <a:ea typeface="Tahoma"/>
                <a:cs typeface="Tahoma"/>
                <a:sym typeface="Tahoma"/>
              </a:rPr>
              <a:t>DCGAN: ข้างใน G และ D คือ CNN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week4/slides/fig/f_dcgan_arch.png" id="623" name="Google Shape;623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4756" y="1252728"/>
            <a:ext cx="8014489" cy="3246120"/>
          </a:xfrm>
          <a:prstGeom prst="rect">
            <a:avLst/>
          </a:prstGeom>
          <a:noFill/>
          <a:ln>
            <a:noFill/>
          </a:ln>
        </p:spPr>
      </p:pic>
      <p:sp>
        <p:nvSpPr>
          <p:cNvPr id="624" name="Google Shape;624;p34"/>
          <p:cNvSpPr/>
          <p:nvPr/>
        </p:nvSpPr>
        <p:spPr>
          <a:xfrm>
            <a:off x="564756" y="1252728"/>
            <a:ext cx="8014489" cy="3246120"/>
          </a:xfrm>
          <a:prstGeom prst="rect">
            <a:avLst/>
          </a:prstGeom>
          <a:noFill/>
          <a:ln cap="flat" cmpd="sng" w="9525">
            <a:solidFill>
              <a:srgbClr val="D9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5" name="Google Shape;625;p34"/>
          <p:cNvSpPr txBox="1"/>
          <p:nvPr/>
        </p:nvSpPr>
        <p:spPr>
          <a:xfrm>
            <a:off x="457200" y="4576572"/>
            <a:ext cx="78638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4A2"/>
              </a:buClr>
              <a:buSzPts val="800"/>
              <a:buFont typeface="Tahoma"/>
              <a:buNone/>
            </a:pPr>
            <a:r>
              <a:rPr b="0" i="1" lang="en-US" sz="800" u="none" cap="none" strike="noStrike">
                <a:solidFill>
                  <a:srgbClr val="8A94A2"/>
                </a:solidFill>
                <a:latin typeface="Tahoma"/>
                <a:ea typeface="Tahoma"/>
                <a:cs typeface="Tahoma"/>
                <a:sym typeface="Tahoma"/>
              </a:rPr>
              <a:t>ภาพ: DCGAN ที่เทรนจริงบน sprite 10,000 ภาพ (โครงเดียวกับแล็บ 2, เทรนบน CPU)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p35"/>
          <p:cNvSpPr txBox="1"/>
          <p:nvPr/>
        </p:nvSpPr>
        <p:spPr>
          <a:xfrm>
            <a:off x="457200" y="4814316"/>
            <a:ext cx="5486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3AE"/>
              </a:buClr>
              <a:buSzPts val="900"/>
              <a:buFont typeface="Tahoma"/>
              <a:buNone/>
            </a:pPr>
            <a:r>
              <a:rPr b="0" i="0" lang="en-US" sz="900" u="none" cap="none" strike="noStrike">
                <a:solidFill>
                  <a:srgbClr val="9AA3AE"/>
                </a:solidFill>
                <a:latin typeface="Tahoma"/>
                <a:ea typeface="Tahoma"/>
                <a:cs typeface="Tahoma"/>
                <a:sym typeface="Tahoma"/>
              </a:rPr>
              <a:t>LLM &amp; Agentic AI · สัปดาห์ 4 · ช่วงเช้า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2" name="Google Shape;632;p35"/>
          <p:cNvSpPr/>
          <p:nvPr/>
        </p:nvSpPr>
        <p:spPr>
          <a:xfrm>
            <a:off x="8357616" y="4759452"/>
            <a:ext cx="329184" cy="329184"/>
          </a:xfrm>
          <a:prstGeom prst="ellipse">
            <a:avLst/>
          </a:prstGeom>
          <a:solidFill>
            <a:srgbClr val="1F3864"/>
          </a:solidFill>
          <a:ln cap="flat" cmpd="sng" w="12700">
            <a:solidFill>
              <a:srgbClr val="1F38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3" name="Google Shape;633;p35"/>
          <p:cNvSpPr txBox="1"/>
          <p:nvPr/>
        </p:nvSpPr>
        <p:spPr>
          <a:xfrm>
            <a:off x="8357616" y="4759452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Tahoma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35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4" name="Google Shape;634;p35"/>
          <p:cNvSpPr/>
          <p:nvPr/>
        </p:nvSpPr>
        <p:spPr>
          <a:xfrm>
            <a:off x="457200" y="256032"/>
            <a:ext cx="836676" cy="274320"/>
          </a:xfrm>
          <a:prstGeom prst="roundRect">
            <a:avLst>
              <a:gd fmla="val 50000" name="adj"/>
            </a:avLst>
          </a:prstGeom>
          <a:solidFill>
            <a:srgbClr val="DDF1EA"/>
          </a:solidFill>
          <a:ln cap="flat" cmpd="sng" w="12700">
            <a:solidFill>
              <a:srgbClr val="DDF1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5" name="Google Shape;635;p35"/>
          <p:cNvSpPr txBox="1"/>
          <p:nvPr/>
        </p:nvSpPr>
        <p:spPr>
          <a:xfrm>
            <a:off x="457200" y="256032"/>
            <a:ext cx="83667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6F5B"/>
              </a:buClr>
              <a:buSzPts val="1000"/>
              <a:buFont typeface="Tahoma"/>
              <a:buNone/>
            </a:pPr>
            <a:r>
              <a:rPr b="1" i="0" lang="en-US" sz="1000" u="none" cap="none" strike="noStrike">
                <a:solidFill>
                  <a:srgbClr val="1D6F5B"/>
                </a:solidFill>
                <a:latin typeface="Tahoma"/>
                <a:ea typeface="Tahoma"/>
                <a:cs typeface="Tahoma"/>
                <a:sym typeface="Tahoma"/>
              </a:rPr>
              <a:t>3 · GAN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6" name="Google Shape;636;p35"/>
          <p:cNvSpPr txBox="1"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2400"/>
              <a:buFont typeface="Tahoma"/>
              <a:buNone/>
            </a:pPr>
            <a:r>
              <a:rPr b="1" i="0" lang="en-US" sz="2400" u="none" cap="none" strike="noStrike">
                <a:solidFill>
                  <a:srgbClr val="1F3864"/>
                </a:solidFill>
                <a:latin typeface="Tahoma"/>
                <a:ea typeface="Tahoma"/>
                <a:cs typeface="Tahoma"/>
                <a:sym typeface="Tahoma"/>
              </a:rPr>
              <a:t>DCGAN ของเรา: ภาพใหม่ที่ไม่ได้ลอกใคร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week4/slides/fig/f_dcgan_ours.png" id="637" name="Google Shape;637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3757" y="1252728"/>
            <a:ext cx="7476486" cy="3246120"/>
          </a:xfrm>
          <a:prstGeom prst="rect">
            <a:avLst/>
          </a:prstGeom>
          <a:noFill/>
          <a:ln>
            <a:noFill/>
          </a:ln>
        </p:spPr>
      </p:pic>
      <p:sp>
        <p:nvSpPr>
          <p:cNvPr id="638" name="Google Shape;638;p35"/>
          <p:cNvSpPr/>
          <p:nvPr/>
        </p:nvSpPr>
        <p:spPr>
          <a:xfrm>
            <a:off x="833757" y="1252728"/>
            <a:ext cx="7476486" cy="3246120"/>
          </a:xfrm>
          <a:prstGeom prst="rect">
            <a:avLst/>
          </a:prstGeom>
          <a:noFill/>
          <a:ln cap="flat" cmpd="sng" w="9525">
            <a:solidFill>
              <a:srgbClr val="D9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9" name="Google Shape;639;p35"/>
          <p:cNvSpPr txBox="1"/>
          <p:nvPr/>
        </p:nvSpPr>
        <p:spPr>
          <a:xfrm>
            <a:off x="457200" y="4576572"/>
            <a:ext cx="78638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4A2"/>
              </a:buClr>
              <a:buSzPts val="800"/>
              <a:buFont typeface="Tahoma"/>
              <a:buNone/>
            </a:pPr>
            <a:r>
              <a:rPr b="0" i="1" lang="en-US" sz="800" u="none" cap="none" strike="noStrike">
                <a:solidFill>
                  <a:srgbClr val="8A94A2"/>
                </a:solidFill>
                <a:latin typeface="Tahoma"/>
                <a:ea typeface="Tahoma"/>
                <a:cs typeface="Tahoma"/>
                <a:sym typeface="Tahoma"/>
              </a:rPr>
              <a:t>ภาพ: DCGAN ที่เทรนจริงบน sprite 10,000 ภาพ (โครงเดียวกับแล็บ 2, เทรนบน CPU)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36"/>
          <p:cNvSpPr txBox="1"/>
          <p:nvPr/>
        </p:nvSpPr>
        <p:spPr>
          <a:xfrm>
            <a:off x="457200" y="4814316"/>
            <a:ext cx="5486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3AE"/>
              </a:buClr>
              <a:buSzPts val="900"/>
              <a:buFont typeface="Tahoma"/>
              <a:buNone/>
            </a:pPr>
            <a:r>
              <a:rPr b="0" i="0" lang="en-US" sz="900" u="none" cap="none" strike="noStrike">
                <a:solidFill>
                  <a:srgbClr val="9AA3AE"/>
                </a:solidFill>
                <a:latin typeface="Tahoma"/>
                <a:ea typeface="Tahoma"/>
                <a:cs typeface="Tahoma"/>
                <a:sym typeface="Tahoma"/>
              </a:rPr>
              <a:t>LLM &amp; Agentic AI · สัปดาห์ 4 · ช่วงเช้า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6" name="Google Shape;646;p36"/>
          <p:cNvSpPr/>
          <p:nvPr/>
        </p:nvSpPr>
        <p:spPr>
          <a:xfrm>
            <a:off x="8357616" y="4759452"/>
            <a:ext cx="329184" cy="329184"/>
          </a:xfrm>
          <a:prstGeom prst="ellipse">
            <a:avLst/>
          </a:prstGeom>
          <a:solidFill>
            <a:srgbClr val="1F3864"/>
          </a:solidFill>
          <a:ln cap="flat" cmpd="sng" w="12700">
            <a:solidFill>
              <a:srgbClr val="1F38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7" name="Google Shape;647;p36"/>
          <p:cNvSpPr txBox="1"/>
          <p:nvPr/>
        </p:nvSpPr>
        <p:spPr>
          <a:xfrm>
            <a:off x="8357616" y="4759452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Tahoma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36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8" name="Google Shape;648;p36"/>
          <p:cNvSpPr/>
          <p:nvPr/>
        </p:nvSpPr>
        <p:spPr>
          <a:xfrm>
            <a:off x="457200" y="256032"/>
            <a:ext cx="836676" cy="274320"/>
          </a:xfrm>
          <a:prstGeom prst="roundRect">
            <a:avLst>
              <a:gd fmla="val 50000" name="adj"/>
            </a:avLst>
          </a:prstGeom>
          <a:solidFill>
            <a:srgbClr val="DDF1EA"/>
          </a:solidFill>
          <a:ln cap="flat" cmpd="sng" w="12700">
            <a:solidFill>
              <a:srgbClr val="DDF1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9" name="Google Shape;649;p36"/>
          <p:cNvSpPr txBox="1"/>
          <p:nvPr/>
        </p:nvSpPr>
        <p:spPr>
          <a:xfrm>
            <a:off x="457200" y="256032"/>
            <a:ext cx="83667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6F5B"/>
              </a:buClr>
              <a:buSzPts val="1000"/>
              <a:buFont typeface="Tahoma"/>
              <a:buNone/>
            </a:pPr>
            <a:r>
              <a:rPr b="1" i="0" lang="en-US" sz="1000" u="none" cap="none" strike="noStrike">
                <a:solidFill>
                  <a:srgbClr val="1D6F5B"/>
                </a:solidFill>
                <a:latin typeface="Tahoma"/>
                <a:ea typeface="Tahoma"/>
                <a:cs typeface="Tahoma"/>
                <a:sym typeface="Tahoma"/>
              </a:rPr>
              <a:t>3 · GAN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0" name="Google Shape;650;p36"/>
          <p:cNvSpPr txBox="1"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2400"/>
              <a:buFont typeface="Tahoma"/>
              <a:buNone/>
            </a:pPr>
            <a:r>
              <a:rPr b="1" i="0" lang="en-US" sz="2400" u="none" cap="none" strike="noStrike">
                <a:solidFill>
                  <a:srgbClr val="1F3864"/>
                </a:solidFill>
                <a:latin typeface="Tahoma"/>
                <a:ea typeface="Tahoma"/>
                <a:cs typeface="Tahoma"/>
                <a:sym typeface="Tahoma"/>
              </a:rPr>
              <a:t>latent มี 'ทิศทาง': บวกลบ z แล้วได้ใบหน้าใหม่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week4/slides/fig/f_latent_faces.png" id="651" name="Google Shape;651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8959" y="1252728"/>
            <a:ext cx="7306082" cy="3246120"/>
          </a:xfrm>
          <a:prstGeom prst="rect">
            <a:avLst/>
          </a:prstGeom>
          <a:noFill/>
          <a:ln>
            <a:noFill/>
          </a:ln>
        </p:spPr>
      </p:pic>
      <p:sp>
        <p:nvSpPr>
          <p:cNvPr id="652" name="Google Shape;652;p36"/>
          <p:cNvSpPr/>
          <p:nvPr/>
        </p:nvSpPr>
        <p:spPr>
          <a:xfrm>
            <a:off x="918959" y="1252728"/>
            <a:ext cx="7306082" cy="3246120"/>
          </a:xfrm>
          <a:prstGeom prst="rect">
            <a:avLst/>
          </a:prstGeom>
          <a:noFill/>
          <a:ln cap="flat" cmpd="sng" w="9525">
            <a:solidFill>
              <a:srgbClr val="D9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3" name="Google Shape;653;p36"/>
          <p:cNvSpPr txBox="1"/>
          <p:nvPr/>
        </p:nvSpPr>
        <p:spPr>
          <a:xfrm>
            <a:off x="457200" y="4576572"/>
            <a:ext cx="78638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4A2"/>
              </a:buClr>
              <a:buSzPts val="800"/>
              <a:buFont typeface="Tahoma"/>
              <a:buNone/>
            </a:pPr>
            <a:r>
              <a:rPr b="0" i="1" lang="en-US" sz="800" u="none" cap="none" strike="noStrike">
                <a:solidFill>
                  <a:srgbClr val="8A94A2"/>
                </a:solidFill>
                <a:latin typeface="Tahoma"/>
                <a:ea typeface="Tahoma"/>
                <a:cs typeface="Tahoma"/>
                <a:sym typeface="Tahoma"/>
              </a:rPr>
              <a:t>ภาพ: Siyu Zhu (Fudan) Lecture 3 หน้า 38 — ใบหน้าจาก DCGAN (Radford et al. 2016) จัดเรียงใหม่พร้อมป้ายไทย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58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37"/>
          <p:cNvSpPr txBox="1"/>
          <p:nvPr/>
        </p:nvSpPr>
        <p:spPr>
          <a:xfrm>
            <a:off x="457200" y="4814316"/>
            <a:ext cx="5486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3AE"/>
              </a:buClr>
              <a:buSzPts val="900"/>
              <a:buFont typeface="Tahoma"/>
              <a:buNone/>
            </a:pPr>
            <a:r>
              <a:rPr b="0" i="0" lang="en-US" sz="900" u="none" cap="none" strike="noStrike">
                <a:solidFill>
                  <a:srgbClr val="9AA3AE"/>
                </a:solidFill>
                <a:latin typeface="Tahoma"/>
                <a:ea typeface="Tahoma"/>
                <a:cs typeface="Tahoma"/>
                <a:sym typeface="Tahoma"/>
              </a:rPr>
              <a:t>LLM &amp; Agentic AI · สัปดาห์ 4 · ช่วงเช้า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0" name="Google Shape;660;p37"/>
          <p:cNvSpPr/>
          <p:nvPr/>
        </p:nvSpPr>
        <p:spPr>
          <a:xfrm>
            <a:off x="8357616" y="4759452"/>
            <a:ext cx="329184" cy="329184"/>
          </a:xfrm>
          <a:prstGeom prst="ellipse">
            <a:avLst/>
          </a:prstGeom>
          <a:solidFill>
            <a:srgbClr val="1F3864"/>
          </a:solidFill>
          <a:ln cap="flat" cmpd="sng" w="12700">
            <a:solidFill>
              <a:srgbClr val="1F38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1" name="Google Shape;661;p37"/>
          <p:cNvSpPr txBox="1"/>
          <p:nvPr/>
        </p:nvSpPr>
        <p:spPr>
          <a:xfrm>
            <a:off x="8357616" y="4759452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Tahoma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37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2" name="Google Shape;662;p37"/>
          <p:cNvSpPr/>
          <p:nvPr/>
        </p:nvSpPr>
        <p:spPr>
          <a:xfrm>
            <a:off x="457200" y="256032"/>
            <a:ext cx="836676" cy="274320"/>
          </a:xfrm>
          <a:prstGeom prst="roundRect">
            <a:avLst>
              <a:gd fmla="val 50000" name="adj"/>
            </a:avLst>
          </a:prstGeom>
          <a:solidFill>
            <a:srgbClr val="DDF1EA"/>
          </a:solidFill>
          <a:ln cap="flat" cmpd="sng" w="12700">
            <a:solidFill>
              <a:srgbClr val="DDF1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37"/>
          <p:cNvSpPr txBox="1"/>
          <p:nvPr/>
        </p:nvSpPr>
        <p:spPr>
          <a:xfrm>
            <a:off x="457200" y="256032"/>
            <a:ext cx="83667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6F5B"/>
              </a:buClr>
              <a:buSzPts val="1000"/>
              <a:buFont typeface="Tahoma"/>
              <a:buNone/>
            </a:pPr>
            <a:r>
              <a:rPr b="1" i="0" lang="en-US" sz="1000" u="none" cap="none" strike="noStrike">
                <a:solidFill>
                  <a:srgbClr val="1D6F5B"/>
                </a:solidFill>
                <a:latin typeface="Tahoma"/>
                <a:ea typeface="Tahoma"/>
                <a:cs typeface="Tahoma"/>
                <a:sym typeface="Tahoma"/>
              </a:rPr>
              <a:t>3 · GAN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4" name="Google Shape;664;p37"/>
          <p:cNvSpPr txBox="1"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2400"/>
              <a:buFont typeface="Tahoma"/>
              <a:buNone/>
            </a:pPr>
            <a:r>
              <a:rPr b="1" i="0" lang="en-US" sz="2400" u="none" cap="none" strike="noStrike">
                <a:solidFill>
                  <a:srgbClr val="1F3864"/>
                </a:solidFill>
                <a:latin typeface="Tahoma"/>
                <a:ea typeface="Tahoma"/>
                <a:cs typeface="Tahoma"/>
                <a:sym typeface="Tahoma"/>
              </a:rPr>
              <a:t>เดินใน latent ของ GAN: ภาพเปลี่ยนต่อเนื่อง ไม่กระโดด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week4/slides/fig/f_dcgan_walk.png" id="665" name="Google Shape;665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7384" y="1252728"/>
            <a:ext cx="7869231" cy="3246120"/>
          </a:xfrm>
          <a:prstGeom prst="rect">
            <a:avLst/>
          </a:prstGeom>
          <a:noFill/>
          <a:ln>
            <a:noFill/>
          </a:ln>
        </p:spPr>
      </p:pic>
      <p:sp>
        <p:nvSpPr>
          <p:cNvPr id="666" name="Google Shape;666;p37"/>
          <p:cNvSpPr/>
          <p:nvPr/>
        </p:nvSpPr>
        <p:spPr>
          <a:xfrm>
            <a:off x="637384" y="1252728"/>
            <a:ext cx="7869231" cy="3246120"/>
          </a:xfrm>
          <a:prstGeom prst="rect">
            <a:avLst/>
          </a:prstGeom>
          <a:noFill/>
          <a:ln cap="flat" cmpd="sng" w="9525">
            <a:solidFill>
              <a:srgbClr val="D9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7" name="Google Shape;667;p37"/>
          <p:cNvSpPr txBox="1"/>
          <p:nvPr/>
        </p:nvSpPr>
        <p:spPr>
          <a:xfrm>
            <a:off x="457200" y="4576572"/>
            <a:ext cx="78638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4A2"/>
              </a:buClr>
              <a:buSzPts val="800"/>
              <a:buFont typeface="Tahoma"/>
              <a:buNone/>
            </a:pPr>
            <a:r>
              <a:rPr b="0" i="1" lang="en-US" sz="800" u="none" cap="none" strike="noStrike">
                <a:solidFill>
                  <a:srgbClr val="8A94A2"/>
                </a:solidFill>
                <a:latin typeface="Tahoma"/>
                <a:ea typeface="Tahoma"/>
                <a:cs typeface="Tahoma"/>
                <a:sym typeface="Tahoma"/>
              </a:rPr>
              <a:t>ภาพ: DCGAN ที่เทรนจริงบน sprite 10,000 ภาพ (โครงเดียวกับแล็บ 2, เทรนบน CPU)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p38"/>
          <p:cNvSpPr txBox="1"/>
          <p:nvPr/>
        </p:nvSpPr>
        <p:spPr>
          <a:xfrm>
            <a:off x="457200" y="4814316"/>
            <a:ext cx="5486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3AE"/>
              </a:buClr>
              <a:buSzPts val="900"/>
              <a:buFont typeface="Tahoma"/>
              <a:buNone/>
            </a:pPr>
            <a:r>
              <a:rPr b="0" i="0" lang="en-US" sz="900" u="none" cap="none" strike="noStrike">
                <a:solidFill>
                  <a:srgbClr val="9AA3AE"/>
                </a:solidFill>
                <a:latin typeface="Tahoma"/>
                <a:ea typeface="Tahoma"/>
                <a:cs typeface="Tahoma"/>
                <a:sym typeface="Tahoma"/>
              </a:rPr>
              <a:t>LLM &amp; Agentic AI · สัปดาห์ 4 · ช่วงเช้า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4" name="Google Shape;674;p38"/>
          <p:cNvSpPr/>
          <p:nvPr/>
        </p:nvSpPr>
        <p:spPr>
          <a:xfrm>
            <a:off x="8357616" y="4759452"/>
            <a:ext cx="329184" cy="329184"/>
          </a:xfrm>
          <a:prstGeom prst="ellipse">
            <a:avLst/>
          </a:prstGeom>
          <a:solidFill>
            <a:srgbClr val="1F3864"/>
          </a:solidFill>
          <a:ln cap="flat" cmpd="sng" w="12700">
            <a:solidFill>
              <a:srgbClr val="1F38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5" name="Google Shape;675;p38"/>
          <p:cNvSpPr txBox="1"/>
          <p:nvPr/>
        </p:nvSpPr>
        <p:spPr>
          <a:xfrm>
            <a:off x="8357616" y="4759452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Tahoma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38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6" name="Google Shape;676;p38"/>
          <p:cNvSpPr/>
          <p:nvPr/>
        </p:nvSpPr>
        <p:spPr>
          <a:xfrm>
            <a:off x="457200" y="256032"/>
            <a:ext cx="836676" cy="274320"/>
          </a:xfrm>
          <a:prstGeom prst="roundRect">
            <a:avLst>
              <a:gd fmla="val 50000" name="adj"/>
            </a:avLst>
          </a:prstGeom>
          <a:solidFill>
            <a:srgbClr val="DDF1EA"/>
          </a:solidFill>
          <a:ln cap="flat" cmpd="sng" w="12700">
            <a:solidFill>
              <a:srgbClr val="DDF1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7" name="Google Shape;677;p38"/>
          <p:cNvSpPr txBox="1"/>
          <p:nvPr/>
        </p:nvSpPr>
        <p:spPr>
          <a:xfrm>
            <a:off x="457200" y="256032"/>
            <a:ext cx="83667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6F5B"/>
              </a:buClr>
              <a:buSzPts val="1000"/>
              <a:buFont typeface="Tahoma"/>
              <a:buNone/>
            </a:pPr>
            <a:r>
              <a:rPr b="1" i="0" lang="en-US" sz="1000" u="none" cap="none" strike="noStrike">
                <a:solidFill>
                  <a:srgbClr val="1D6F5B"/>
                </a:solidFill>
                <a:latin typeface="Tahoma"/>
                <a:ea typeface="Tahoma"/>
                <a:cs typeface="Tahoma"/>
                <a:sym typeface="Tahoma"/>
              </a:rPr>
              <a:t>3 · GAN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8" name="Google Shape;678;p38"/>
          <p:cNvSpPr txBox="1"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2400"/>
              <a:buFont typeface="Tahoma"/>
              <a:buNone/>
            </a:pPr>
            <a:r>
              <a:rPr b="1" i="0" lang="en-US" sz="2400" u="none" cap="none" strike="noStrike">
                <a:solidFill>
                  <a:srgbClr val="1F3864"/>
                </a:solidFill>
                <a:latin typeface="Tahoma"/>
                <a:ea typeface="Tahoma"/>
                <a:cs typeface="Tahoma"/>
                <a:sym typeface="Tahoma"/>
              </a:rPr>
              <a:t>ปัญหาของ GAN: mode collapse — ผลิตอยู่แบบเดียว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week4/slides/fig/f_mc_real.png" id="679" name="Google Shape;679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62094" y="1252728"/>
            <a:ext cx="6419811" cy="3246120"/>
          </a:xfrm>
          <a:prstGeom prst="rect">
            <a:avLst/>
          </a:prstGeom>
          <a:noFill/>
          <a:ln>
            <a:noFill/>
          </a:ln>
        </p:spPr>
      </p:pic>
      <p:sp>
        <p:nvSpPr>
          <p:cNvPr id="680" name="Google Shape;680;p38"/>
          <p:cNvSpPr/>
          <p:nvPr/>
        </p:nvSpPr>
        <p:spPr>
          <a:xfrm>
            <a:off x="1362094" y="1252728"/>
            <a:ext cx="6419811" cy="3246120"/>
          </a:xfrm>
          <a:prstGeom prst="rect">
            <a:avLst/>
          </a:prstGeom>
          <a:noFill/>
          <a:ln cap="flat" cmpd="sng" w="9525">
            <a:solidFill>
              <a:srgbClr val="D9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1" name="Google Shape;681;p38"/>
          <p:cNvSpPr txBox="1"/>
          <p:nvPr/>
        </p:nvSpPr>
        <p:spPr>
          <a:xfrm>
            <a:off x="457200" y="4576572"/>
            <a:ext cx="78638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4A2"/>
              </a:buClr>
              <a:buSzPts val="800"/>
              <a:buFont typeface="Tahoma"/>
              <a:buNone/>
            </a:pPr>
            <a:r>
              <a:rPr b="0" i="1" lang="en-US" sz="800" u="none" cap="none" strike="noStrike">
                <a:solidFill>
                  <a:srgbClr val="8A94A2"/>
                </a:solidFill>
                <a:latin typeface="Tahoma"/>
                <a:ea typeface="Tahoma"/>
                <a:cs typeface="Tahoma"/>
                <a:sym typeface="Tahoma"/>
              </a:rPr>
              <a:t>ภาพ: GAN ขนาดเล็กที่เทรนจริงบนข้อมูล 2 มิติ 8 กลุ่ม (CPU) — ตั้งค่าเหมือนกันทุกอย่าง ต่างแค่ความเร็วการเรียนของ 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86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p39"/>
          <p:cNvSpPr txBox="1"/>
          <p:nvPr/>
        </p:nvSpPr>
        <p:spPr>
          <a:xfrm>
            <a:off x="457200" y="4814316"/>
            <a:ext cx="5486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3AE"/>
              </a:buClr>
              <a:buSzPts val="900"/>
              <a:buFont typeface="Tahoma"/>
              <a:buNone/>
            </a:pPr>
            <a:r>
              <a:rPr b="0" i="0" lang="en-US" sz="900" u="none" cap="none" strike="noStrike">
                <a:solidFill>
                  <a:srgbClr val="9AA3AE"/>
                </a:solidFill>
                <a:latin typeface="Tahoma"/>
                <a:ea typeface="Tahoma"/>
                <a:cs typeface="Tahoma"/>
                <a:sym typeface="Tahoma"/>
              </a:rPr>
              <a:t>LLM &amp; Agentic AI · สัปดาห์ 4 · ช่วงเช้า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39"/>
          <p:cNvSpPr/>
          <p:nvPr/>
        </p:nvSpPr>
        <p:spPr>
          <a:xfrm>
            <a:off x="8357616" y="4759452"/>
            <a:ext cx="329184" cy="329184"/>
          </a:xfrm>
          <a:prstGeom prst="ellipse">
            <a:avLst/>
          </a:prstGeom>
          <a:solidFill>
            <a:srgbClr val="1F3864"/>
          </a:solidFill>
          <a:ln cap="flat" cmpd="sng" w="12700">
            <a:solidFill>
              <a:srgbClr val="1F38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9" name="Google Shape;689;p39"/>
          <p:cNvSpPr txBox="1"/>
          <p:nvPr/>
        </p:nvSpPr>
        <p:spPr>
          <a:xfrm>
            <a:off x="8357616" y="4759452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Tahoma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39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0" name="Google Shape;690;p39"/>
          <p:cNvSpPr/>
          <p:nvPr/>
        </p:nvSpPr>
        <p:spPr>
          <a:xfrm>
            <a:off x="457200" y="256032"/>
            <a:ext cx="836676" cy="274320"/>
          </a:xfrm>
          <a:prstGeom prst="roundRect">
            <a:avLst>
              <a:gd fmla="val 50000" name="adj"/>
            </a:avLst>
          </a:prstGeom>
          <a:solidFill>
            <a:srgbClr val="DDF1EA"/>
          </a:solidFill>
          <a:ln cap="flat" cmpd="sng" w="12700">
            <a:solidFill>
              <a:srgbClr val="DDF1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1" name="Google Shape;691;p39"/>
          <p:cNvSpPr txBox="1"/>
          <p:nvPr/>
        </p:nvSpPr>
        <p:spPr>
          <a:xfrm>
            <a:off x="457200" y="256032"/>
            <a:ext cx="83667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6F5B"/>
              </a:buClr>
              <a:buSzPts val="1000"/>
              <a:buFont typeface="Tahoma"/>
              <a:buNone/>
            </a:pPr>
            <a:r>
              <a:rPr b="1" i="0" lang="en-US" sz="1000" u="none" cap="none" strike="noStrike">
                <a:solidFill>
                  <a:srgbClr val="1D6F5B"/>
                </a:solidFill>
                <a:latin typeface="Tahoma"/>
                <a:ea typeface="Tahoma"/>
                <a:cs typeface="Tahoma"/>
                <a:sym typeface="Tahoma"/>
              </a:rPr>
              <a:t>3 · GAN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2" name="Google Shape;692;p39"/>
          <p:cNvSpPr txBox="1"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2400"/>
              <a:buFont typeface="Tahoma"/>
              <a:buNone/>
            </a:pPr>
            <a:r>
              <a:rPr b="1" i="0" lang="en-US" sz="2400" u="none" cap="none" strike="noStrike">
                <a:solidFill>
                  <a:srgbClr val="1F3864"/>
                </a:solidFill>
                <a:latin typeface="Tahoma"/>
                <a:ea typeface="Tahoma"/>
                <a:cs typeface="Tahoma"/>
                <a:sym typeface="Tahoma"/>
              </a:rPr>
              <a:t>VQ-GAN: VQ-VAE + กรรมการ GAN + Transformer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week4/slides/fig/f_vqgan.png" id="693" name="Google Shape;693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7474" y="1252728"/>
            <a:ext cx="7269052" cy="3246120"/>
          </a:xfrm>
          <a:prstGeom prst="rect">
            <a:avLst/>
          </a:prstGeom>
          <a:noFill/>
          <a:ln>
            <a:noFill/>
          </a:ln>
        </p:spPr>
      </p:pic>
      <p:sp>
        <p:nvSpPr>
          <p:cNvPr id="694" name="Google Shape;694;p39"/>
          <p:cNvSpPr/>
          <p:nvPr/>
        </p:nvSpPr>
        <p:spPr>
          <a:xfrm>
            <a:off x="937474" y="1252728"/>
            <a:ext cx="7269052" cy="3246120"/>
          </a:xfrm>
          <a:prstGeom prst="rect">
            <a:avLst/>
          </a:prstGeom>
          <a:noFill/>
          <a:ln cap="flat" cmpd="sng" w="9525">
            <a:solidFill>
              <a:srgbClr val="D9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5" name="Google Shape;695;p39"/>
          <p:cNvSpPr txBox="1"/>
          <p:nvPr/>
        </p:nvSpPr>
        <p:spPr>
          <a:xfrm>
            <a:off x="457200" y="4576572"/>
            <a:ext cx="78638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4A2"/>
              </a:buClr>
              <a:buSzPts val="800"/>
              <a:buFont typeface="Tahoma"/>
              <a:buNone/>
            </a:pPr>
            <a:r>
              <a:rPr b="0" i="1" lang="en-US" sz="800" u="none" cap="none" strike="noStrike">
                <a:solidFill>
                  <a:srgbClr val="8A94A2"/>
                </a:solidFill>
                <a:latin typeface="Tahoma"/>
                <a:ea typeface="Tahoma"/>
                <a:cs typeface="Tahoma"/>
                <a:sym typeface="Tahoma"/>
              </a:rPr>
              <a:t>ภาพ: ตัวแปลงภาพ ⇄ token ที่เทรนจริงบน sprite (CPU) + แผนภาพ — แนวคิดจาก Esser et al. 2021 (Siyu Zhu Lecture 3 หน้า 44)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p40"/>
          <p:cNvSpPr txBox="1"/>
          <p:nvPr/>
        </p:nvSpPr>
        <p:spPr>
          <a:xfrm>
            <a:off x="457200" y="4814316"/>
            <a:ext cx="5486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3AE"/>
              </a:buClr>
              <a:buSzPts val="900"/>
              <a:buFont typeface="Tahoma"/>
              <a:buNone/>
            </a:pPr>
            <a:r>
              <a:rPr b="0" i="0" lang="en-US" sz="900" u="none" cap="none" strike="noStrike">
                <a:solidFill>
                  <a:srgbClr val="9AA3AE"/>
                </a:solidFill>
                <a:latin typeface="Tahoma"/>
                <a:ea typeface="Tahoma"/>
                <a:cs typeface="Tahoma"/>
                <a:sym typeface="Tahoma"/>
              </a:rPr>
              <a:t>LLM &amp; Agentic AI · สัปดาห์ 4 · ช่วงเช้า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2" name="Google Shape;702;p40"/>
          <p:cNvSpPr/>
          <p:nvPr/>
        </p:nvSpPr>
        <p:spPr>
          <a:xfrm>
            <a:off x="8357616" y="4759452"/>
            <a:ext cx="329184" cy="329184"/>
          </a:xfrm>
          <a:prstGeom prst="ellipse">
            <a:avLst/>
          </a:prstGeom>
          <a:solidFill>
            <a:srgbClr val="1F3864"/>
          </a:solidFill>
          <a:ln cap="flat" cmpd="sng" w="12700">
            <a:solidFill>
              <a:srgbClr val="1F38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3" name="Google Shape;703;p40"/>
          <p:cNvSpPr txBox="1"/>
          <p:nvPr/>
        </p:nvSpPr>
        <p:spPr>
          <a:xfrm>
            <a:off x="8357616" y="4759452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Tahoma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40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4" name="Google Shape;704;p40"/>
          <p:cNvSpPr/>
          <p:nvPr/>
        </p:nvSpPr>
        <p:spPr>
          <a:xfrm>
            <a:off x="457200" y="256032"/>
            <a:ext cx="836676" cy="274320"/>
          </a:xfrm>
          <a:prstGeom prst="roundRect">
            <a:avLst>
              <a:gd fmla="val 50000" name="adj"/>
            </a:avLst>
          </a:prstGeom>
          <a:solidFill>
            <a:srgbClr val="DDF1EA"/>
          </a:solidFill>
          <a:ln cap="flat" cmpd="sng" w="12700">
            <a:solidFill>
              <a:srgbClr val="DDF1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5" name="Google Shape;705;p40"/>
          <p:cNvSpPr txBox="1"/>
          <p:nvPr/>
        </p:nvSpPr>
        <p:spPr>
          <a:xfrm>
            <a:off x="457200" y="256032"/>
            <a:ext cx="83667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6F5B"/>
              </a:buClr>
              <a:buSzPts val="1000"/>
              <a:buFont typeface="Tahoma"/>
              <a:buNone/>
            </a:pPr>
            <a:r>
              <a:rPr b="1" i="0" lang="en-US" sz="1000" u="none" cap="none" strike="noStrike">
                <a:solidFill>
                  <a:srgbClr val="1D6F5B"/>
                </a:solidFill>
                <a:latin typeface="Tahoma"/>
                <a:ea typeface="Tahoma"/>
                <a:cs typeface="Tahoma"/>
                <a:sym typeface="Tahoma"/>
              </a:rPr>
              <a:t>3 · GAN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6" name="Google Shape;706;p40"/>
          <p:cNvSpPr txBox="1"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2400"/>
              <a:buFont typeface="Tahoma"/>
              <a:buNone/>
            </a:pPr>
            <a:r>
              <a:rPr b="1" i="0" lang="en-US" sz="2400" u="none" cap="none" strike="noStrike">
                <a:solidFill>
                  <a:srgbClr val="1F3864"/>
                </a:solidFill>
                <a:latin typeface="Tahoma"/>
                <a:ea typeface="Tahoma"/>
                <a:cs typeface="Tahoma"/>
                <a:sym typeface="Tahoma"/>
              </a:rPr>
              <a:t>ตระกูล GAN ที่ควรรู้จักชื่อ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707" name="Google Shape;707;p40"/>
          <p:cNvGraphicFramePr/>
          <p:nvPr/>
        </p:nvGraphicFramePr>
        <p:xfrm>
          <a:off x="457200" y="129844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{78235127-4059-4FEF-A48D-6CC648F02DD3}</a:tableStyleId>
              </a:tblPr>
              <a:tblGrid>
                <a:gridCol w="1452875"/>
                <a:gridCol w="2377450"/>
                <a:gridCol w="2113275"/>
              </a:tblGrid>
              <a:tr h="133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Tahoma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ชื่อ</a:t>
                      </a:r>
                      <a:endParaRPr sz="105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54875" marB="54875" marR="54875" marL="54875" anchor="ctr">
                    <a:lnL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Tahoma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เพิ่มอะไร</a:t>
                      </a:r>
                      <a:endParaRPr sz="105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54875" marB="54875" marR="54875" marL="54875" anchor="ctr">
                    <a:lnL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Tahoma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ใช้ทำอะไร</a:t>
                      </a:r>
                      <a:endParaRPr sz="105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54875" marB="54875" marR="54875" marL="54875" anchor="ctr">
                    <a:lnL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3864"/>
                    </a:solidFill>
                  </a:tcPr>
                </a:tc>
              </a:tr>
              <a:tr h="133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33"/>
                        </a:buClr>
                        <a:buSzPts val="1050"/>
                        <a:buFont typeface="Tahoma"/>
                        <a:buNone/>
                      </a:pPr>
                      <a:r>
                        <a:rPr lang="en-US" sz="1050" u="none" cap="none" strike="noStrike">
                          <a:solidFill>
                            <a:srgbClr val="1E2733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GAN (2014)</a:t>
                      </a:r>
                      <a:endParaRPr sz="105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54875" marB="54875" marR="54875" marL="54875" anchor="ctr">
                    <a:lnL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33"/>
                        </a:buClr>
                        <a:buSzPts val="1050"/>
                        <a:buFont typeface="Tahoma"/>
                        <a:buNone/>
                      </a:pPr>
                      <a:r>
                        <a:rPr lang="en-US" sz="1050" u="none" cap="none" strike="noStrike">
                          <a:solidFill>
                            <a:srgbClr val="1E2733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เกมสองฝ่ายดั้งเดิม</a:t>
                      </a:r>
                      <a:endParaRPr sz="105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54875" marB="54875" marR="54875" marL="54875" anchor="ctr">
                    <a:lnL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33"/>
                        </a:buClr>
                        <a:buSzPts val="1050"/>
                        <a:buFont typeface="Tahoma"/>
                        <a:buNone/>
                      </a:pPr>
                      <a:r>
                        <a:rPr lang="en-US" sz="1050" u="none" cap="none" strike="noStrike">
                          <a:solidFill>
                            <a:srgbClr val="1E2733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ภาพเล็ก ๆ</a:t>
                      </a:r>
                      <a:endParaRPr sz="105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54875" marB="54875" marR="54875" marL="54875" anchor="ctr">
                    <a:lnL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B"/>
                    </a:solidFill>
                  </a:tcPr>
                </a:tc>
              </a:tr>
              <a:tr h="133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33"/>
                        </a:buClr>
                        <a:buSzPts val="1050"/>
                        <a:buFont typeface="Tahoma"/>
                        <a:buNone/>
                      </a:pPr>
                      <a:r>
                        <a:rPr lang="en-US" sz="1050" u="none" cap="none" strike="noStrike">
                          <a:solidFill>
                            <a:srgbClr val="1E2733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DCGAN (2015)</a:t>
                      </a:r>
                      <a:endParaRPr sz="105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54875" marB="54875" marR="54875" marL="54875" anchor="ctr">
                    <a:lnL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33"/>
                        </a:buClr>
                        <a:buSzPts val="1050"/>
                        <a:buFont typeface="Tahoma"/>
                        <a:buNone/>
                      </a:pPr>
                      <a:r>
                        <a:rPr lang="en-US" sz="1050" u="none" cap="none" strike="noStrike">
                          <a:solidFill>
                            <a:srgbClr val="1E2733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ใช้ CNN + ทริกให้เทรนนิ่ง</a:t>
                      </a:r>
                      <a:endParaRPr sz="105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54875" marB="54875" marR="54875" marL="54875" anchor="ctr">
                    <a:lnL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33"/>
                        </a:buClr>
                        <a:buSzPts val="1050"/>
                        <a:buFont typeface="Tahoma"/>
                        <a:buNone/>
                      </a:pPr>
                      <a:r>
                        <a:rPr lang="en-US" sz="1050" u="none" cap="none" strike="noStrike">
                          <a:solidFill>
                            <a:srgbClr val="1E2733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ต้นแบบที่เราใช้ในแล็บ 2</a:t>
                      </a:r>
                      <a:endParaRPr sz="105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54875" marB="54875" marR="54875" marL="54875" anchor="ctr">
                    <a:lnL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33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33"/>
                        </a:buClr>
                        <a:buSzPts val="1050"/>
                        <a:buFont typeface="Tahoma"/>
                        <a:buNone/>
                      </a:pPr>
                      <a:r>
                        <a:rPr lang="en-US" sz="1050" u="none" cap="none" strike="noStrike">
                          <a:solidFill>
                            <a:srgbClr val="1E2733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Conditional GAN</a:t>
                      </a:r>
                      <a:endParaRPr sz="105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54875" marB="54875" marR="54875" marL="54875" anchor="ctr">
                    <a:lnL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33"/>
                        </a:buClr>
                        <a:buSzPts val="1050"/>
                        <a:buFont typeface="Tahoma"/>
                        <a:buNone/>
                      </a:pPr>
                      <a:r>
                        <a:rPr lang="en-US" sz="1050" u="none" cap="none" strike="noStrike">
                          <a:solidFill>
                            <a:srgbClr val="1E2733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ป้อนป้าย/เงื่อนไขให้ทั้ง G และ D</a:t>
                      </a:r>
                      <a:endParaRPr sz="105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54875" marB="54875" marR="54875" marL="54875" anchor="ctr">
                    <a:lnL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33"/>
                        </a:buClr>
                        <a:buSzPts val="1050"/>
                        <a:buFont typeface="Tahoma"/>
                        <a:buNone/>
                      </a:pPr>
                      <a:r>
                        <a:rPr lang="en-US" sz="1050" u="none" cap="none" strike="noStrike">
                          <a:solidFill>
                            <a:srgbClr val="1E2733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สั่งได้ว่าจะเอาคลาสไหน</a:t>
                      </a:r>
                      <a:endParaRPr sz="105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54875" marB="54875" marR="54875" marL="54875" anchor="ctr">
                    <a:lnL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B"/>
                    </a:solidFill>
                  </a:tcPr>
                </a:tc>
              </a:tr>
              <a:tr h="133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33"/>
                        </a:buClr>
                        <a:buSzPts val="1050"/>
                        <a:buFont typeface="Tahoma"/>
                        <a:buNone/>
                      </a:pPr>
                      <a:r>
                        <a:rPr lang="en-US" sz="1050" u="none" cap="none" strike="noStrike">
                          <a:solidFill>
                            <a:srgbClr val="1E2733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StyleGAN (2019–)</a:t>
                      </a:r>
                      <a:endParaRPr sz="105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54875" marB="54875" marR="54875" marL="54875" anchor="ctr">
                    <a:lnL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33"/>
                        </a:buClr>
                        <a:buSzPts val="1050"/>
                        <a:buFont typeface="Tahoma"/>
                        <a:buNone/>
                      </a:pPr>
                      <a:r>
                        <a:rPr lang="en-US" sz="1050" u="none" cap="none" strike="noStrike">
                          <a:solidFill>
                            <a:srgbClr val="1E2733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คุม 'สไตล์' แยกชั้น หน้าคนสมจริง</a:t>
                      </a:r>
                      <a:endParaRPr sz="105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54875" marB="54875" marR="54875" marL="54875" anchor="ctr">
                    <a:lnL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33"/>
                        </a:buClr>
                        <a:buSzPts val="1050"/>
                        <a:buFont typeface="Tahoma"/>
                        <a:buNone/>
                      </a:pPr>
                      <a:r>
                        <a:rPr lang="en-US" sz="1050" u="none" cap="none" strike="noStrike">
                          <a:solidFill>
                            <a:srgbClr val="1E2733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ใบหน้า, งานศิลป์</a:t>
                      </a:r>
                      <a:endParaRPr sz="105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54875" marB="54875" marR="54875" marL="54875" anchor="ctr">
                    <a:lnL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33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33"/>
                        </a:buClr>
                        <a:buSzPts val="1050"/>
                        <a:buFont typeface="Tahoma"/>
                        <a:buNone/>
                      </a:pPr>
                      <a:r>
                        <a:rPr lang="en-US" sz="1050" u="none" cap="none" strike="noStrike">
                          <a:solidFill>
                            <a:srgbClr val="1E2733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BigGAN (2019)</a:t>
                      </a:r>
                      <a:endParaRPr sz="105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54875" marB="54875" marR="54875" marL="54875" anchor="ctr">
                    <a:lnL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33"/>
                        </a:buClr>
                        <a:buSzPts val="1050"/>
                        <a:buFont typeface="Tahoma"/>
                        <a:buNone/>
                      </a:pPr>
                      <a:r>
                        <a:rPr lang="en-US" sz="1050" u="none" cap="none" strike="noStrike">
                          <a:solidFill>
                            <a:srgbClr val="1E2733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ขยายขนาดใหญ่มาก</a:t>
                      </a:r>
                      <a:endParaRPr sz="105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54875" marB="54875" marR="54875" marL="54875" anchor="ctr">
                    <a:lnL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33"/>
                        </a:buClr>
                        <a:buSzPts val="1050"/>
                        <a:buFont typeface="Tahoma"/>
                        <a:buNone/>
                      </a:pPr>
                      <a:r>
                        <a:rPr lang="en-US" sz="1050" u="none" cap="none" strike="noStrike">
                          <a:solidFill>
                            <a:srgbClr val="1E2733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ImageNet 512×512</a:t>
                      </a:r>
                      <a:endParaRPr sz="105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54875" marB="54875" marR="54875" marL="54875" anchor="ctr">
                    <a:lnL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B"/>
                    </a:solidFill>
                  </a:tcPr>
                </a:tc>
              </a:tr>
              <a:tr h="133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33"/>
                        </a:buClr>
                        <a:buSzPts val="1050"/>
                        <a:buFont typeface="Tahoma"/>
                        <a:buNone/>
                      </a:pPr>
                      <a:r>
                        <a:rPr lang="en-US" sz="1050" u="none" cap="none" strike="noStrike">
                          <a:solidFill>
                            <a:srgbClr val="1E2733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VQ-GAN (2021)</a:t>
                      </a:r>
                      <a:endParaRPr sz="105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54875" marB="54875" marR="54875" marL="54875" anchor="ctr">
                    <a:lnL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33"/>
                        </a:buClr>
                        <a:buSzPts val="1050"/>
                        <a:buFont typeface="Tahoma"/>
                        <a:buNone/>
                      </a:pPr>
                      <a:r>
                        <a:rPr lang="en-US" sz="1050" u="none" cap="none" strike="noStrike">
                          <a:solidFill>
                            <a:srgbClr val="1E2733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VQ-VAE + กรรมการ GAN + perceptual loss (เทียบฟีเจอร์แทนพิกเซล)</a:t>
                      </a:r>
                      <a:endParaRPr sz="105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54875" marB="54875" marR="54875" marL="54875" anchor="ctr">
                    <a:lnL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33"/>
                        </a:buClr>
                        <a:buSzPts val="1050"/>
                        <a:buFont typeface="Tahoma"/>
                        <a:buNone/>
                      </a:pPr>
                      <a:r>
                        <a:rPr lang="en-US" sz="1050" u="none" cap="none" strike="noStrike">
                          <a:solidFill>
                            <a:srgbClr val="1E2733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สูตรเทรน autoencoder ของ Stable Diffusion</a:t>
                      </a:r>
                      <a:endParaRPr sz="105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54875" marB="54875" marR="54875" marL="54875" anchor="ctr">
                    <a:lnL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descr="/home/claude/week4/slides/fig/use/e_L3_40_0.png" id="708" name="Google Shape;708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66037" y="1298448"/>
            <a:ext cx="938406" cy="964692"/>
          </a:xfrm>
          <a:prstGeom prst="rect">
            <a:avLst/>
          </a:prstGeom>
          <a:noFill/>
          <a:ln>
            <a:noFill/>
          </a:ln>
        </p:spPr>
      </p:pic>
      <p:sp>
        <p:nvSpPr>
          <p:cNvPr id="709" name="Google Shape;709;p40"/>
          <p:cNvSpPr/>
          <p:nvPr/>
        </p:nvSpPr>
        <p:spPr>
          <a:xfrm>
            <a:off x="7166037" y="1298448"/>
            <a:ext cx="938406" cy="964692"/>
          </a:xfrm>
          <a:prstGeom prst="rect">
            <a:avLst/>
          </a:prstGeom>
          <a:noFill/>
          <a:ln cap="flat" cmpd="sng" w="9525">
            <a:solidFill>
              <a:srgbClr val="D9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0" name="Google Shape;710;p40"/>
          <p:cNvSpPr txBox="1"/>
          <p:nvPr/>
        </p:nvSpPr>
        <p:spPr>
          <a:xfrm>
            <a:off x="6583680" y="2281428"/>
            <a:ext cx="21031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000"/>
              <a:buFont typeface="Tahoma"/>
              <a:buNone/>
            </a:pPr>
            <a:r>
              <a:rPr b="1" i="0" lang="en-US" sz="1000" u="none" cap="none" strike="noStrike">
                <a:solidFill>
                  <a:srgbClr val="1F3864"/>
                </a:solidFill>
                <a:latin typeface="Tahoma"/>
                <a:ea typeface="Tahoma"/>
                <a:cs typeface="Tahoma"/>
                <a:sym typeface="Tahoma"/>
              </a:rPr>
              <a:t>ภาพที่ CycleGAN แปลง: ม้า ↔ ม้าลาย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week4/slides/fig/use/e_L3_41_0.png" id="711" name="Google Shape;711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51489" y="2601468"/>
            <a:ext cx="1967503" cy="964692"/>
          </a:xfrm>
          <a:prstGeom prst="rect">
            <a:avLst/>
          </a:prstGeom>
          <a:noFill/>
          <a:ln>
            <a:noFill/>
          </a:ln>
        </p:spPr>
      </p:pic>
      <p:sp>
        <p:nvSpPr>
          <p:cNvPr id="712" name="Google Shape;712;p40"/>
          <p:cNvSpPr/>
          <p:nvPr/>
        </p:nvSpPr>
        <p:spPr>
          <a:xfrm>
            <a:off x="6651489" y="2601468"/>
            <a:ext cx="1967503" cy="964692"/>
          </a:xfrm>
          <a:prstGeom prst="rect">
            <a:avLst/>
          </a:prstGeom>
          <a:noFill/>
          <a:ln cap="flat" cmpd="sng" w="9525">
            <a:solidFill>
              <a:srgbClr val="D9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3" name="Google Shape;713;p40"/>
          <p:cNvSpPr txBox="1"/>
          <p:nvPr/>
        </p:nvSpPr>
        <p:spPr>
          <a:xfrm>
            <a:off x="6583680" y="3584448"/>
            <a:ext cx="21031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000"/>
              <a:buFont typeface="Tahoma"/>
              <a:buNone/>
            </a:pPr>
            <a:r>
              <a:rPr b="1" i="0" lang="en-US" sz="1000" u="none" cap="none" strike="noStrike">
                <a:solidFill>
                  <a:srgbClr val="1F3864"/>
                </a:solidFill>
                <a:latin typeface="Tahoma"/>
                <a:ea typeface="Tahoma"/>
                <a:cs typeface="Tahoma"/>
                <a:sym typeface="Tahoma"/>
              </a:rPr>
              <a:t>ภาพที่ BigGAN สร้าง (2019)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4" name="Google Shape;714;p40"/>
          <p:cNvSpPr/>
          <p:nvPr/>
        </p:nvSpPr>
        <p:spPr>
          <a:xfrm>
            <a:off x="457200" y="3877056"/>
            <a:ext cx="8229600" cy="621792"/>
          </a:xfrm>
          <a:prstGeom prst="roundRect">
            <a:avLst>
              <a:gd fmla="val 11765" name="adj"/>
            </a:avLst>
          </a:prstGeom>
          <a:solidFill>
            <a:srgbClr val="DDF1EA"/>
          </a:solidFill>
          <a:ln cap="flat" cmpd="sng" w="12700">
            <a:solidFill>
              <a:srgbClr val="DDF1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5" name="Google Shape;715;p40"/>
          <p:cNvSpPr/>
          <p:nvPr/>
        </p:nvSpPr>
        <p:spPr>
          <a:xfrm>
            <a:off x="621792" y="4105656"/>
            <a:ext cx="164592" cy="164592"/>
          </a:xfrm>
          <a:prstGeom prst="ellipse">
            <a:avLst/>
          </a:prstGeom>
          <a:solidFill>
            <a:srgbClr val="1D6F5B"/>
          </a:solidFill>
          <a:ln cap="flat" cmpd="sng" w="12700">
            <a:solidFill>
              <a:srgbClr val="1D6F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6" name="Google Shape;716;p40"/>
          <p:cNvSpPr txBox="1"/>
          <p:nvPr/>
        </p:nvSpPr>
        <p:spPr>
          <a:xfrm>
            <a:off x="914400" y="3877056"/>
            <a:ext cx="763524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33"/>
              </a:buClr>
              <a:buSzPts val="1300"/>
              <a:buFont typeface="Tahoma"/>
              <a:buNone/>
            </a:pPr>
            <a:r>
              <a:rPr b="0" i="0" lang="en-US" sz="1300" u="none" cap="none" strike="noStrike">
                <a:solidFill>
                  <a:srgbClr val="1E2733"/>
                </a:solidFill>
                <a:latin typeface="Tahoma"/>
                <a:ea typeface="Tahoma"/>
                <a:cs typeface="Tahoma"/>
                <a:sym typeface="Tahoma"/>
              </a:rPr>
              <a:t>GAN ไม่ได้ตายไป: decoder ของ Stable Diffusion เทรนด้วย 'กรรมการ' แบบ GAN (สูตรจาก VQ-GAN)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7" name="Google Shape;717;p40"/>
          <p:cNvSpPr txBox="1"/>
          <p:nvPr/>
        </p:nvSpPr>
        <p:spPr>
          <a:xfrm>
            <a:off x="457200" y="4576572"/>
            <a:ext cx="78638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4A2"/>
              </a:buClr>
              <a:buSzPts val="800"/>
              <a:buFont typeface="Tahoma"/>
              <a:buNone/>
            </a:pPr>
            <a:r>
              <a:rPr b="0" i="1" lang="en-US" sz="800" u="none" cap="none" strike="noStrike">
                <a:solidFill>
                  <a:srgbClr val="8A94A2"/>
                </a:solidFill>
                <a:latin typeface="Tahoma"/>
                <a:ea typeface="Tahoma"/>
                <a:cs typeface="Tahoma"/>
                <a:sym typeface="Tahoma"/>
              </a:rPr>
              <a:t>ภาพ: Siyu Zhu (Fudan) Lecture 3 หน้า 40, 41 · ต้นฉบับ Stanford University 2024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p41"/>
          <p:cNvSpPr txBox="1"/>
          <p:nvPr/>
        </p:nvSpPr>
        <p:spPr>
          <a:xfrm>
            <a:off x="457200" y="4814316"/>
            <a:ext cx="5486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3AE"/>
              </a:buClr>
              <a:buSzPts val="900"/>
              <a:buFont typeface="Tahoma"/>
              <a:buNone/>
            </a:pPr>
            <a:r>
              <a:rPr b="0" i="0" lang="en-US" sz="900" u="none" cap="none" strike="noStrike">
                <a:solidFill>
                  <a:srgbClr val="9AA3AE"/>
                </a:solidFill>
                <a:latin typeface="Tahoma"/>
                <a:ea typeface="Tahoma"/>
                <a:cs typeface="Tahoma"/>
                <a:sym typeface="Tahoma"/>
              </a:rPr>
              <a:t>LLM &amp; Agentic AI · สัปดาห์ 4 · ช่วงเช้า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4" name="Google Shape;724;p41"/>
          <p:cNvSpPr/>
          <p:nvPr/>
        </p:nvSpPr>
        <p:spPr>
          <a:xfrm>
            <a:off x="8357616" y="4759452"/>
            <a:ext cx="329184" cy="329184"/>
          </a:xfrm>
          <a:prstGeom prst="ellipse">
            <a:avLst/>
          </a:prstGeom>
          <a:solidFill>
            <a:srgbClr val="1F3864"/>
          </a:solidFill>
          <a:ln cap="flat" cmpd="sng" w="12700">
            <a:solidFill>
              <a:srgbClr val="1F38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5" name="Google Shape;725;p41"/>
          <p:cNvSpPr txBox="1"/>
          <p:nvPr/>
        </p:nvSpPr>
        <p:spPr>
          <a:xfrm>
            <a:off x="8357616" y="4759452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Tahoma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41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6" name="Google Shape;726;p41"/>
          <p:cNvSpPr/>
          <p:nvPr/>
        </p:nvSpPr>
        <p:spPr>
          <a:xfrm>
            <a:off x="457200" y="256032"/>
            <a:ext cx="836676" cy="274320"/>
          </a:xfrm>
          <a:prstGeom prst="roundRect">
            <a:avLst>
              <a:gd fmla="val 50000" name="adj"/>
            </a:avLst>
          </a:prstGeom>
          <a:solidFill>
            <a:srgbClr val="DDF1EA"/>
          </a:solidFill>
          <a:ln cap="flat" cmpd="sng" w="12700">
            <a:solidFill>
              <a:srgbClr val="DDF1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7" name="Google Shape;727;p41"/>
          <p:cNvSpPr txBox="1"/>
          <p:nvPr/>
        </p:nvSpPr>
        <p:spPr>
          <a:xfrm>
            <a:off x="457200" y="256032"/>
            <a:ext cx="83667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6F5B"/>
              </a:buClr>
              <a:buSzPts val="1000"/>
              <a:buFont typeface="Tahoma"/>
              <a:buNone/>
            </a:pPr>
            <a:r>
              <a:rPr b="1" i="0" lang="en-US" sz="1000" u="none" cap="none" strike="noStrike">
                <a:solidFill>
                  <a:srgbClr val="1D6F5B"/>
                </a:solidFill>
                <a:latin typeface="Tahoma"/>
                <a:ea typeface="Tahoma"/>
                <a:cs typeface="Tahoma"/>
                <a:sym typeface="Tahoma"/>
              </a:rPr>
              <a:t>3 · GAN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8" name="Google Shape;728;p41"/>
          <p:cNvSpPr txBox="1"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2400"/>
              <a:buFont typeface="Tahoma"/>
              <a:buNone/>
            </a:pPr>
            <a:r>
              <a:rPr b="1" i="0" lang="en-US" sz="2400" u="none" cap="none" strike="noStrike">
                <a:solidFill>
                  <a:srgbClr val="1F3864"/>
                </a:solidFill>
                <a:latin typeface="Tahoma"/>
                <a:ea typeface="Tahoma"/>
                <a:cs typeface="Tahoma"/>
                <a:sym typeface="Tahoma"/>
              </a:rPr>
              <a:t>VAE vs GAN — สรุปก่อนไปต่อ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729" name="Google Shape;729;p41"/>
          <p:cNvGraphicFramePr/>
          <p:nvPr/>
        </p:nvGraphicFramePr>
        <p:xfrm>
          <a:off x="457200" y="129844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{78235127-4059-4FEF-A48D-6CC648F02DD3}</a:tableStyleId>
              </a:tblPr>
              <a:tblGrid>
                <a:gridCol w="1584950"/>
                <a:gridCol w="2179325"/>
                <a:gridCol w="2179325"/>
              </a:tblGrid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54875" marB="54875" marR="54875" marL="54875" anchor="ctr">
                    <a:lnL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Tahoma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VAE</a:t>
                      </a:r>
                      <a:endParaRPr sz="11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54875" marB="54875" marR="54875" marL="54875" anchor="ctr">
                    <a:lnL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Tahoma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GAN</a:t>
                      </a:r>
                      <a:endParaRPr sz="11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54875" marB="54875" marR="54875" marL="54875" anchor="ctr">
                    <a:lnL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3864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33"/>
                        </a:buClr>
                        <a:buSzPts val="1100"/>
                        <a:buFont typeface="Tahoma"/>
                        <a:buNone/>
                      </a:pPr>
                      <a:r>
                        <a:rPr lang="en-US" sz="1100" u="none" cap="none" strike="noStrike">
                          <a:solidFill>
                            <a:srgbClr val="1E2733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วิธีสุ่ม</a:t>
                      </a:r>
                      <a:endParaRPr sz="11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54875" marB="54875" marR="54875" marL="54875" anchor="ctr">
                    <a:lnL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33"/>
                        </a:buClr>
                        <a:buSzPts val="1100"/>
                        <a:buFont typeface="Tahoma"/>
                        <a:buNone/>
                      </a:pPr>
                      <a:r>
                        <a:rPr lang="en-US" sz="1100" u="none" cap="none" strike="noStrike">
                          <a:solidFill>
                            <a:srgbClr val="1E2733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z → decoder ทีเดียว</a:t>
                      </a:r>
                      <a:endParaRPr sz="11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54875" marB="54875" marR="54875" marL="54875" anchor="ctr">
                    <a:lnL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33"/>
                        </a:buClr>
                        <a:buSzPts val="1100"/>
                        <a:buFont typeface="Tahoma"/>
                        <a:buNone/>
                      </a:pPr>
                      <a:r>
                        <a:rPr lang="en-US" sz="1100" u="none" cap="none" strike="noStrike">
                          <a:solidFill>
                            <a:srgbClr val="1E2733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z → G ทีเดียว</a:t>
                      </a:r>
                      <a:endParaRPr sz="11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54875" marB="54875" marR="54875" marL="54875" anchor="ctr">
                    <a:lnL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B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33"/>
                        </a:buClr>
                        <a:buSzPts val="1100"/>
                        <a:buFont typeface="Tahoma"/>
                        <a:buNone/>
                      </a:pPr>
                      <a:r>
                        <a:rPr lang="en-US" sz="1100" u="none" cap="none" strike="noStrike">
                          <a:solidFill>
                            <a:srgbClr val="1E2733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สัญญาณที่ใช้เทรน</a:t>
                      </a:r>
                      <a:endParaRPr sz="11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54875" marB="54875" marR="54875" marL="54875" anchor="ctr">
                    <a:lnL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33"/>
                        </a:buClr>
                        <a:buSzPts val="1100"/>
                        <a:buFont typeface="Tahoma"/>
                        <a:buNone/>
                      </a:pPr>
                      <a:r>
                        <a:rPr lang="en-US" sz="1100" u="none" cap="none" strike="noStrike">
                          <a:solidFill>
                            <a:srgbClr val="1E2733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เทียบพิกเซล (MSE) + KL</a:t>
                      </a:r>
                      <a:endParaRPr sz="11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54875" marB="54875" marR="54875" marL="54875" anchor="ctr">
                    <a:lnL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33"/>
                        </a:buClr>
                        <a:buSzPts val="1100"/>
                        <a:buFont typeface="Tahoma"/>
                        <a:buNone/>
                      </a:pPr>
                      <a:r>
                        <a:rPr lang="en-US" sz="1100" u="none" cap="none" strike="noStrike">
                          <a:solidFill>
                            <a:srgbClr val="1E2733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คำตัดสินของ D</a:t>
                      </a:r>
                      <a:endParaRPr sz="11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54875" marB="54875" marR="54875" marL="54875" anchor="ctr">
                    <a:lnL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33"/>
                        </a:buClr>
                        <a:buSzPts val="1100"/>
                        <a:buFont typeface="Tahoma"/>
                        <a:buNone/>
                      </a:pPr>
                      <a:r>
                        <a:rPr lang="en-US" sz="1100" u="none" cap="none" strike="noStrike">
                          <a:solidFill>
                            <a:srgbClr val="1E2733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ภาพ</a:t>
                      </a:r>
                      <a:endParaRPr sz="11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54875" marB="54875" marR="54875" marL="54875" anchor="ctr">
                    <a:lnL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33"/>
                        </a:buClr>
                        <a:buSzPts val="1100"/>
                        <a:buFont typeface="Tahoma"/>
                        <a:buNone/>
                      </a:pPr>
                      <a:r>
                        <a:rPr lang="en-US" sz="1100" u="none" cap="none" strike="noStrike">
                          <a:solidFill>
                            <a:srgbClr val="1E2733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เบลอ</a:t>
                      </a:r>
                      <a:endParaRPr sz="11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54875" marB="54875" marR="54875" marL="54875" anchor="ctr">
                    <a:lnL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33"/>
                        </a:buClr>
                        <a:buSzPts val="1100"/>
                        <a:buFont typeface="Tahoma"/>
                        <a:buNone/>
                      </a:pPr>
                      <a:r>
                        <a:rPr lang="en-US" sz="1100" u="none" cap="none" strike="noStrike">
                          <a:solidFill>
                            <a:srgbClr val="1E2733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คม</a:t>
                      </a:r>
                      <a:endParaRPr sz="11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54875" marB="54875" marR="54875" marL="54875" anchor="ctr">
                    <a:lnL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B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33"/>
                        </a:buClr>
                        <a:buSzPts val="1100"/>
                        <a:buFont typeface="Tahoma"/>
                        <a:buNone/>
                      </a:pPr>
                      <a:r>
                        <a:rPr lang="en-US" sz="1100" u="none" cap="none" strike="noStrike">
                          <a:solidFill>
                            <a:srgbClr val="1E2733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ความหลากหลาย</a:t>
                      </a:r>
                      <a:endParaRPr sz="11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54875" marB="54875" marR="54875" marL="54875" anchor="ctr">
                    <a:lnL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33"/>
                        </a:buClr>
                        <a:buSzPts val="1100"/>
                        <a:buFont typeface="Tahoma"/>
                        <a:buNone/>
                      </a:pPr>
                      <a:r>
                        <a:rPr lang="en-US" sz="1100" u="none" cap="none" strike="noStrike">
                          <a:solidFill>
                            <a:srgbClr val="1E2733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ดี (latent เต็มวงกลม)</a:t>
                      </a:r>
                      <a:endParaRPr sz="11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54875" marB="54875" marR="54875" marL="54875" anchor="ctr">
                    <a:lnL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33"/>
                        </a:buClr>
                        <a:buSzPts val="1100"/>
                        <a:buFont typeface="Tahoma"/>
                        <a:buNone/>
                      </a:pPr>
                      <a:r>
                        <a:rPr lang="en-US" sz="1100" u="none" cap="none" strike="noStrike">
                          <a:solidFill>
                            <a:srgbClr val="1E2733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เสี่ยง mode collapse</a:t>
                      </a:r>
                      <a:endParaRPr sz="11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54875" marB="54875" marR="54875" marL="54875" anchor="ctr">
                    <a:lnL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33"/>
                        </a:buClr>
                        <a:buSzPts val="1100"/>
                        <a:buFont typeface="Tahoma"/>
                        <a:buNone/>
                      </a:pPr>
                      <a:r>
                        <a:rPr lang="en-US" sz="1100" u="none" cap="none" strike="noStrike">
                          <a:solidFill>
                            <a:srgbClr val="1E2733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การเทรน</a:t>
                      </a:r>
                      <a:endParaRPr sz="11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54875" marB="54875" marR="54875" marL="54875" anchor="ctr">
                    <a:lnL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33"/>
                        </a:buClr>
                        <a:buSzPts val="1100"/>
                        <a:buFont typeface="Tahoma"/>
                        <a:buNone/>
                      </a:pPr>
                      <a:r>
                        <a:rPr lang="en-US" sz="1100" u="none" cap="none" strike="noStrike">
                          <a:solidFill>
                            <a:srgbClr val="1E2733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นิ่ง loss ลดเรียบ</a:t>
                      </a:r>
                      <a:endParaRPr sz="11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54875" marB="54875" marR="54875" marL="54875" anchor="ctr">
                    <a:lnL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33"/>
                        </a:buClr>
                        <a:buSzPts val="1100"/>
                        <a:buFont typeface="Tahoma"/>
                        <a:buNone/>
                      </a:pPr>
                      <a:r>
                        <a:rPr lang="en-US" sz="1100" u="none" cap="none" strike="noStrike">
                          <a:solidFill>
                            <a:srgbClr val="1E2733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แกว่ง ต้องจูนมาก</a:t>
                      </a:r>
                      <a:endParaRPr sz="11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54875" marB="54875" marR="54875" marL="54875" anchor="ctr">
                    <a:lnL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B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33"/>
                        </a:buClr>
                        <a:buSzPts val="1100"/>
                        <a:buFont typeface="Tahoma"/>
                        <a:buNone/>
                      </a:pPr>
                      <a:r>
                        <a:rPr lang="en-US" sz="1100" u="none" cap="none" strike="noStrike">
                          <a:solidFill>
                            <a:srgbClr val="1E2733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มี encoder ไหม</a:t>
                      </a:r>
                      <a:endParaRPr sz="11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54875" marB="54875" marR="54875" marL="54875" anchor="ctr">
                    <a:lnL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33"/>
                        </a:buClr>
                        <a:buSzPts val="1100"/>
                        <a:buFont typeface="Tahoma"/>
                        <a:buNone/>
                      </a:pPr>
                      <a:r>
                        <a:rPr lang="en-US" sz="1100" u="none" cap="none" strike="noStrike">
                          <a:solidFill>
                            <a:srgbClr val="1E2733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มี — แปลงภาพเป็น z ได้</a:t>
                      </a:r>
                      <a:endParaRPr sz="11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54875" marB="54875" marR="54875" marL="54875" anchor="ctr">
                    <a:lnL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33"/>
                        </a:buClr>
                        <a:buSzPts val="1100"/>
                        <a:buFont typeface="Tahoma"/>
                        <a:buNone/>
                      </a:pPr>
                      <a:r>
                        <a:rPr lang="en-US" sz="1100" u="none" cap="none" strike="noStrike">
                          <a:solidFill>
                            <a:srgbClr val="1E2733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ไม่มี — ย้อนจากภาพไป z ยาก</a:t>
                      </a:r>
                      <a:endParaRPr sz="11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54875" marB="54875" marR="54875" marL="54875" anchor="ctr">
                    <a:lnL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descr="/home/claude/week4/slides/fig/t_vae6.png" id="730" name="Google Shape;730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03941" y="1298448"/>
            <a:ext cx="1462598" cy="964692"/>
          </a:xfrm>
          <a:prstGeom prst="rect">
            <a:avLst/>
          </a:prstGeom>
          <a:noFill/>
          <a:ln>
            <a:noFill/>
          </a:ln>
        </p:spPr>
      </p:pic>
      <p:sp>
        <p:nvSpPr>
          <p:cNvPr id="731" name="Google Shape;731;p41"/>
          <p:cNvSpPr/>
          <p:nvPr/>
        </p:nvSpPr>
        <p:spPr>
          <a:xfrm>
            <a:off x="6903941" y="1298448"/>
            <a:ext cx="1462598" cy="964692"/>
          </a:xfrm>
          <a:prstGeom prst="rect">
            <a:avLst/>
          </a:prstGeom>
          <a:noFill/>
          <a:ln cap="flat" cmpd="sng" w="9525">
            <a:solidFill>
              <a:srgbClr val="D9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2" name="Google Shape;732;p41"/>
          <p:cNvSpPr txBox="1"/>
          <p:nvPr/>
        </p:nvSpPr>
        <p:spPr>
          <a:xfrm>
            <a:off x="6583680" y="2281428"/>
            <a:ext cx="21031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000"/>
              <a:buFont typeface="Tahoma"/>
              <a:buNone/>
            </a:pPr>
            <a:r>
              <a:rPr b="1" i="0" lang="en-US" sz="1000" u="none" cap="none" strike="noStrike">
                <a:solidFill>
                  <a:srgbClr val="1F3864"/>
                </a:solidFill>
                <a:latin typeface="Tahoma"/>
                <a:ea typeface="Tahoma"/>
                <a:cs typeface="Tahoma"/>
                <a:sym typeface="Tahoma"/>
              </a:rPr>
              <a:t>ภาพที่ VAE สร้าง: หลากหลายแต่เบลอ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week4/slides/fig/t_gan6.png" id="733" name="Google Shape;733;p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903941" y="2601468"/>
            <a:ext cx="1462598" cy="964692"/>
          </a:xfrm>
          <a:prstGeom prst="rect">
            <a:avLst/>
          </a:prstGeom>
          <a:noFill/>
          <a:ln>
            <a:noFill/>
          </a:ln>
        </p:spPr>
      </p:pic>
      <p:sp>
        <p:nvSpPr>
          <p:cNvPr id="734" name="Google Shape;734;p41"/>
          <p:cNvSpPr/>
          <p:nvPr/>
        </p:nvSpPr>
        <p:spPr>
          <a:xfrm>
            <a:off x="6903941" y="2601468"/>
            <a:ext cx="1462598" cy="964692"/>
          </a:xfrm>
          <a:prstGeom prst="rect">
            <a:avLst/>
          </a:prstGeom>
          <a:noFill/>
          <a:ln cap="flat" cmpd="sng" w="9525">
            <a:solidFill>
              <a:srgbClr val="D9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5" name="Google Shape;735;p41"/>
          <p:cNvSpPr txBox="1"/>
          <p:nvPr/>
        </p:nvSpPr>
        <p:spPr>
          <a:xfrm>
            <a:off x="6583680" y="3584448"/>
            <a:ext cx="21031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000"/>
              <a:buFont typeface="Tahoma"/>
              <a:buNone/>
            </a:pPr>
            <a:r>
              <a:rPr b="1" i="0" lang="en-US" sz="1000" u="none" cap="none" strike="noStrike">
                <a:solidFill>
                  <a:srgbClr val="1F3864"/>
                </a:solidFill>
                <a:latin typeface="Tahoma"/>
                <a:ea typeface="Tahoma"/>
                <a:cs typeface="Tahoma"/>
                <a:sym typeface="Tahoma"/>
              </a:rPr>
              <a:t>ภาพที่ GAN สร้าง: คม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6" name="Google Shape;736;p41"/>
          <p:cNvSpPr/>
          <p:nvPr/>
        </p:nvSpPr>
        <p:spPr>
          <a:xfrm>
            <a:off x="457200" y="3877056"/>
            <a:ext cx="8229600" cy="621792"/>
          </a:xfrm>
          <a:prstGeom prst="roundRect">
            <a:avLst>
              <a:gd fmla="val 11765" name="adj"/>
            </a:avLst>
          </a:prstGeom>
          <a:solidFill>
            <a:srgbClr val="DDF1EA"/>
          </a:solidFill>
          <a:ln cap="flat" cmpd="sng" w="12700">
            <a:solidFill>
              <a:srgbClr val="DDF1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7" name="Google Shape;737;p41"/>
          <p:cNvSpPr/>
          <p:nvPr/>
        </p:nvSpPr>
        <p:spPr>
          <a:xfrm>
            <a:off x="621792" y="4105656"/>
            <a:ext cx="164592" cy="164592"/>
          </a:xfrm>
          <a:prstGeom prst="ellipse">
            <a:avLst/>
          </a:prstGeom>
          <a:solidFill>
            <a:srgbClr val="1D6F5B"/>
          </a:solidFill>
          <a:ln cap="flat" cmpd="sng" w="12700">
            <a:solidFill>
              <a:srgbClr val="1D6F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8" name="Google Shape;738;p41"/>
          <p:cNvSpPr txBox="1"/>
          <p:nvPr/>
        </p:nvSpPr>
        <p:spPr>
          <a:xfrm>
            <a:off x="914400" y="3877056"/>
            <a:ext cx="763524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33"/>
              </a:buClr>
              <a:buSzPts val="1300"/>
              <a:buFont typeface="Tahoma"/>
              <a:buNone/>
            </a:pPr>
            <a:r>
              <a:rPr b="0" i="0" lang="en-US" sz="1300" u="none" cap="none" strike="noStrike">
                <a:solidFill>
                  <a:srgbClr val="1E2733"/>
                </a:solidFill>
                <a:latin typeface="Tahoma"/>
                <a:ea typeface="Tahoma"/>
                <a:cs typeface="Tahoma"/>
                <a:sym typeface="Tahoma"/>
              </a:rPr>
              <a:t>คำถามนำไปส่วน 4: เอาข้อดีของทั้งสองฝั่งมารวมกันได้ไหม?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9" name="Google Shape;739;p41"/>
          <p:cNvSpPr txBox="1"/>
          <p:nvPr/>
        </p:nvSpPr>
        <p:spPr>
          <a:xfrm>
            <a:off x="457200" y="4576572"/>
            <a:ext cx="78638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4A2"/>
              </a:buClr>
              <a:buSzPts val="800"/>
              <a:buFont typeface="Tahoma"/>
              <a:buNone/>
            </a:pPr>
            <a:r>
              <a:rPr b="0" i="1" lang="en-US" sz="800" u="none" cap="none" strike="noStrike">
                <a:solidFill>
                  <a:srgbClr val="8A94A2"/>
                </a:solidFill>
                <a:latin typeface="Tahoma"/>
                <a:ea typeface="Tahoma"/>
                <a:cs typeface="Tahoma"/>
                <a:sym typeface="Tahoma"/>
              </a:rPr>
              <a:t>ภาพ: VAE และ DCGAN ที่เทรนจริงบน sprite ชุดเดียวกัน (CPU)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F3864"/>
        </a:solidFill>
      </p:bgPr>
    </p:bg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42"/>
          <p:cNvSpPr txBox="1"/>
          <p:nvPr/>
        </p:nvSpPr>
        <p:spPr>
          <a:xfrm>
            <a:off x="6766560" y="1280160"/>
            <a:ext cx="2194560" cy="3108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7406F"/>
              </a:buClr>
              <a:buSzPts val="17000"/>
              <a:buFont typeface="Tahoma"/>
              <a:buNone/>
            </a:pPr>
            <a:r>
              <a:rPr b="1" i="0" lang="en-US" sz="17000" u="none" cap="none" strike="noStrike">
                <a:solidFill>
                  <a:srgbClr val="27406F"/>
                </a:solidFill>
                <a:latin typeface="Tahoma"/>
                <a:ea typeface="Tahoma"/>
                <a:cs typeface="Tahoma"/>
                <a:sym typeface="Tahoma"/>
              </a:rPr>
              <a:t>4</a:t>
            </a:r>
            <a:endParaRPr b="0" i="0" sz="17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6" name="Google Shape;746;p42"/>
          <p:cNvSpPr txBox="1"/>
          <p:nvPr/>
        </p:nvSpPr>
        <p:spPr>
          <a:xfrm>
            <a:off x="640080" y="118872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DB8D9"/>
              </a:buClr>
              <a:buSzPts val="1500"/>
              <a:buFont typeface="Tahoma"/>
              <a:buNone/>
            </a:pPr>
            <a:r>
              <a:rPr b="1" i="0" lang="en-US" sz="1500" u="none" cap="none" strike="noStrike">
                <a:solidFill>
                  <a:srgbClr val="9DB8D9"/>
                </a:solidFill>
                <a:latin typeface="Tahoma"/>
                <a:ea typeface="Tahoma"/>
                <a:cs typeface="Tahoma"/>
                <a:sym typeface="Tahoma"/>
              </a:rPr>
              <a:t>ส่วนที่ 4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7" name="Google Shape;747;p42"/>
          <p:cNvSpPr txBox="1"/>
          <p:nvPr/>
        </p:nvSpPr>
        <p:spPr>
          <a:xfrm>
            <a:off x="640080" y="1645920"/>
            <a:ext cx="62179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8" name="Google Shape;748;p42"/>
          <p:cNvSpPr/>
          <p:nvPr/>
        </p:nvSpPr>
        <p:spPr>
          <a:xfrm>
            <a:off x="5394960" y="1005840"/>
            <a:ext cx="3657600" cy="3657600"/>
          </a:xfrm>
          <a:prstGeom prst="rect">
            <a:avLst/>
          </a:prstGeom>
          <a:solidFill>
            <a:srgbClr val="1F3864"/>
          </a:solidFill>
          <a:ln cap="flat" cmpd="sng" w="12700">
            <a:solidFill>
              <a:srgbClr val="1F38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9" name="Google Shape;749;p42"/>
          <p:cNvSpPr txBox="1"/>
          <p:nvPr/>
        </p:nvSpPr>
        <p:spPr>
          <a:xfrm>
            <a:off x="640080" y="1645920"/>
            <a:ext cx="46634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Tahoma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Diffusion — เดินจาก noise ทีละก้าว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0" name="Google Shape;750;p42"/>
          <p:cNvSpPr txBox="1"/>
          <p:nvPr/>
        </p:nvSpPr>
        <p:spPr>
          <a:xfrm>
            <a:off x="640080" y="2926080"/>
            <a:ext cx="466344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Tahoma"/>
              <a:buNone/>
            </a:pPr>
            <a:r>
              <a:rPr b="0" i="0" lang="en-US" sz="1300" u="none" cap="none" strike="noStrike">
                <a:solidFill>
                  <a:srgbClr val="CADCFC"/>
                </a:solidFill>
                <a:latin typeface="Tahoma"/>
                <a:ea typeface="Tahoma"/>
                <a:cs typeface="Tahoma"/>
                <a:sym typeface="Tahoma"/>
              </a:rPr>
              <a:t>Forward เติม noise · Reverse ทาย noise · เทรนเหมือน regression · DDPM 1,000 ก้าว → DDIM 50 ก้าว · ทำไมชนะ GAN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week4/slides/fig/use/e_L4_12_0.png" id="751" name="Google Shape;751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77840" y="2241520"/>
            <a:ext cx="3200400" cy="1003360"/>
          </a:xfrm>
          <a:prstGeom prst="rect">
            <a:avLst/>
          </a:prstGeom>
          <a:noFill/>
          <a:ln>
            <a:noFill/>
          </a:ln>
        </p:spPr>
      </p:pic>
      <p:sp>
        <p:nvSpPr>
          <p:cNvPr id="752" name="Google Shape;752;p42"/>
          <p:cNvSpPr/>
          <p:nvPr/>
        </p:nvSpPr>
        <p:spPr>
          <a:xfrm>
            <a:off x="5577840" y="2241520"/>
            <a:ext cx="3200400" cy="1003360"/>
          </a:xfrm>
          <a:prstGeom prst="rect">
            <a:avLst/>
          </a:prstGeom>
          <a:noFill/>
          <a:ln cap="flat" cmpd="sng" w="9525">
            <a:solidFill>
              <a:srgbClr val="D9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3" name="Google Shape;753;p42"/>
          <p:cNvSpPr txBox="1"/>
          <p:nvPr/>
        </p:nvSpPr>
        <p:spPr>
          <a:xfrm>
            <a:off x="457200" y="4576572"/>
            <a:ext cx="78638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DB8D9"/>
              </a:buClr>
              <a:buSzPts val="800"/>
              <a:buFont typeface="Tahoma"/>
              <a:buNone/>
            </a:pPr>
            <a:r>
              <a:rPr b="0" i="1" lang="en-US" sz="800" u="none" cap="none" strike="noStrike">
                <a:solidFill>
                  <a:srgbClr val="9DB8D9"/>
                </a:solidFill>
                <a:latin typeface="Tahoma"/>
                <a:ea typeface="Tahoma"/>
                <a:cs typeface="Tahoma"/>
                <a:sym typeface="Tahoma"/>
              </a:rPr>
              <a:t>ภาพ: Siyu Zhu (Fudan) Lecture 4&amp;5 หน้า 12 · ต้นฉบับ Mike Shou, NUS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58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p43"/>
          <p:cNvSpPr txBox="1"/>
          <p:nvPr/>
        </p:nvSpPr>
        <p:spPr>
          <a:xfrm>
            <a:off x="457200" y="4814316"/>
            <a:ext cx="5486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3AE"/>
              </a:buClr>
              <a:buSzPts val="900"/>
              <a:buFont typeface="Tahoma"/>
              <a:buNone/>
            </a:pPr>
            <a:r>
              <a:rPr b="0" i="0" lang="en-US" sz="900" u="none" cap="none" strike="noStrike">
                <a:solidFill>
                  <a:srgbClr val="9AA3AE"/>
                </a:solidFill>
                <a:latin typeface="Tahoma"/>
                <a:ea typeface="Tahoma"/>
                <a:cs typeface="Tahoma"/>
                <a:sym typeface="Tahoma"/>
              </a:rPr>
              <a:t>LLM &amp; Agentic AI · สัปดาห์ 4 · ช่วงเช้า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0" name="Google Shape;760;p43"/>
          <p:cNvSpPr/>
          <p:nvPr/>
        </p:nvSpPr>
        <p:spPr>
          <a:xfrm>
            <a:off x="8357616" y="4759452"/>
            <a:ext cx="329184" cy="329184"/>
          </a:xfrm>
          <a:prstGeom prst="ellipse">
            <a:avLst/>
          </a:prstGeom>
          <a:solidFill>
            <a:srgbClr val="1F3864"/>
          </a:solidFill>
          <a:ln cap="flat" cmpd="sng" w="12700">
            <a:solidFill>
              <a:srgbClr val="1F38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1" name="Google Shape;761;p43"/>
          <p:cNvSpPr txBox="1"/>
          <p:nvPr/>
        </p:nvSpPr>
        <p:spPr>
          <a:xfrm>
            <a:off x="8357616" y="4759452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Tahoma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43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2" name="Google Shape;762;p43"/>
          <p:cNvSpPr/>
          <p:nvPr/>
        </p:nvSpPr>
        <p:spPr>
          <a:xfrm>
            <a:off x="457200" y="256032"/>
            <a:ext cx="1303020" cy="274320"/>
          </a:xfrm>
          <a:prstGeom prst="roundRect">
            <a:avLst>
              <a:gd fmla="val 50000" name="adj"/>
            </a:avLst>
          </a:prstGeom>
          <a:solidFill>
            <a:srgbClr val="DDF1EA"/>
          </a:solidFill>
          <a:ln cap="flat" cmpd="sng" w="12700">
            <a:solidFill>
              <a:srgbClr val="DDF1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3" name="Google Shape;763;p43"/>
          <p:cNvSpPr txBox="1"/>
          <p:nvPr/>
        </p:nvSpPr>
        <p:spPr>
          <a:xfrm>
            <a:off x="457200" y="256032"/>
            <a:ext cx="13030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6F5B"/>
              </a:buClr>
              <a:buSzPts val="1000"/>
              <a:buFont typeface="Tahoma"/>
              <a:buNone/>
            </a:pPr>
            <a:r>
              <a:rPr b="1" i="0" lang="en-US" sz="1000" u="none" cap="none" strike="noStrike">
                <a:solidFill>
                  <a:srgbClr val="1D6F5B"/>
                </a:solidFill>
                <a:latin typeface="Tahoma"/>
                <a:ea typeface="Tahoma"/>
                <a:cs typeface="Tahoma"/>
                <a:sym typeface="Tahoma"/>
              </a:rPr>
              <a:t>4 · Diffusion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4" name="Google Shape;764;p43"/>
          <p:cNvSpPr txBox="1"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2400"/>
              <a:buFont typeface="Tahoma"/>
              <a:buNone/>
            </a:pPr>
            <a:r>
              <a:rPr b="1" i="0" lang="en-US" sz="2400" u="none" cap="none" strike="noStrike">
                <a:solidFill>
                  <a:srgbClr val="1F3864"/>
                </a:solidFill>
                <a:latin typeface="Tahoma"/>
                <a:ea typeface="Tahoma"/>
                <a:cs typeface="Tahoma"/>
                <a:sym typeface="Tahoma"/>
              </a:rPr>
              <a:t>ไอเดียเดียว: 'ทำลายช้า ๆ แล้วเรียนวิธีกู้คืน'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week4/slides/fig/f_d_idea.png" id="765" name="Google Shape;765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322" y="1252728"/>
            <a:ext cx="8001357" cy="3246120"/>
          </a:xfrm>
          <a:prstGeom prst="rect">
            <a:avLst/>
          </a:prstGeom>
          <a:noFill/>
          <a:ln>
            <a:noFill/>
          </a:ln>
        </p:spPr>
      </p:pic>
      <p:sp>
        <p:nvSpPr>
          <p:cNvPr id="766" name="Google Shape;766;p43"/>
          <p:cNvSpPr/>
          <p:nvPr/>
        </p:nvSpPr>
        <p:spPr>
          <a:xfrm>
            <a:off x="571322" y="1252728"/>
            <a:ext cx="8001357" cy="3246120"/>
          </a:xfrm>
          <a:prstGeom prst="rect">
            <a:avLst/>
          </a:prstGeom>
          <a:noFill/>
          <a:ln cap="flat" cmpd="sng" w="9525">
            <a:solidFill>
              <a:srgbClr val="D9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7" name="Google Shape;767;p43"/>
          <p:cNvSpPr txBox="1"/>
          <p:nvPr/>
        </p:nvSpPr>
        <p:spPr>
          <a:xfrm>
            <a:off x="457200" y="4576572"/>
            <a:ext cx="78638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4A2"/>
              </a:buClr>
              <a:buSzPts val="800"/>
              <a:buFont typeface="Tahoma"/>
              <a:buNone/>
            </a:pPr>
            <a:r>
              <a:rPr b="0" i="1" lang="en-US" sz="800" u="none" cap="none" strike="noStrike">
                <a:solidFill>
                  <a:srgbClr val="8A94A2"/>
                </a:solidFill>
                <a:latin typeface="Tahoma"/>
                <a:ea typeface="Tahoma"/>
                <a:cs typeface="Tahoma"/>
                <a:sym typeface="Tahoma"/>
              </a:rPr>
              <a:t>ภาพ: ผลรันจริงของแล็บ 3–4 (diffusion บน sprite 10,000 ภาพ, CPU)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72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p44"/>
          <p:cNvSpPr txBox="1"/>
          <p:nvPr/>
        </p:nvSpPr>
        <p:spPr>
          <a:xfrm>
            <a:off x="457200" y="4814316"/>
            <a:ext cx="5486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3AE"/>
              </a:buClr>
              <a:buSzPts val="900"/>
              <a:buFont typeface="Tahoma"/>
              <a:buNone/>
            </a:pPr>
            <a:r>
              <a:rPr b="0" i="0" lang="en-US" sz="900" u="none" cap="none" strike="noStrike">
                <a:solidFill>
                  <a:srgbClr val="9AA3AE"/>
                </a:solidFill>
                <a:latin typeface="Tahoma"/>
                <a:ea typeface="Tahoma"/>
                <a:cs typeface="Tahoma"/>
                <a:sym typeface="Tahoma"/>
              </a:rPr>
              <a:t>LLM &amp; Agentic AI · สัปดาห์ 4 · ช่วงเช้า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4" name="Google Shape;774;p44"/>
          <p:cNvSpPr/>
          <p:nvPr/>
        </p:nvSpPr>
        <p:spPr>
          <a:xfrm>
            <a:off x="8357616" y="4759452"/>
            <a:ext cx="329184" cy="329184"/>
          </a:xfrm>
          <a:prstGeom prst="ellipse">
            <a:avLst/>
          </a:prstGeom>
          <a:solidFill>
            <a:srgbClr val="1F3864"/>
          </a:solidFill>
          <a:ln cap="flat" cmpd="sng" w="12700">
            <a:solidFill>
              <a:srgbClr val="1F38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5" name="Google Shape;775;p44"/>
          <p:cNvSpPr txBox="1"/>
          <p:nvPr/>
        </p:nvSpPr>
        <p:spPr>
          <a:xfrm>
            <a:off x="8357616" y="4759452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Tahoma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44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6" name="Google Shape;776;p44"/>
          <p:cNvSpPr/>
          <p:nvPr/>
        </p:nvSpPr>
        <p:spPr>
          <a:xfrm>
            <a:off x="457200" y="256032"/>
            <a:ext cx="1147572" cy="274320"/>
          </a:xfrm>
          <a:prstGeom prst="roundRect">
            <a:avLst>
              <a:gd fmla="val 50000" name="adj"/>
            </a:avLst>
          </a:prstGeom>
          <a:solidFill>
            <a:srgbClr val="DDF1EA"/>
          </a:solidFill>
          <a:ln cap="flat" cmpd="sng" w="12700">
            <a:solidFill>
              <a:srgbClr val="DDF1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7" name="Google Shape;777;p44"/>
          <p:cNvSpPr txBox="1"/>
          <p:nvPr/>
        </p:nvSpPr>
        <p:spPr>
          <a:xfrm>
            <a:off x="457200" y="256032"/>
            <a:ext cx="11475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6F5B"/>
              </a:buClr>
              <a:buSzPts val="1000"/>
              <a:buFont typeface="Tahoma"/>
              <a:buNone/>
            </a:pPr>
            <a:r>
              <a:rPr b="1" i="0" lang="en-US" sz="1000" u="none" cap="none" strike="noStrike">
                <a:solidFill>
                  <a:srgbClr val="1D6F5B"/>
                </a:solidFill>
                <a:latin typeface="Tahoma"/>
                <a:ea typeface="Tahoma"/>
                <a:cs typeface="Tahoma"/>
                <a:sym typeface="Tahoma"/>
              </a:rPr>
              <a:t>4 · Forward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8" name="Google Shape;778;p44"/>
          <p:cNvSpPr txBox="1"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2400"/>
              <a:buFont typeface="Tahoma"/>
              <a:buNone/>
            </a:pPr>
            <a:r>
              <a:rPr b="1" i="0" lang="en-US" sz="2400" u="none" cap="none" strike="noStrike">
                <a:solidFill>
                  <a:srgbClr val="1F3864"/>
                </a:solidFill>
                <a:latin typeface="Tahoma"/>
                <a:ea typeface="Tahoma"/>
                <a:cs typeface="Tahoma"/>
                <a:sym typeface="Tahoma"/>
              </a:rPr>
              <a:t>Forward: ทุก t คือภาพเดิมผสม noise ในสัดส่วนที่ตายตัว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week4/slides/fig/f_d_mix.png" id="779" name="Google Shape;779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4849" y="1252728"/>
            <a:ext cx="7074303" cy="3246120"/>
          </a:xfrm>
          <a:prstGeom prst="rect">
            <a:avLst/>
          </a:prstGeom>
          <a:noFill/>
          <a:ln>
            <a:noFill/>
          </a:ln>
        </p:spPr>
      </p:pic>
      <p:sp>
        <p:nvSpPr>
          <p:cNvPr id="780" name="Google Shape;780;p44"/>
          <p:cNvSpPr/>
          <p:nvPr/>
        </p:nvSpPr>
        <p:spPr>
          <a:xfrm>
            <a:off x="1034849" y="1252728"/>
            <a:ext cx="7074303" cy="3246120"/>
          </a:xfrm>
          <a:prstGeom prst="rect">
            <a:avLst/>
          </a:prstGeom>
          <a:noFill/>
          <a:ln cap="flat" cmpd="sng" w="9525">
            <a:solidFill>
              <a:srgbClr val="D9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1" name="Google Shape;781;p44"/>
          <p:cNvSpPr txBox="1"/>
          <p:nvPr/>
        </p:nvSpPr>
        <p:spPr>
          <a:xfrm>
            <a:off x="457200" y="4576572"/>
            <a:ext cx="78638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4A2"/>
              </a:buClr>
              <a:buSzPts val="800"/>
              <a:buFont typeface="Tahoma"/>
              <a:buNone/>
            </a:pPr>
            <a:r>
              <a:rPr b="0" i="1" lang="en-US" sz="800" u="none" cap="none" strike="noStrike">
                <a:solidFill>
                  <a:srgbClr val="8A94A2"/>
                </a:solidFill>
                <a:latin typeface="Tahoma"/>
                <a:ea typeface="Tahoma"/>
                <a:cs typeface="Tahoma"/>
                <a:sym typeface="Tahoma"/>
              </a:rPr>
              <a:t>ภาพ: สูตร forward จริงของแล็บ 3 บนภาพ sprite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86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p45"/>
          <p:cNvSpPr txBox="1"/>
          <p:nvPr/>
        </p:nvSpPr>
        <p:spPr>
          <a:xfrm>
            <a:off x="457200" y="4814316"/>
            <a:ext cx="5486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3AE"/>
              </a:buClr>
              <a:buSzPts val="900"/>
              <a:buFont typeface="Tahoma"/>
              <a:buNone/>
            </a:pPr>
            <a:r>
              <a:rPr b="0" i="0" lang="en-US" sz="900" u="none" cap="none" strike="noStrike">
                <a:solidFill>
                  <a:srgbClr val="9AA3AE"/>
                </a:solidFill>
                <a:latin typeface="Tahoma"/>
                <a:ea typeface="Tahoma"/>
                <a:cs typeface="Tahoma"/>
                <a:sym typeface="Tahoma"/>
              </a:rPr>
              <a:t>LLM &amp; Agentic AI · สัปดาห์ 4 · ช่วงเช้า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8" name="Google Shape;788;p45"/>
          <p:cNvSpPr/>
          <p:nvPr/>
        </p:nvSpPr>
        <p:spPr>
          <a:xfrm>
            <a:off x="8357616" y="4759452"/>
            <a:ext cx="329184" cy="329184"/>
          </a:xfrm>
          <a:prstGeom prst="ellipse">
            <a:avLst/>
          </a:prstGeom>
          <a:solidFill>
            <a:srgbClr val="1F3864"/>
          </a:solidFill>
          <a:ln cap="flat" cmpd="sng" w="12700">
            <a:solidFill>
              <a:srgbClr val="1F38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9" name="Google Shape;789;p45"/>
          <p:cNvSpPr txBox="1"/>
          <p:nvPr/>
        </p:nvSpPr>
        <p:spPr>
          <a:xfrm>
            <a:off x="8357616" y="4759452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Tahoma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45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0" name="Google Shape;790;p45"/>
          <p:cNvSpPr/>
          <p:nvPr/>
        </p:nvSpPr>
        <p:spPr>
          <a:xfrm>
            <a:off x="457200" y="256032"/>
            <a:ext cx="1147572" cy="274320"/>
          </a:xfrm>
          <a:prstGeom prst="roundRect">
            <a:avLst>
              <a:gd fmla="val 50000" name="adj"/>
            </a:avLst>
          </a:prstGeom>
          <a:solidFill>
            <a:srgbClr val="DDF1EA"/>
          </a:solidFill>
          <a:ln cap="flat" cmpd="sng" w="12700">
            <a:solidFill>
              <a:srgbClr val="DDF1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1" name="Google Shape;791;p45"/>
          <p:cNvSpPr txBox="1"/>
          <p:nvPr/>
        </p:nvSpPr>
        <p:spPr>
          <a:xfrm>
            <a:off x="457200" y="256032"/>
            <a:ext cx="11475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6F5B"/>
              </a:buClr>
              <a:buSzPts val="1000"/>
              <a:buFont typeface="Tahoma"/>
              <a:buNone/>
            </a:pPr>
            <a:r>
              <a:rPr b="1" i="0" lang="en-US" sz="1000" u="none" cap="none" strike="noStrike">
                <a:solidFill>
                  <a:srgbClr val="1D6F5B"/>
                </a:solidFill>
                <a:latin typeface="Tahoma"/>
                <a:ea typeface="Tahoma"/>
                <a:cs typeface="Tahoma"/>
                <a:sym typeface="Tahoma"/>
              </a:rPr>
              <a:t>4 · Forward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2" name="Google Shape;792;p45"/>
          <p:cNvSpPr txBox="1"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2400"/>
              <a:buFont typeface="Tahoma"/>
              <a:buNone/>
            </a:pPr>
            <a:r>
              <a:rPr b="1" i="0" lang="en-US" sz="2400" u="none" cap="none" strike="noStrike">
                <a:solidFill>
                  <a:srgbClr val="1F3864"/>
                </a:solidFill>
                <a:latin typeface="Tahoma"/>
                <a:ea typeface="Tahoma"/>
                <a:cs typeface="Tahoma"/>
                <a:sym typeface="Tahoma"/>
              </a:rPr>
              <a:t>ทริกตอนเทรน: กระโดดไป t ไหนก็ได้ในครั้งเดียว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week4/slides/fig/f_d_jump.png" id="793" name="Google Shape;793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2801" y="1252728"/>
            <a:ext cx="7818399" cy="3246120"/>
          </a:xfrm>
          <a:prstGeom prst="rect">
            <a:avLst/>
          </a:prstGeom>
          <a:noFill/>
          <a:ln>
            <a:noFill/>
          </a:ln>
        </p:spPr>
      </p:pic>
      <p:sp>
        <p:nvSpPr>
          <p:cNvPr id="794" name="Google Shape;794;p45"/>
          <p:cNvSpPr/>
          <p:nvPr/>
        </p:nvSpPr>
        <p:spPr>
          <a:xfrm>
            <a:off x="662801" y="1252728"/>
            <a:ext cx="7818399" cy="3246120"/>
          </a:xfrm>
          <a:prstGeom prst="rect">
            <a:avLst/>
          </a:prstGeom>
          <a:noFill/>
          <a:ln cap="flat" cmpd="sng" w="9525">
            <a:solidFill>
              <a:srgbClr val="D9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5" name="Google Shape;795;p45"/>
          <p:cNvSpPr txBox="1"/>
          <p:nvPr/>
        </p:nvSpPr>
        <p:spPr>
          <a:xfrm>
            <a:off x="457200" y="4576572"/>
            <a:ext cx="78638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4A2"/>
              </a:buClr>
              <a:buSzPts val="800"/>
              <a:buFont typeface="Tahoma"/>
              <a:buNone/>
            </a:pPr>
            <a:r>
              <a:rPr b="0" i="1" lang="en-US" sz="800" u="none" cap="none" strike="noStrike">
                <a:solidFill>
                  <a:srgbClr val="8A94A2"/>
                </a:solidFill>
                <a:latin typeface="Tahoma"/>
                <a:ea typeface="Tahoma"/>
                <a:cs typeface="Tahoma"/>
                <a:sym typeface="Tahoma"/>
              </a:rPr>
              <a:t>ภาพ: ผลรันจริงของแล็บ 3–4 (diffusion บน sprite 10,000 ภาพ, CPU)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00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Google Shape;801;p46"/>
          <p:cNvSpPr txBox="1"/>
          <p:nvPr/>
        </p:nvSpPr>
        <p:spPr>
          <a:xfrm>
            <a:off x="457200" y="4814316"/>
            <a:ext cx="5486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3AE"/>
              </a:buClr>
              <a:buSzPts val="900"/>
              <a:buFont typeface="Tahoma"/>
              <a:buNone/>
            </a:pPr>
            <a:r>
              <a:rPr b="0" i="0" lang="en-US" sz="900" u="none" cap="none" strike="noStrike">
                <a:solidFill>
                  <a:srgbClr val="9AA3AE"/>
                </a:solidFill>
                <a:latin typeface="Tahoma"/>
                <a:ea typeface="Tahoma"/>
                <a:cs typeface="Tahoma"/>
                <a:sym typeface="Tahoma"/>
              </a:rPr>
              <a:t>LLM &amp; Agentic AI · สัปดาห์ 4 · ช่วงเช้า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2" name="Google Shape;802;p46"/>
          <p:cNvSpPr/>
          <p:nvPr/>
        </p:nvSpPr>
        <p:spPr>
          <a:xfrm>
            <a:off x="8357616" y="4759452"/>
            <a:ext cx="329184" cy="329184"/>
          </a:xfrm>
          <a:prstGeom prst="ellipse">
            <a:avLst/>
          </a:prstGeom>
          <a:solidFill>
            <a:srgbClr val="1F3864"/>
          </a:solidFill>
          <a:ln cap="flat" cmpd="sng" w="12700">
            <a:solidFill>
              <a:srgbClr val="1F38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3" name="Google Shape;803;p46"/>
          <p:cNvSpPr txBox="1"/>
          <p:nvPr/>
        </p:nvSpPr>
        <p:spPr>
          <a:xfrm>
            <a:off x="8357616" y="4759452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Tahoma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46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4" name="Google Shape;804;p46"/>
          <p:cNvSpPr/>
          <p:nvPr/>
        </p:nvSpPr>
        <p:spPr>
          <a:xfrm>
            <a:off x="457200" y="256032"/>
            <a:ext cx="1147572" cy="274320"/>
          </a:xfrm>
          <a:prstGeom prst="roundRect">
            <a:avLst>
              <a:gd fmla="val 50000" name="adj"/>
            </a:avLst>
          </a:prstGeom>
          <a:solidFill>
            <a:srgbClr val="DDF1EA"/>
          </a:solidFill>
          <a:ln cap="flat" cmpd="sng" w="12700">
            <a:solidFill>
              <a:srgbClr val="DDF1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5" name="Google Shape;805;p46"/>
          <p:cNvSpPr txBox="1"/>
          <p:nvPr/>
        </p:nvSpPr>
        <p:spPr>
          <a:xfrm>
            <a:off x="457200" y="256032"/>
            <a:ext cx="11475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6F5B"/>
              </a:buClr>
              <a:buSzPts val="1000"/>
              <a:buFont typeface="Tahoma"/>
              <a:buNone/>
            </a:pPr>
            <a:r>
              <a:rPr b="1" i="0" lang="en-US" sz="1000" u="none" cap="none" strike="noStrike">
                <a:solidFill>
                  <a:srgbClr val="1D6F5B"/>
                </a:solidFill>
                <a:latin typeface="Tahoma"/>
                <a:ea typeface="Tahoma"/>
                <a:cs typeface="Tahoma"/>
                <a:sym typeface="Tahoma"/>
              </a:rPr>
              <a:t>4 · Reverse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6" name="Google Shape;806;p46"/>
          <p:cNvSpPr txBox="1"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2400"/>
              <a:buFont typeface="Tahoma"/>
              <a:buNone/>
            </a:pPr>
            <a:r>
              <a:rPr b="1" i="0" lang="en-US" sz="2400" u="none" cap="none" strike="noStrike">
                <a:solidFill>
                  <a:srgbClr val="1F3864"/>
                </a:solidFill>
                <a:latin typeface="Tahoma"/>
                <a:ea typeface="Tahoma"/>
                <a:cs typeface="Tahoma"/>
                <a:sym typeface="Tahoma"/>
              </a:rPr>
              <a:t>Reverse: เครือข่ายทาย 'noise' ไม่ใช่ทาย 'ภาพ'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week4/slides/fig/f_d_predict.png" id="807" name="Google Shape;807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37234" y="1252728"/>
            <a:ext cx="6669531" cy="3246120"/>
          </a:xfrm>
          <a:prstGeom prst="rect">
            <a:avLst/>
          </a:prstGeom>
          <a:noFill/>
          <a:ln>
            <a:noFill/>
          </a:ln>
        </p:spPr>
      </p:pic>
      <p:sp>
        <p:nvSpPr>
          <p:cNvPr id="808" name="Google Shape;808;p46"/>
          <p:cNvSpPr/>
          <p:nvPr/>
        </p:nvSpPr>
        <p:spPr>
          <a:xfrm>
            <a:off x="1237234" y="1252728"/>
            <a:ext cx="6669531" cy="3246120"/>
          </a:xfrm>
          <a:prstGeom prst="rect">
            <a:avLst/>
          </a:prstGeom>
          <a:noFill/>
          <a:ln cap="flat" cmpd="sng" w="9525">
            <a:solidFill>
              <a:srgbClr val="D9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9" name="Google Shape;809;p46"/>
          <p:cNvSpPr txBox="1"/>
          <p:nvPr/>
        </p:nvSpPr>
        <p:spPr>
          <a:xfrm>
            <a:off x="457200" y="4576572"/>
            <a:ext cx="78638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4A2"/>
              </a:buClr>
              <a:buSzPts val="800"/>
              <a:buFont typeface="Tahoma"/>
              <a:buNone/>
            </a:pPr>
            <a:r>
              <a:rPr b="0" i="1" lang="en-US" sz="800" u="none" cap="none" strike="noStrike">
                <a:solidFill>
                  <a:srgbClr val="8A94A2"/>
                </a:solidFill>
                <a:latin typeface="Tahoma"/>
                <a:ea typeface="Tahoma"/>
                <a:cs typeface="Tahoma"/>
                <a:sym typeface="Tahoma"/>
              </a:rPr>
              <a:t>ภาพ: U-Net แบบแล็บ 3 ที่เทรนสั้น ๆ (4 epoch) บน sprite บน CPU — ค่าจริงจากโมเดล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14" name="Shape 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Google Shape;815;p47"/>
          <p:cNvSpPr txBox="1"/>
          <p:nvPr/>
        </p:nvSpPr>
        <p:spPr>
          <a:xfrm>
            <a:off x="457200" y="4814316"/>
            <a:ext cx="5486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3AE"/>
              </a:buClr>
              <a:buSzPts val="900"/>
              <a:buFont typeface="Tahoma"/>
              <a:buNone/>
            </a:pPr>
            <a:r>
              <a:rPr b="0" i="0" lang="en-US" sz="900" u="none" cap="none" strike="noStrike">
                <a:solidFill>
                  <a:srgbClr val="9AA3AE"/>
                </a:solidFill>
                <a:latin typeface="Tahoma"/>
                <a:ea typeface="Tahoma"/>
                <a:cs typeface="Tahoma"/>
                <a:sym typeface="Tahoma"/>
              </a:rPr>
              <a:t>LLM &amp; Agentic AI · สัปดาห์ 4 · ช่วงเช้า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6" name="Google Shape;816;p47"/>
          <p:cNvSpPr/>
          <p:nvPr/>
        </p:nvSpPr>
        <p:spPr>
          <a:xfrm>
            <a:off x="8357616" y="4759452"/>
            <a:ext cx="329184" cy="329184"/>
          </a:xfrm>
          <a:prstGeom prst="ellipse">
            <a:avLst/>
          </a:prstGeom>
          <a:solidFill>
            <a:srgbClr val="1F3864"/>
          </a:solidFill>
          <a:ln cap="flat" cmpd="sng" w="12700">
            <a:solidFill>
              <a:srgbClr val="1F38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7" name="Google Shape;817;p47"/>
          <p:cNvSpPr txBox="1"/>
          <p:nvPr/>
        </p:nvSpPr>
        <p:spPr>
          <a:xfrm>
            <a:off x="8357616" y="4759452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Tahoma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47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8" name="Google Shape;818;p47"/>
          <p:cNvSpPr/>
          <p:nvPr/>
        </p:nvSpPr>
        <p:spPr>
          <a:xfrm>
            <a:off x="457200" y="256032"/>
            <a:ext cx="914400" cy="274320"/>
          </a:xfrm>
          <a:prstGeom prst="roundRect">
            <a:avLst>
              <a:gd fmla="val 50000" name="adj"/>
            </a:avLst>
          </a:prstGeom>
          <a:solidFill>
            <a:srgbClr val="DDF1EA"/>
          </a:solidFill>
          <a:ln cap="flat" cmpd="sng" w="12700">
            <a:solidFill>
              <a:srgbClr val="DDF1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9" name="Google Shape;819;p47"/>
          <p:cNvSpPr txBox="1"/>
          <p:nvPr/>
        </p:nvSpPr>
        <p:spPr>
          <a:xfrm>
            <a:off x="457200" y="256032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6F5B"/>
              </a:buClr>
              <a:buSzPts val="1000"/>
              <a:buFont typeface="Tahoma"/>
              <a:buNone/>
            </a:pPr>
            <a:r>
              <a:rPr b="1" i="0" lang="en-US" sz="1000" u="none" cap="none" strike="noStrike">
                <a:solidFill>
                  <a:srgbClr val="1D6F5B"/>
                </a:solidFill>
                <a:latin typeface="Tahoma"/>
                <a:ea typeface="Tahoma"/>
                <a:cs typeface="Tahoma"/>
                <a:sym typeface="Tahoma"/>
              </a:rPr>
              <a:t>4 · เทรน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0" name="Google Shape;820;p47"/>
          <p:cNvSpPr txBox="1"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2400"/>
              <a:buFont typeface="Tahoma"/>
              <a:buNone/>
            </a:pPr>
            <a:r>
              <a:rPr b="1" i="0" lang="en-US" sz="2400" u="none" cap="none" strike="noStrike">
                <a:solidFill>
                  <a:srgbClr val="1F3864"/>
                </a:solidFill>
                <a:latin typeface="Tahoma"/>
                <a:ea typeface="Tahoma"/>
                <a:cs typeface="Tahoma"/>
                <a:sym typeface="Tahoma"/>
              </a:rPr>
              <a:t>loss = ทาย noise ผิดไปเท่าไร (เฉลยคือ noise ที่เราเติมเอง)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week4/slides/fig/f_d_loss.png" id="821" name="Google Shape;821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37234" y="1252728"/>
            <a:ext cx="6669531" cy="3246120"/>
          </a:xfrm>
          <a:prstGeom prst="rect">
            <a:avLst/>
          </a:prstGeom>
          <a:noFill/>
          <a:ln>
            <a:noFill/>
          </a:ln>
        </p:spPr>
      </p:pic>
      <p:sp>
        <p:nvSpPr>
          <p:cNvPr id="822" name="Google Shape;822;p47"/>
          <p:cNvSpPr/>
          <p:nvPr/>
        </p:nvSpPr>
        <p:spPr>
          <a:xfrm>
            <a:off x="1237234" y="1252728"/>
            <a:ext cx="6669531" cy="3246120"/>
          </a:xfrm>
          <a:prstGeom prst="rect">
            <a:avLst/>
          </a:prstGeom>
          <a:noFill/>
          <a:ln cap="flat" cmpd="sng" w="9525">
            <a:solidFill>
              <a:srgbClr val="D9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3" name="Google Shape;823;p47"/>
          <p:cNvSpPr txBox="1"/>
          <p:nvPr/>
        </p:nvSpPr>
        <p:spPr>
          <a:xfrm>
            <a:off x="457200" y="4576572"/>
            <a:ext cx="78638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4A2"/>
              </a:buClr>
              <a:buSzPts val="800"/>
              <a:buFont typeface="Tahoma"/>
              <a:buNone/>
            </a:pPr>
            <a:r>
              <a:rPr b="0" i="1" lang="en-US" sz="800" u="none" cap="none" strike="noStrike">
                <a:solidFill>
                  <a:srgbClr val="8A94A2"/>
                </a:solidFill>
                <a:latin typeface="Tahoma"/>
                <a:ea typeface="Tahoma"/>
                <a:cs typeface="Tahoma"/>
                <a:sym typeface="Tahoma"/>
              </a:rPr>
              <a:t>ภาพ: U-Net แบบแล็บ 3 ที่เทรนสั้น ๆ (4 epoch) บน sprite บน CPU — ค่าจริงจากโมเดล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28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Google Shape;829;p48"/>
          <p:cNvSpPr txBox="1"/>
          <p:nvPr/>
        </p:nvSpPr>
        <p:spPr>
          <a:xfrm>
            <a:off x="457200" y="4814316"/>
            <a:ext cx="5486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3AE"/>
              </a:buClr>
              <a:buSzPts val="900"/>
              <a:buFont typeface="Tahoma"/>
              <a:buNone/>
            </a:pPr>
            <a:r>
              <a:rPr b="0" i="0" lang="en-US" sz="900" u="none" cap="none" strike="noStrike">
                <a:solidFill>
                  <a:srgbClr val="9AA3AE"/>
                </a:solidFill>
                <a:latin typeface="Tahoma"/>
                <a:ea typeface="Tahoma"/>
                <a:cs typeface="Tahoma"/>
                <a:sym typeface="Tahoma"/>
              </a:rPr>
              <a:t>LLM &amp; Agentic AI · สัปดาห์ 4 · ช่วงเช้า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0" name="Google Shape;830;p48"/>
          <p:cNvSpPr/>
          <p:nvPr/>
        </p:nvSpPr>
        <p:spPr>
          <a:xfrm>
            <a:off x="8357616" y="4759452"/>
            <a:ext cx="329184" cy="329184"/>
          </a:xfrm>
          <a:prstGeom prst="ellipse">
            <a:avLst/>
          </a:prstGeom>
          <a:solidFill>
            <a:srgbClr val="1F3864"/>
          </a:solidFill>
          <a:ln cap="flat" cmpd="sng" w="12700">
            <a:solidFill>
              <a:srgbClr val="1F38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1" name="Google Shape;831;p48"/>
          <p:cNvSpPr txBox="1"/>
          <p:nvPr/>
        </p:nvSpPr>
        <p:spPr>
          <a:xfrm>
            <a:off x="8357616" y="4759452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Tahoma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48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2" name="Google Shape;832;p48"/>
          <p:cNvSpPr/>
          <p:nvPr/>
        </p:nvSpPr>
        <p:spPr>
          <a:xfrm>
            <a:off x="457200" y="256032"/>
            <a:ext cx="914400" cy="274320"/>
          </a:xfrm>
          <a:prstGeom prst="roundRect">
            <a:avLst>
              <a:gd fmla="val 50000" name="adj"/>
            </a:avLst>
          </a:prstGeom>
          <a:solidFill>
            <a:srgbClr val="DDF1EA"/>
          </a:solidFill>
          <a:ln cap="flat" cmpd="sng" w="12700">
            <a:solidFill>
              <a:srgbClr val="DDF1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3" name="Google Shape;833;p48"/>
          <p:cNvSpPr txBox="1"/>
          <p:nvPr/>
        </p:nvSpPr>
        <p:spPr>
          <a:xfrm>
            <a:off x="457200" y="256032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6F5B"/>
              </a:buClr>
              <a:buSzPts val="1000"/>
              <a:buFont typeface="Tahoma"/>
              <a:buNone/>
            </a:pPr>
            <a:r>
              <a:rPr b="1" i="0" lang="en-US" sz="1000" u="none" cap="none" strike="noStrike">
                <a:solidFill>
                  <a:srgbClr val="1D6F5B"/>
                </a:solidFill>
                <a:latin typeface="Tahoma"/>
                <a:ea typeface="Tahoma"/>
                <a:cs typeface="Tahoma"/>
                <a:sym typeface="Tahoma"/>
              </a:rPr>
              <a:t>4 · เทรน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4" name="Google Shape;834;p48"/>
          <p:cNvSpPr txBox="1"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2400"/>
              <a:buFont typeface="Tahoma"/>
              <a:buNone/>
            </a:pPr>
            <a:r>
              <a:rPr b="1" i="0" lang="en-US" sz="2400" u="none" cap="none" strike="noStrike">
                <a:solidFill>
                  <a:srgbClr val="1F3864"/>
                </a:solidFill>
                <a:latin typeface="Tahoma"/>
                <a:ea typeface="Tahoma"/>
                <a:cs typeface="Tahoma"/>
                <a:sym typeface="Tahoma"/>
              </a:rPr>
              <a:t>เทรน = เกมทาย noise: หนึ่ง batch หน้าตาแบบนี้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week4/slides/fig/f_d_batch.png" id="835" name="Google Shape;835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8473" y="1252728"/>
            <a:ext cx="6567055" cy="3246120"/>
          </a:xfrm>
          <a:prstGeom prst="rect">
            <a:avLst/>
          </a:prstGeom>
          <a:noFill/>
          <a:ln>
            <a:noFill/>
          </a:ln>
        </p:spPr>
      </p:pic>
      <p:sp>
        <p:nvSpPr>
          <p:cNvPr id="836" name="Google Shape;836;p48"/>
          <p:cNvSpPr/>
          <p:nvPr/>
        </p:nvSpPr>
        <p:spPr>
          <a:xfrm>
            <a:off x="1288473" y="1252728"/>
            <a:ext cx="6567055" cy="3246120"/>
          </a:xfrm>
          <a:prstGeom prst="rect">
            <a:avLst/>
          </a:prstGeom>
          <a:noFill/>
          <a:ln cap="flat" cmpd="sng" w="9525">
            <a:solidFill>
              <a:srgbClr val="D9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7" name="Google Shape;837;p48"/>
          <p:cNvSpPr txBox="1"/>
          <p:nvPr/>
        </p:nvSpPr>
        <p:spPr>
          <a:xfrm>
            <a:off x="457200" y="4576572"/>
            <a:ext cx="78638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4A2"/>
              </a:buClr>
              <a:buSzPts val="800"/>
              <a:buFont typeface="Tahoma"/>
              <a:buNone/>
            </a:pPr>
            <a:r>
              <a:rPr b="0" i="1" lang="en-US" sz="800" u="none" cap="none" strike="noStrike">
                <a:solidFill>
                  <a:srgbClr val="8A94A2"/>
                </a:solidFill>
                <a:latin typeface="Tahoma"/>
                <a:ea typeface="Tahoma"/>
                <a:cs typeface="Tahoma"/>
                <a:sym typeface="Tahoma"/>
              </a:rPr>
              <a:t>ภาพ: ผลรันจริงของแล็บ 3–4 (diffusion บน sprite 10,000 ภาพ, CPU)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42" name="Shape 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" name="Google Shape;843;p49"/>
          <p:cNvSpPr txBox="1"/>
          <p:nvPr/>
        </p:nvSpPr>
        <p:spPr>
          <a:xfrm>
            <a:off x="457200" y="4814316"/>
            <a:ext cx="5486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3AE"/>
              </a:buClr>
              <a:buSzPts val="900"/>
              <a:buFont typeface="Tahoma"/>
              <a:buNone/>
            </a:pPr>
            <a:r>
              <a:rPr b="0" i="0" lang="en-US" sz="900" u="none" cap="none" strike="noStrike">
                <a:solidFill>
                  <a:srgbClr val="9AA3AE"/>
                </a:solidFill>
                <a:latin typeface="Tahoma"/>
                <a:ea typeface="Tahoma"/>
                <a:cs typeface="Tahoma"/>
                <a:sym typeface="Tahoma"/>
              </a:rPr>
              <a:t>LLM &amp; Agentic AI · สัปดาห์ 4 · ช่วงเช้า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4" name="Google Shape;844;p49"/>
          <p:cNvSpPr/>
          <p:nvPr/>
        </p:nvSpPr>
        <p:spPr>
          <a:xfrm>
            <a:off x="8357616" y="4759452"/>
            <a:ext cx="329184" cy="329184"/>
          </a:xfrm>
          <a:prstGeom prst="ellipse">
            <a:avLst/>
          </a:prstGeom>
          <a:solidFill>
            <a:srgbClr val="1F3864"/>
          </a:solidFill>
          <a:ln cap="flat" cmpd="sng" w="12700">
            <a:solidFill>
              <a:srgbClr val="1F38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5" name="Google Shape;845;p49"/>
          <p:cNvSpPr txBox="1"/>
          <p:nvPr/>
        </p:nvSpPr>
        <p:spPr>
          <a:xfrm>
            <a:off x="8357616" y="4759452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Tahoma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49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6" name="Google Shape;846;p49"/>
          <p:cNvSpPr/>
          <p:nvPr/>
        </p:nvSpPr>
        <p:spPr>
          <a:xfrm>
            <a:off x="457200" y="256032"/>
            <a:ext cx="914400" cy="274320"/>
          </a:xfrm>
          <a:prstGeom prst="roundRect">
            <a:avLst>
              <a:gd fmla="val 50000" name="adj"/>
            </a:avLst>
          </a:prstGeom>
          <a:solidFill>
            <a:srgbClr val="DDF1EA"/>
          </a:solidFill>
          <a:ln cap="flat" cmpd="sng" w="12700">
            <a:solidFill>
              <a:srgbClr val="DDF1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7" name="Google Shape;847;p49"/>
          <p:cNvSpPr txBox="1"/>
          <p:nvPr/>
        </p:nvSpPr>
        <p:spPr>
          <a:xfrm>
            <a:off x="457200" y="256032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6F5B"/>
              </a:buClr>
              <a:buSzPts val="1000"/>
              <a:buFont typeface="Tahoma"/>
              <a:buNone/>
            </a:pPr>
            <a:r>
              <a:rPr b="1" i="0" lang="en-US" sz="1000" u="none" cap="none" strike="noStrike">
                <a:solidFill>
                  <a:srgbClr val="1D6F5B"/>
                </a:solidFill>
                <a:latin typeface="Tahoma"/>
                <a:ea typeface="Tahoma"/>
                <a:cs typeface="Tahoma"/>
                <a:sym typeface="Tahoma"/>
              </a:rPr>
              <a:t>4 · เทรน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8" name="Google Shape;848;p49"/>
          <p:cNvSpPr txBox="1"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2400"/>
              <a:buFont typeface="Tahoma"/>
              <a:buNone/>
            </a:pPr>
            <a:r>
              <a:rPr b="1" i="0" lang="en-US" sz="2400" u="none" cap="none" strike="noStrike">
                <a:solidFill>
                  <a:srgbClr val="1F3864"/>
                </a:solidFill>
                <a:latin typeface="Tahoma"/>
                <a:ea typeface="Tahoma"/>
                <a:cs typeface="Tahoma"/>
                <a:sym typeface="Tahoma"/>
              </a:rPr>
              <a:t>โค้ดที่จะเทรนตอนบ่าย (แล็บ 3)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9" name="Google Shape;849;p49"/>
          <p:cNvSpPr/>
          <p:nvPr/>
        </p:nvSpPr>
        <p:spPr>
          <a:xfrm>
            <a:off x="457200" y="1298448"/>
            <a:ext cx="4965192" cy="3200400"/>
          </a:xfrm>
          <a:prstGeom prst="roundRect">
            <a:avLst>
              <a:gd fmla="val 2286" name="adj"/>
            </a:avLst>
          </a:prstGeom>
          <a:solidFill>
            <a:srgbClr val="1E2733"/>
          </a:solidFill>
          <a:ln cap="flat" cmpd="sng" w="12700">
            <a:solidFill>
              <a:srgbClr val="1E27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0" name="Google Shape;850;p49"/>
          <p:cNvSpPr txBox="1"/>
          <p:nvPr/>
        </p:nvSpPr>
        <p:spPr>
          <a:xfrm>
            <a:off x="621792" y="1426464"/>
            <a:ext cx="4636008" cy="2944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CF2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E8ECF2"/>
                </a:solidFill>
                <a:latin typeface="Courier New"/>
                <a:ea typeface="Courier New"/>
                <a:cs typeface="Courier New"/>
                <a:sym typeface="Courier New"/>
              </a:rPr>
              <a:t>t = torch.randint(0, T, (xb.size(0),), device=device)   # ก้าวสุ่มต่อภาพ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CF2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E8ECF2"/>
                </a:solidFill>
                <a:latin typeface="Courier New"/>
                <a:ea typeface="Courier New"/>
                <a:cs typeface="Courier New"/>
                <a:sym typeface="Courier New"/>
              </a:rPr>
              <a:t>noise = torch.randn_like(xb)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CF2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E8ECF2"/>
                </a:solidFill>
                <a:latin typeface="Courier New"/>
                <a:ea typeface="Courier New"/>
                <a:cs typeface="Courier New"/>
                <a:sym typeface="Courier New"/>
              </a:rPr>
              <a:t>x_noisy = noise_sched.add_noise(xb, noise, t)            # forward 1 บรรทัด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CF2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E8ECF2"/>
                </a:solidFill>
                <a:latin typeface="Courier New"/>
                <a:ea typeface="Courier New"/>
                <a:cs typeface="Courier New"/>
                <a:sym typeface="Courier New"/>
              </a:rPr>
              <a:t>if cond:   # แล็บ 4: สุ่มซ่อนป้าย (ใส่ 5 = "ไม่บอก")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CF2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E8ECF2"/>
                </a:solidFill>
                <a:latin typeface="Courier New"/>
                <a:ea typeface="Courier New"/>
                <a:cs typeface="Courier New"/>
                <a:sym typeface="Courier New"/>
              </a:rPr>
              <a:t>    drop = torch.rand(len(yb), device=device) &lt; p_uncond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CF2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E8ECF2"/>
                </a:solidFill>
                <a:latin typeface="Courier New"/>
                <a:ea typeface="Courier New"/>
                <a:cs typeface="Courier New"/>
                <a:sym typeface="Courier New"/>
              </a:rPr>
              <a:t>    yb = torch.where(drop, torch.full_like(yb, 5), yb)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CF2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E8ECF2"/>
                </a:solidFill>
                <a:latin typeface="Courier New"/>
                <a:ea typeface="Courier New"/>
                <a:cs typeface="Courier New"/>
                <a:sym typeface="Courier New"/>
              </a:rPr>
              <a:t>    pred = model(x_noisy, t, class_labels=yb).sample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CF2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E8ECF2"/>
                </a:solidFill>
                <a:latin typeface="Courier New"/>
                <a:ea typeface="Courier New"/>
                <a:cs typeface="Courier New"/>
                <a:sym typeface="Courier New"/>
              </a:rPr>
              <a:t>else: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CF2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E8ECF2"/>
                </a:solidFill>
                <a:latin typeface="Courier New"/>
                <a:ea typeface="Courier New"/>
                <a:cs typeface="Courier New"/>
                <a:sym typeface="Courier New"/>
              </a:rPr>
              <a:t>    pred = model(x_noisy, t).sample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CF2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E8ECF2"/>
                </a:solidFill>
                <a:latin typeface="Courier New"/>
                <a:ea typeface="Courier New"/>
                <a:cs typeface="Courier New"/>
                <a:sym typeface="Courier New"/>
              </a:rPr>
              <a:t>loss = F.mse_loss(pred, noise)                           # ทาย noise ให้แม่น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CF2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E8ECF2"/>
                </a:solidFill>
                <a:latin typeface="Courier New"/>
                <a:ea typeface="Courier New"/>
                <a:cs typeface="Courier New"/>
                <a:sym typeface="Courier New"/>
              </a:rPr>
              <a:t>opt.zero_grad(); loss.backward(); opt.step(); sched.step()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CF2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E8ECF2"/>
                </a:solidFill>
                <a:latin typeface="Courier New"/>
                <a:ea typeface="Courier New"/>
                <a:cs typeface="Courier New"/>
                <a:sym typeface="Courier New"/>
              </a:rPr>
              <a:t>losses.append(loss.item())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1" name="Google Shape;851;p49"/>
          <p:cNvSpPr txBox="1"/>
          <p:nvPr/>
        </p:nvSpPr>
        <p:spPr>
          <a:xfrm>
            <a:off x="5650992" y="1298448"/>
            <a:ext cx="3035808" cy="21488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-203200" lvl="0" marL="203200" marR="0" rtl="0" algn="l">
              <a:spcBef>
                <a:spcPts val="0"/>
              </a:spcBef>
              <a:spcAft>
                <a:spcPts val="0"/>
              </a:spcAft>
              <a:buClr>
                <a:srgbClr val="1E2733"/>
              </a:buClr>
              <a:buSzPts val="1050"/>
              <a:buFont typeface="Tahoma"/>
              <a:buChar char="•"/>
            </a:pPr>
            <a:r>
              <a:rPr b="1" i="0" lang="en-US" sz="1050" u="none" cap="none" strike="noStrike">
                <a:solidFill>
                  <a:srgbClr val="1E2733"/>
                </a:solidFill>
                <a:latin typeface="Tahoma"/>
                <a:ea typeface="Tahoma"/>
                <a:cs typeface="Tahoma"/>
                <a:sym typeface="Tahoma"/>
              </a:rPr>
              <a:t>t = สุ่มก้าว 0–999 คนละค่าต่อภาพ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0" marL="203200" marR="0" rtl="0" algn="l">
              <a:spcBef>
                <a:spcPts val="800"/>
              </a:spcBef>
              <a:spcAft>
                <a:spcPts val="0"/>
              </a:spcAft>
              <a:buClr>
                <a:srgbClr val="1E2733"/>
              </a:buClr>
              <a:buSzPts val="1050"/>
              <a:buFont typeface="Tahoma"/>
              <a:buChar char="•"/>
            </a:pPr>
            <a:r>
              <a:rPr b="1" i="0" lang="en-US" sz="1050" u="none" cap="none" strike="noStrike">
                <a:solidFill>
                  <a:srgbClr val="1E2733"/>
                </a:solidFill>
                <a:latin typeface="Tahoma"/>
                <a:ea typeface="Tahoma"/>
                <a:cs typeface="Tahoma"/>
                <a:sym typeface="Tahoma"/>
              </a:rPr>
              <a:t>noise_sched.add_noise = สูตร forward บรรทัดเดียว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0" marL="203200" marR="0" rtl="0" algn="l">
              <a:spcBef>
                <a:spcPts val="800"/>
              </a:spcBef>
              <a:spcAft>
                <a:spcPts val="0"/>
              </a:spcAft>
              <a:buClr>
                <a:srgbClr val="1E2733"/>
              </a:buClr>
              <a:buSzPts val="1050"/>
              <a:buFont typeface="Tahoma"/>
              <a:buChar char="•"/>
            </a:pPr>
            <a:r>
              <a:rPr b="0" i="0" lang="en-US" sz="1050" u="none" cap="none" strike="noStrike">
                <a:solidFill>
                  <a:srgbClr val="1E2733"/>
                </a:solidFill>
                <a:latin typeface="Tahoma"/>
                <a:ea typeface="Tahoma"/>
                <a:cs typeface="Tahoma"/>
                <a:sym typeface="Tahoma"/>
              </a:rPr>
              <a:t>model(x_noisy, t).sample = U-Net ทาย noise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0" marL="203200" marR="0" rtl="0" algn="l">
              <a:spcBef>
                <a:spcPts val="800"/>
              </a:spcBef>
              <a:spcAft>
                <a:spcPts val="0"/>
              </a:spcAft>
              <a:buClr>
                <a:srgbClr val="1E2733"/>
              </a:buClr>
              <a:buSzPts val="1050"/>
              <a:buFont typeface="Tahoma"/>
              <a:buChar char="•"/>
            </a:pPr>
            <a:r>
              <a:rPr b="1" i="0" lang="en-US" sz="1050" u="none" cap="none" strike="noStrike">
                <a:solidFill>
                  <a:srgbClr val="1E2733"/>
                </a:solidFill>
                <a:latin typeface="Tahoma"/>
                <a:ea typeface="Tahoma"/>
                <a:cs typeface="Tahoma"/>
                <a:sym typeface="Tahoma"/>
              </a:rPr>
              <a:t>F.mse_loss(pred, noise) = loss ตัวเดียว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1" marL="355600" marR="0" rtl="0" algn="l">
              <a:spcBef>
                <a:spcPts val="800"/>
              </a:spcBef>
              <a:spcAft>
                <a:spcPts val="0"/>
              </a:spcAft>
              <a:buClr>
                <a:srgbClr val="5F6B7A"/>
              </a:buClr>
              <a:buSzPts val="850"/>
              <a:buFont typeface="Tahoma"/>
              <a:buChar char="–"/>
            </a:pPr>
            <a:r>
              <a:rPr b="0" i="0" lang="en-US" sz="850" u="none" cap="none" strike="noStrike">
                <a:solidFill>
                  <a:srgbClr val="5F6B7A"/>
                </a:solidFill>
                <a:latin typeface="Tahoma"/>
                <a:ea typeface="Tahoma"/>
                <a:cs typeface="Tahoma"/>
                <a:sym typeface="Tahoma"/>
              </a:rPr>
              <a:t>cond=True คือแล็บ 4 (ป้อนป้ายกลุ่ม) — ข้ามไปก่อน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1" marL="355600" marR="0" rtl="0" algn="l">
              <a:spcBef>
                <a:spcPts val="500"/>
              </a:spcBef>
              <a:spcAft>
                <a:spcPts val="0"/>
              </a:spcAft>
              <a:buClr>
                <a:srgbClr val="5F6B7A"/>
              </a:buClr>
              <a:buSzPts val="850"/>
              <a:buFont typeface="Tahoma"/>
              <a:buChar char="–"/>
            </a:pPr>
            <a:r>
              <a:rPr b="0" i="0" lang="en-US" sz="850" u="none" cap="none" strike="noStrike">
                <a:solidFill>
                  <a:srgbClr val="5F6B7A"/>
                </a:solidFill>
                <a:latin typeface="Tahoma"/>
                <a:ea typeface="Tahoma"/>
                <a:cs typeface="Tahoma"/>
                <a:sym typeface="Tahoma"/>
              </a:rPr>
              <a:t>เทียบสัปดาห์ 1: นี่คือ training loop ของ regression ปกติ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week4/slides/fig/f_d_loss.png" id="852" name="Google Shape;852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82557" y="3538728"/>
            <a:ext cx="1972678" cy="960120"/>
          </a:xfrm>
          <a:prstGeom prst="rect">
            <a:avLst/>
          </a:prstGeom>
          <a:noFill/>
          <a:ln>
            <a:noFill/>
          </a:ln>
        </p:spPr>
      </p:pic>
      <p:sp>
        <p:nvSpPr>
          <p:cNvPr id="853" name="Google Shape;853;p49"/>
          <p:cNvSpPr/>
          <p:nvPr/>
        </p:nvSpPr>
        <p:spPr>
          <a:xfrm>
            <a:off x="6182557" y="3538728"/>
            <a:ext cx="1972678" cy="960120"/>
          </a:xfrm>
          <a:prstGeom prst="rect">
            <a:avLst/>
          </a:prstGeom>
          <a:noFill/>
          <a:ln cap="flat" cmpd="sng" w="9525">
            <a:solidFill>
              <a:srgbClr val="D9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4" name="Google Shape;854;p49"/>
          <p:cNvSpPr txBox="1"/>
          <p:nvPr/>
        </p:nvSpPr>
        <p:spPr>
          <a:xfrm>
            <a:off x="457200" y="4576572"/>
            <a:ext cx="78638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4A2"/>
              </a:buClr>
              <a:buSzPts val="800"/>
              <a:buFont typeface="Tahoma"/>
              <a:buNone/>
            </a:pPr>
            <a:r>
              <a:rPr b="0" i="1" lang="en-US" sz="800" u="none" cap="none" strike="noStrike">
                <a:solidFill>
                  <a:srgbClr val="8A94A2"/>
                </a:solidFill>
                <a:latin typeface="Tahoma"/>
                <a:ea typeface="Tahoma"/>
                <a:cs typeface="Tahoma"/>
                <a:sym typeface="Tahoma"/>
              </a:rPr>
              <a:t>ภาพ: diffusion ที่เทรนจริงบน sprite (หน้าก่อน)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59" name="Shape 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Google Shape;860;p50"/>
          <p:cNvSpPr txBox="1"/>
          <p:nvPr/>
        </p:nvSpPr>
        <p:spPr>
          <a:xfrm>
            <a:off x="457200" y="4814316"/>
            <a:ext cx="5486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3AE"/>
              </a:buClr>
              <a:buSzPts val="900"/>
              <a:buFont typeface="Tahoma"/>
              <a:buNone/>
            </a:pPr>
            <a:r>
              <a:rPr b="0" i="0" lang="en-US" sz="900" u="none" cap="none" strike="noStrike">
                <a:solidFill>
                  <a:srgbClr val="9AA3AE"/>
                </a:solidFill>
                <a:latin typeface="Tahoma"/>
                <a:ea typeface="Tahoma"/>
                <a:cs typeface="Tahoma"/>
                <a:sym typeface="Tahoma"/>
              </a:rPr>
              <a:t>LLM &amp; Agentic AI · สัปดาห์ 4 · ช่วงเช้า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1" name="Google Shape;861;p50"/>
          <p:cNvSpPr/>
          <p:nvPr/>
        </p:nvSpPr>
        <p:spPr>
          <a:xfrm>
            <a:off x="8357616" y="4759452"/>
            <a:ext cx="329184" cy="329184"/>
          </a:xfrm>
          <a:prstGeom prst="ellipse">
            <a:avLst/>
          </a:prstGeom>
          <a:solidFill>
            <a:srgbClr val="1F3864"/>
          </a:solidFill>
          <a:ln cap="flat" cmpd="sng" w="12700">
            <a:solidFill>
              <a:srgbClr val="1F38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2" name="Google Shape;862;p50"/>
          <p:cNvSpPr txBox="1"/>
          <p:nvPr/>
        </p:nvSpPr>
        <p:spPr>
          <a:xfrm>
            <a:off x="8357616" y="4759452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Tahoma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50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3" name="Google Shape;863;p50"/>
          <p:cNvSpPr/>
          <p:nvPr/>
        </p:nvSpPr>
        <p:spPr>
          <a:xfrm>
            <a:off x="457200" y="256032"/>
            <a:ext cx="914400" cy="274320"/>
          </a:xfrm>
          <a:prstGeom prst="roundRect">
            <a:avLst>
              <a:gd fmla="val 50000" name="adj"/>
            </a:avLst>
          </a:prstGeom>
          <a:solidFill>
            <a:srgbClr val="DDF1EA"/>
          </a:solidFill>
          <a:ln cap="flat" cmpd="sng" w="12700">
            <a:solidFill>
              <a:srgbClr val="DDF1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4" name="Google Shape;864;p50"/>
          <p:cNvSpPr txBox="1"/>
          <p:nvPr/>
        </p:nvSpPr>
        <p:spPr>
          <a:xfrm>
            <a:off x="457200" y="256032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6F5B"/>
              </a:buClr>
              <a:buSzPts val="1000"/>
              <a:buFont typeface="Tahoma"/>
              <a:buNone/>
            </a:pPr>
            <a:r>
              <a:rPr b="1" i="0" lang="en-US" sz="1000" u="none" cap="none" strike="noStrike">
                <a:solidFill>
                  <a:srgbClr val="1D6F5B"/>
                </a:solidFill>
                <a:latin typeface="Tahoma"/>
                <a:ea typeface="Tahoma"/>
                <a:cs typeface="Tahoma"/>
                <a:sym typeface="Tahoma"/>
              </a:rPr>
              <a:t>4 · เทรน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5" name="Google Shape;865;p50"/>
          <p:cNvSpPr txBox="1"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2400"/>
              <a:buFont typeface="Tahoma"/>
              <a:buNone/>
            </a:pPr>
            <a:r>
              <a:rPr b="1" i="0" lang="en-US" sz="2400" u="none" cap="none" strike="noStrike">
                <a:solidFill>
                  <a:srgbClr val="1F3864"/>
                </a:solidFill>
                <a:latin typeface="Tahoma"/>
                <a:ea typeface="Tahoma"/>
                <a:cs typeface="Tahoma"/>
                <a:sym typeface="Tahoma"/>
              </a:rPr>
              <a:t>เทรนนิ่งกว่า GAN: loss ลดเรียบและอ่านความหมายได้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week4/slides/fig/f_d_curve.png" id="866" name="Google Shape;866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328832"/>
            <a:ext cx="8229600" cy="3093913"/>
          </a:xfrm>
          <a:prstGeom prst="rect">
            <a:avLst/>
          </a:prstGeom>
          <a:noFill/>
          <a:ln>
            <a:noFill/>
          </a:ln>
        </p:spPr>
      </p:pic>
      <p:sp>
        <p:nvSpPr>
          <p:cNvPr id="867" name="Google Shape;867;p50"/>
          <p:cNvSpPr/>
          <p:nvPr/>
        </p:nvSpPr>
        <p:spPr>
          <a:xfrm>
            <a:off x="457200" y="1328832"/>
            <a:ext cx="8229600" cy="3093913"/>
          </a:xfrm>
          <a:prstGeom prst="rect">
            <a:avLst/>
          </a:prstGeom>
          <a:noFill/>
          <a:ln cap="flat" cmpd="sng" w="9525">
            <a:solidFill>
              <a:srgbClr val="D9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8" name="Google Shape;868;p50"/>
          <p:cNvSpPr txBox="1"/>
          <p:nvPr/>
        </p:nvSpPr>
        <p:spPr>
          <a:xfrm>
            <a:off x="457200" y="4576572"/>
            <a:ext cx="78638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4A2"/>
              </a:buClr>
              <a:buSzPts val="800"/>
              <a:buFont typeface="Tahoma"/>
              <a:buNone/>
            </a:pPr>
            <a:r>
              <a:rPr b="0" i="1" lang="en-US" sz="800" u="none" cap="none" strike="noStrike">
                <a:solidFill>
                  <a:srgbClr val="8A94A2"/>
                </a:solidFill>
                <a:latin typeface="Tahoma"/>
                <a:ea typeface="Tahoma"/>
                <a:cs typeface="Tahoma"/>
                <a:sym typeface="Tahoma"/>
              </a:rPr>
              <a:t>ภาพ: ผลรันจริงของแล็บ 3–4 (diffusion บน sprite 10,000 ภาพ, CPU) · GAN จากสไลด์ 32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73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p51"/>
          <p:cNvSpPr txBox="1"/>
          <p:nvPr/>
        </p:nvSpPr>
        <p:spPr>
          <a:xfrm>
            <a:off x="457200" y="4814316"/>
            <a:ext cx="5486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3AE"/>
              </a:buClr>
              <a:buSzPts val="900"/>
              <a:buFont typeface="Tahoma"/>
              <a:buNone/>
            </a:pPr>
            <a:r>
              <a:rPr b="0" i="0" lang="en-US" sz="900" u="none" cap="none" strike="noStrike">
                <a:solidFill>
                  <a:srgbClr val="9AA3AE"/>
                </a:solidFill>
                <a:latin typeface="Tahoma"/>
                <a:ea typeface="Tahoma"/>
                <a:cs typeface="Tahoma"/>
                <a:sym typeface="Tahoma"/>
              </a:rPr>
              <a:t>LLM &amp; Agentic AI · สัปดาห์ 4 · ช่วงเช้า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5" name="Google Shape;875;p51"/>
          <p:cNvSpPr/>
          <p:nvPr/>
        </p:nvSpPr>
        <p:spPr>
          <a:xfrm>
            <a:off x="8357616" y="4759452"/>
            <a:ext cx="329184" cy="329184"/>
          </a:xfrm>
          <a:prstGeom prst="ellipse">
            <a:avLst/>
          </a:prstGeom>
          <a:solidFill>
            <a:srgbClr val="1F3864"/>
          </a:solidFill>
          <a:ln cap="flat" cmpd="sng" w="12700">
            <a:solidFill>
              <a:srgbClr val="1F38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6" name="Google Shape;876;p51"/>
          <p:cNvSpPr txBox="1"/>
          <p:nvPr/>
        </p:nvSpPr>
        <p:spPr>
          <a:xfrm>
            <a:off x="8357616" y="4759452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Tahoma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51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7" name="Google Shape;877;p51"/>
          <p:cNvSpPr/>
          <p:nvPr/>
        </p:nvSpPr>
        <p:spPr>
          <a:xfrm>
            <a:off x="457200" y="256032"/>
            <a:ext cx="992124" cy="274320"/>
          </a:xfrm>
          <a:prstGeom prst="roundRect">
            <a:avLst>
              <a:gd fmla="val 50000" name="adj"/>
            </a:avLst>
          </a:prstGeom>
          <a:solidFill>
            <a:srgbClr val="DDF1EA"/>
          </a:solidFill>
          <a:ln cap="flat" cmpd="sng" w="12700">
            <a:solidFill>
              <a:srgbClr val="DDF1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8" name="Google Shape;878;p51"/>
          <p:cNvSpPr txBox="1"/>
          <p:nvPr/>
        </p:nvSpPr>
        <p:spPr>
          <a:xfrm>
            <a:off x="457200" y="256032"/>
            <a:ext cx="99212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6F5B"/>
              </a:buClr>
              <a:buSzPts val="1000"/>
              <a:buFont typeface="Tahoma"/>
              <a:buNone/>
            </a:pPr>
            <a:r>
              <a:rPr b="1" i="0" lang="en-US" sz="1000" u="none" cap="none" strike="noStrike">
                <a:solidFill>
                  <a:srgbClr val="1D6F5B"/>
                </a:solidFill>
                <a:latin typeface="Tahoma"/>
                <a:ea typeface="Tahoma"/>
                <a:cs typeface="Tahoma"/>
                <a:sym typeface="Tahoma"/>
              </a:rPr>
              <a:t>4 · U-Net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9" name="Google Shape;879;p51"/>
          <p:cNvSpPr txBox="1"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2400"/>
              <a:buFont typeface="Tahoma"/>
              <a:buNone/>
            </a:pPr>
            <a:r>
              <a:rPr b="1" i="0" lang="en-US" sz="2400" u="none" cap="none" strike="noStrike">
                <a:solidFill>
                  <a:srgbClr val="1F3864"/>
                </a:solidFill>
                <a:latin typeface="Tahoma"/>
                <a:ea typeface="Tahoma"/>
                <a:cs typeface="Tahoma"/>
                <a:sym typeface="Tahoma"/>
              </a:rPr>
              <a:t>U-Net: ตัวทาย noise (ข้างในของจริง)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week4/slides/fig/f_d_unet.png" id="880" name="Google Shape;880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41565" y="1252728"/>
            <a:ext cx="6660870" cy="3246120"/>
          </a:xfrm>
          <a:prstGeom prst="rect">
            <a:avLst/>
          </a:prstGeom>
          <a:noFill/>
          <a:ln>
            <a:noFill/>
          </a:ln>
        </p:spPr>
      </p:pic>
      <p:sp>
        <p:nvSpPr>
          <p:cNvPr id="881" name="Google Shape;881;p51"/>
          <p:cNvSpPr/>
          <p:nvPr/>
        </p:nvSpPr>
        <p:spPr>
          <a:xfrm>
            <a:off x="1241565" y="1252728"/>
            <a:ext cx="6660870" cy="3246120"/>
          </a:xfrm>
          <a:prstGeom prst="rect">
            <a:avLst/>
          </a:prstGeom>
          <a:noFill/>
          <a:ln cap="flat" cmpd="sng" w="9525">
            <a:solidFill>
              <a:srgbClr val="D9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2" name="Google Shape;882;p51"/>
          <p:cNvSpPr txBox="1"/>
          <p:nvPr/>
        </p:nvSpPr>
        <p:spPr>
          <a:xfrm>
            <a:off x="457200" y="4576572"/>
            <a:ext cx="78638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4A2"/>
              </a:buClr>
              <a:buSzPts val="800"/>
              <a:buFont typeface="Tahoma"/>
              <a:buNone/>
            </a:pPr>
            <a:r>
              <a:rPr b="0" i="1" lang="en-US" sz="800" u="none" cap="none" strike="noStrike">
                <a:solidFill>
                  <a:srgbClr val="8A94A2"/>
                </a:solidFill>
                <a:latin typeface="Tahoma"/>
                <a:ea typeface="Tahoma"/>
                <a:cs typeface="Tahoma"/>
                <a:sym typeface="Tahoma"/>
              </a:rPr>
              <a:t>ภาพ: U-Net แบบแล็บ 3 ที่เทรนสั้น ๆ (4 epoch) บน sprite บน CPU — ค่าจริงจากโมเดล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87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p52"/>
          <p:cNvSpPr txBox="1"/>
          <p:nvPr/>
        </p:nvSpPr>
        <p:spPr>
          <a:xfrm>
            <a:off x="457200" y="4814316"/>
            <a:ext cx="5486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3AE"/>
              </a:buClr>
              <a:buSzPts val="900"/>
              <a:buFont typeface="Tahoma"/>
              <a:buNone/>
            </a:pPr>
            <a:r>
              <a:rPr b="0" i="0" lang="en-US" sz="900" u="none" cap="none" strike="noStrike">
                <a:solidFill>
                  <a:srgbClr val="9AA3AE"/>
                </a:solidFill>
                <a:latin typeface="Tahoma"/>
                <a:ea typeface="Tahoma"/>
                <a:cs typeface="Tahoma"/>
                <a:sym typeface="Tahoma"/>
              </a:rPr>
              <a:t>LLM &amp; Agentic AI · สัปดาห์ 4 · ช่วงเช้า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9" name="Google Shape;889;p52"/>
          <p:cNvSpPr/>
          <p:nvPr/>
        </p:nvSpPr>
        <p:spPr>
          <a:xfrm>
            <a:off x="8357616" y="4759452"/>
            <a:ext cx="329184" cy="329184"/>
          </a:xfrm>
          <a:prstGeom prst="ellipse">
            <a:avLst/>
          </a:prstGeom>
          <a:solidFill>
            <a:srgbClr val="1F3864"/>
          </a:solidFill>
          <a:ln cap="flat" cmpd="sng" w="12700">
            <a:solidFill>
              <a:srgbClr val="1F38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0" name="Google Shape;890;p52"/>
          <p:cNvSpPr txBox="1"/>
          <p:nvPr/>
        </p:nvSpPr>
        <p:spPr>
          <a:xfrm>
            <a:off x="8357616" y="4759452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Tahoma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52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1" name="Google Shape;891;p52"/>
          <p:cNvSpPr/>
          <p:nvPr/>
        </p:nvSpPr>
        <p:spPr>
          <a:xfrm>
            <a:off x="457200" y="256032"/>
            <a:ext cx="1225296" cy="274320"/>
          </a:xfrm>
          <a:prstGeom prst="roundRect">
            <a:avLst>
              <a:gd fmla="val 50000" name="adj"/>
            </a:avLst>
          </a:prstGeom>
          <a:solidFill>
            <a:srgbClr val="DDF1EA"/>
          </a:solidFill>
          <a:ln cap="flat" cmpd="sng" w="12700">
            <a:solidFill>
              <a:srgbClr val="DDF1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2" name="Google Shape;892;p52"/>
          <p:cNvSpPr txBox="1"/>
          <p:nvPr/>
        </p:nvSpPr>
        <p:spPr>
          <a:xfrm>
            <a:off x="457200" y="256032"/>
            <a:ext cx="122529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6F5B"/>
              </a:buClr>
              <a:buSzPts val="1000"/>
              <a:buFont typeface="Tahoma"/>
              <a:buNone/>
            </a:pPr>
            <a:r>
              <a:rPr b="1" i="0" lang="en-US" sz="1000" u="none" cap="none" strike="noStrike">
                <a:solidFill>
                  <a:srgbClr val="1D6F5B"/>
                </a:solidFill>
                <a:latin typeface="Tahoma"/>
                <a:ea typeface="Tahoma"/>
                <a:cs typeface="Tahoma"/>
                <a:sym typeface="Tahoma"/>
              </a:rPr>
              <a:t>4 · Sampling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3" name="Google Shape;893;p52"/>
          <p:cNvSpPr txBox="1"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2400"/>
              <a:buFont typeface="Tahoma"/>
              <a:buNone/>
            </a:pPr>
            <a:r>
              <a:rPr b="1" i="0" lang="en-US" sz="2400" u="none" cap="none" strike="noStrike">
                <a:solidFill>
                  <a:srgbClr val="1F3864"/>
                </a:solidFill>
                <a:latin typeface="Tahoma"/>
                <a:ea typeface="Tahoma"/>
                <a:cs typeface="Tahoma"/>
                <a:sym typeface="Tahoma"/>
              </a:rPr>
              <a:t>Sampling: กรอกลับจาก noise ล้วน 1,000 ก้าว (DDPM)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week4/slides/fig/f_d_traj.png" id="894" name="Google Shape;894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810628"/>
            <a:ext cx="8229600" cy="2130321"/>
          </a:xfrm>
          <a:prstGeom prst="rect">
            <a:avLst/>
          </a:prstGeom>
          <a:noFill/>
          <a:ln>
            <a:noFill/>
          </a:ln>
        </p:spPr>
      </p:pic>
      <p:sp>
        <p:nvSpPr>
          <p:cNvPr id="895" name="Google Shape;895;p52"/>
          <p:cNvSpPr/>
          <p:nvPr/>
        </p:nvSpPr>
        <p:spPr>
          <a:xfrm>
            <a:off x="457200" y="1810628"/>
            <a:ext cx="8229600" cy="2130321"/>
          </a:xfrm>
          <a:prstGeom prst="rect">
            <a:avLst/>
          </a:prstGeom>
          <a:noFill/>
          <a:ln cap="flat" cmpd="sng" w="9525">
            <a:solidFill>
              <a:srgbClr val="D9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6" name="Google Shape;896;p52"/>
          <p:cNvSpPr txBox="1"/>
          <p:nvPr/>
        </p:nvSpPr>
        <p:spPr>
          <a:xfrm>
            <a:off x="457200" y="4576572"/>
            <a:ext cx="78638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4A2"/>
              </a:buClr>
              <a:buSzPts val="800"/>
              <a:buFont typeface="Tahoma"/>
              <a:buNone/>
            </a:pPr>
            <a:r>
              <a:rPr b="0" i="1" lang="en-US" sz="800" u="none" cap="none" strike="noStrike">
                <a:solidFill>
                  <a:srgbClr val="8A94A2"/>
                </a:solidFill>
                <a:latin typeface="Tahoma"/>
                <a:ea typeface="Tahoma"/>
                <a:cs typeface="Tahoma"/>
                <a:sym typeface="Tahoma"/>
              </a:rPr>
              <a:t>ภาพ: ผลรันจริงของแล็บ 3–4 (diffusion บน sprite 10,000 ภาพ, CPU)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01" name="Shape 9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" name="Google Shape;902;p53"/>
          <p:cNvSpPr txBox="1"/>
          <p:nvPr/>
        </p:nvSpPr>
        <p:spPr>
          <a:xfrm>
            <a:off x="457200" y="4814316"/>
            <a:ext cx="5486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3AE"/>
              </a:buClr>
              <a:buSzPts val="900"/>
              <a:buFont typeface="Tahoma"/>
              <a:buNone/>
            </a:pPr>
            <a:r>
              <a:rPr b="0" i="0" lang="en-US" sz="900" u="none" cap="none" strike="noStrike">
                <a:solidFill>
                  <a:srgbClr val="9AA3AE"/>
                </a:solidFill>
                <a:latin typeface="Tahoma"/>
                <a:ea typeface="Tahoma"/>
                <a:cs typeface="Tahoma"/>
                <a:sym typeface="Tahoma"/>
              </a:rPr>
              <a:t>LLM &amp; Agentic AI · สัปดาห์ 4 · ช่วงเช้า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3" name="Google Shape;903;p53"/>
          <p:cNvSpPr/>
          <p:nvPr/>
        </p:nvSpPr>
        <p:spPr>
          <a:xfrm>
            <a:off x="8357616" y="4759452"/>
            <a:ext cx="329184" cy="329184"/>
          </a:xfrm>
          <a:prstGeom prst="ellipse">
            <a:avLst/>
          </a:prstGeom>
          <a:solidFill>
            <a:srgbClr val="1F3864"/>
          </a:solidFill>
          <a:ln cap="flat" cmpd="sng" w="12700">
            <a:solidFill>
              <a:srgbClr val="1F38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4" name="Google Shape;904;p53"/>
          <p:cNvSpPr txBox="1"/>
          <p:nvPr/>
        </p:nvSpPr>
        <p:spPr>
          <a:xfrm>
            <a:off x="8357616" y="4759452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Tahoma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53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5" name="Google Shape;905;p53"/>
          <p:cNvSpPr/>
          <p:nvPr/>
        </p:nvSpPr>
        <p:spPr>
          <a:xfrm>
            <a:off x="457200" y="256032"/>
            <a:ext cx="1225296" cy="274320"/>
          </a:xfrm>
          <a:prstGeom prst="roundRect">
            <a:avLst>
              <a:gd fmla="val 50000" name="adj"/>
            </a:avLst>
          </a:prstGeom>
          <a:solidFill>
            <a:srgbClr val="DDF1EA"/>
          </a:solidFill>
          <a:ln cap="flat" cmpd="sng" w="12700">
            <a:solidFill>
              <a:srgbClr val="DDF1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6" name="Google Shape;906;p53"/>
          <p:cNvSpPr txBox="1"/>
          <p:nvPr/>
        </p:nvSpPr>
        <p:spPr>
          <a:xfrm>
            <a:off x="457200" y="256032"/>
            <a:ext cx="122529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6F5B"/>
              </a:buClr>
              <a:buSzPts val="1000"/>
              <a:buFont typeface="Tahoma"/>
              <a:buNone/>
            </a:pPr>
            <a:r>
              <a:rPr b="1" i="0" lang="en-US" sz="1000" u="none" cap="none" strike="noStrike">
                <a:solidFill>
                  <a:srgbClr val="1D6F5B"/>
                </a:solidFill>
                <a:latin typeface="Tahoma"/>
                <a:ea typeface="Tahoma"/>
                <a:cs typeface="Tahoma"/>
                <a:sym typeface="Tahoma"/>
              </a:rPr>
              <a:t>4 · Sampling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7" name="Google Shape;907;p53"/>
          <p:cNvSpPr txBox="1"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2400"/>
              <a:buFont typeface="Tahoma"/>
              <a:buNone/>
            </a:pPr>
            <a:r>
              <a:rPr b="1" i="0" lang="en-US" sz="2400" u="none" cap="none" strike="noStrike">
                <a:solidFill>
                  <a:srgbClr val="1F3864"/>
                </a:solidFill>
                <a:latin typeface="Tahoma"/>
                <a:ea typeface="Tahoma"/>
                <a:cs typeface="Tahoma"/>
                <a:sym typeface="Tahoma"/>
              </a:rPr>
              <a:t>ภาพที่ diffusion ของเราสร้าง (DDPM 1,000 ก้าว)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week4/slides/fig/f_d_samples.png" id="908" name="Google Shape;908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354875"/>
            <a:ext cx="8229600" cy="3041827"/>
          </a:xfrm>
          <a:prstGeom prst="rect">
            <a:avLst/>
          </a:prstGeom>
          <a:noFill/>
          <a:ln>
            <a:noFill/>
          </a:ln>
        </p:spPr>
      </p:pic>
      <p:sp>
        <p:nvSpPr>
          <p:cNvPr id="909" name="Google Shape;909;p53"/>
          <p:cNvSpPr/>
          <p:nvPr/>
        </p:nvSpPr>
        <p:spPr>
          <a:xfrm>
            <a:off x="457200" y="1354875"/>
            <a:ext cx="8229600" cy="3041827"/>
          </a:xfrm>
          <a:prstGeom prst="rect">
            <a:avLst/>
          </a:prstGeom>
          <a:noFill/>
          <a:ln cap="flat" cmpd="sng" w="9525">
            <a:solidFill>
              <a:srgbClr val="D9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0" name="Google Shape;910;p53"/>
          <p:cNvSpPr txBox="1"/>
          <p:nvPr/>
        </p:nvSpPr>
        <p:spPr>
          <a:xfrm>
            <a:off x="457200" y="4576572"/>
            <a:ext cx="78638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4A2"/>
              </a:buClr>
              <a:buSzPts val="800"/>
              <a:buFont typeface="Tahoma"/>
              <a:buNone/>
            </a:pPr>
            <a:r>
              <a:rPr b="0" i="1" lang="en-US" sz="800" u="none" cap="none" strike="noStrike">
                <a:solidFill>
                  <a:srgbClr val="8A94A2"/>
                </a:solidFill>
                <a:latin typeface="Tahoma"/>
                <a:ea typeface="Tahoma"/>
                <a:cs typeface="Tahoma"/>
                <a:sym typeface="Tahoma"/>
              </a:rPr>
              <a:t>ภาพ: ผลรันจริงของแล็บ 3–4 (diffusion บน sprite 10,000 ภาพ, CPU)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15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p54"/>
          <p:cNvSpPr txBox="1"/>
          <p:nvPr/>
        </p:nvSpPr>
        <p:spPr>
          <a:xfrm>
            <a:off x="457200" y="4814316"/>
            <a:ext cx="5486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3AE"/>
              </a:buClr>
              <a:buSzPts val="900"/>
              <a:buFont typeface="Tahoma"/>
              <a:buNone/>
            </a:pPr>
            <a:r>
              <a:rPr b="0" i="0" lang="en-US" sz="900" u="none" cap="none" strike="noStrike">
                <a:solidFill>
                  <a:srgbClr val="9AA3AE"/>
                </a:solidFill>
                <a:latin typeface="Tahoma"/>
                <a:ea typeface="Tahoma"/>
                <a:cs typeface="Tahoma"/>
                <a:sym typeface="Tahoma"/>
              </a:rPr>
              <a:t>LLM &amp; Agentic AI · สัปดาห์ 4 · ช่วงเช้า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7" name="Google Shape;917;p54"/>
          <p:cNvSpPr/>
          <p:nvPr/>
        </p:nvSpPr>
        <p:spPr>
          <a:xfrm>
            <a:off x="8357616" y="4759452"/>
            <a:ext cx="329184" cy="329184"/>
          </a:xfrm>
          <a:prstGeom prst="ellipse">
            <a:avLst/>
          </a:prstGeom>
          <a:solidFill>
            <a:srgbClr val="1F3864"/>
          </a:solidFill>
          <a:ln cap="flat" cmpd="sng" w="12700">
            <a:solidFill>
              <a:srgbClr val="1F38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8" name="Google Shape;918;p54"/>
          <p:cNvSpPr txBox="1"/>
          <p:nvPr/>
        </p:nvSpPr>
        <p:spPr>
          <a:xfrm>
            <a:off x="8357616" y="4759452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Tahoma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54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9" name="Google Shape;919;p54"/>
          <p:cNvSpPr/>
          <p:nvPr/>
        </p:nvSpPr>
        <p:spPr>
          <a:xfrm>
            <a:off x="457200" y="256032"/>
            <a:ext cx="1225296" cy="274320"/>
          </a:xfrm>
          <a:prstGeom prst="roundRect">
            <a:avLst>
              <a:gd fmla="val 50000" name="adj"/>
            </a:avLst>
          </a:prstGeom>
          <a:solidFill>
            <a:srgbClr val="DDF1EA"/>
          </a:solidFill>
          <a:ln cap="flat" cmpd="sng" w="12700">
            <a:solidFill>
              <a:srgbClr val="DDF1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0" name="Google Shape;920;p54"/>
          <p:cNvSpPr txBox="1"/>
          <p:nvPr/>
        </p:nvSpPr>
        <p:spPr>
          <a:xfrm>
            <a:off x="457200" y="256032"/>
            <a:ext cx="122529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6F5B"/>
              </a:buClr>
              <a:buSzPts val="1000"/>
              <a:buFont typeface="Tahoma"/>
              <a:buNone/>
            </a:pPr>
            <a:r>
              <a:rPr b="1" i="0" lang="en-US" sz="1000" u="none" cap="none" strike="noStrike">
                <a:solidFill>
                  <a:srgbClr val="1D6F5B"/>
                </a:solidFill>
                <a:latin typeface="Tahoma"/>
                <a:ea typeface="Tahoma"/>
                <a:cs typeface="Tahoma"/>
                <a:sym typeface="Tahoma"/>
              </a:rPr>
              <a:t>4 · Sampling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1" name="Google Shape;921;p54"/>
          <p:cNvSpPr txBox="1"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2400"/>
              <a:buFont typeface="Tahoma"/>
              <a:buNone/>
            </a:pPr>
            <a:r>
              <a:rPr b="1" i="0" lang="en-US" sz="2400" u="none" cap="none" strike="noStrike">
                <a:solidFill>
                  <a:srgbClr val="1F3864"/>
                </a:solidFill>
                <a:latin typeface="Tahoma"/>
                <a:ea typeface="Tahoma"/>
                <a:cs typeface="Tahoma"/>
                <a:sym typeface="Tahoma"/>
              </a:rPr>
              <a:t>ทำไมไม่เบลอ และทำไมต้องเติม noise กลับ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week4/slides/fig/f_d_why.png" id="922" name="Google Shape;922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276745"/>
            <a:ext cx="8229600" cy="3198085"/>
          </a:xfrm>
          <a:prstGeom prst="rect">
            <a:avLst/>
          </a:prstGeom>
          <a:noFill/>
          <a:ln>
            <a:noFill/>
          </a:ln>
        </p:spPr>
      </p:pic>
      <p:sp>
        <p:nvSpPr>
          <p:cNvPr id="923" name="Google Shape;923;p54"/>
          <p:cNvSpPr/>
          <p:nvPr/>
        </p:nvSpPr>
        <p:spPr>
          <a:xfrm>
            <a:off x="457200" y="1276745"/>
            <a:ext cx="8229600" cy="3198085"/>
          </a:xfrm>
          <a:prstGeom prst="rect">
            <a:avLst/>
          </a:prstGeom>
          <a:noFill/>
          <a:ln cap="flat" cmpd="sng" w="9525">
            <a:solidFill>
              <a:srgbClr val="D9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4" name="Google Shape;924;p54"/>
          <p:cNvSpPr txBox="1"/>
          <p:nvPr/>
        </p:nvSpPr>
        <p:spPr>
          <a:xfrm>
            <a:off x="457200" y="4576572"/>
            <a:ext cx="78638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4A2"/>
              </a:buClr>
              <a:buSzPts val="800"/>
              <a:buFont typeface="Tahoma"/>
              <a:buNone/>
            </a:pPr>
            <a:r>
              <a:rPr b="0" i="1" lang="en-US" sz="800" u="none" cap="none" strike="noStrike">
                <a:solidFill>
                  <a:srgbClr val="8A94A2"/>
                </a:solidFill>
                <a:latin typeface="Tahoma"/>
                <a:ea typeface="Tahoma"/>
                <a:cs typeface="Tahoma"/>
                <a:sym typeface="Tahoma"/>
              </a:rPr>
              <a:t>ภาพ: ผลรันจริงของแล็บ 3–4 (diffusion บน sprite 10,000 ภาพ, CPU)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29" name="Shape 9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0" name="Google Shape;930;p55"/>
          <p:cNvSpPr txBox="1"/>
          <p:nvPr/>
        </p:nvSpPr>
        <p:spPr>
          <a:xfrm>
            <a:off x="457200" y="4814316"/>
            <a:ext cx="5486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3AE"/>
              </a:buClr>
              <a:buSzPts val="900"/>
              <a:buFont typeface="Tahoma"/>
              <a:buNone/>
            </a:pPr>
            <a:r>
              <a:rPr b="0" i="0" lang="en-US" sz="900" u="none" cap="none" strike="noStrike">
                <a:solidFill>
                  <a:srgbClr val="9AA3AE"/>
                </a:solidFill>
                <a:latin typeface="Tahoma"/>
                <a:ea typeface="Tahoma"/>
                <a:cs typeface="Tahoma"/>
                <a:sym typeface="Tahoma"/>
              </a:rPr>
              <a:t>LLM &amp; Agentic AI · สัปดาห์ 4 · ช่วงเช้า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1" name="Google Shape;931;p55"/>
          <p:cNvSpPr/>
          <p:nvPr/>
        </p:nvSpPr>
        <p:spPr>
          <a:xfrm>
            <a:off x="8357616" y="4759452"/>
            <a:ext cx="329184" cy="329184"/>
          </a:xfrm>
          <a:prstGeom prst="ellipse">
            <a:avLst/>
          </a:prstGeom>
          <a:solidFill>
            <a:srgbClr val="1F3864"/>
          </a:solidFill>
          <a:ln cap="flat" cmpd="sng" w="12700">
            <a:solidFill>
              <a:srgbClr val="1F38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2" name="Google Shape;932;p55"/>
          <p:cNvSpPr txBox="1"/>
          <p:nvPr/>
        </p:nvSpPr>
        <p:spPr>
          <a:xfrm>
            <a:off x="8357616" y="4759452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Tahoma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55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3" name="Google Shape;933;p55"/>
          <p:cNvSpPr/>
          <p:nvPr/>
        </p:nvSpPr>
        <p:spPr>
          <a:xfrm>
            <a:off x="457200" y="256032"/>
            <a:ext cx="914400" cy="274320"/>
          </a:xfrm>
          <a:prstGeom prst="roundRect">
            <a:avLst>
              <a:gd fmla="val 50000" name="adj"/>
            </a:avLst>
          </a:prstGeom>
          <a:solidFill>
            <a:srgbClr val="DDF1EA"/>
          </a:solidFill>
          <a:ln cap="flat" cmpd="sng" w="12700">
            <a:solidFill>
              <a:srgbClr val="DDF1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4" name="Google Shape;934;p55"/>
          <p:cNvSpPr txBox="1"/>
          <p:nvPr/>
        </p:nvSpPr>
        <p:spPr>
          <a:xfrm>
            <a:off x="457200" y="256032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6F5B"/>
              </a:buClr>
              <a:buSzPts val="1000"/>
              <a:buFont typeface="Tahoma"/>
              <a:buNone/>
            </a:pPr>
            <a:r>
              <a:rPr b="1" i="0" lang="en-US" sz="1000" u="none" cap="none" strike="noStrike">
                <a:solidFill>
                  <a:srgbClr val="1D6F5B"/>
                </a:solidFill>
                <a:latin typeface="Tahoma"/>
                <a:ea typeface="Tahoma"/>
                <a:cs typeface="Tahoma"/>
                <a:sym typeface="Tahoma"/>
              </a:rPr>
              <a:t>4 · DDIM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5" name="Google Shape;935;p55"/>
          <p:cNvSpPr txBox="1"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2400"/>
              <a:buFont typeface="Tahoma"/>
              <a:buNone/>
            </a:pPr>
            <a:r>
              <a:rPr b="1" i="0" lang="en-US" sz="2400" u="none" cap="none" strike="noStrike">
                <a:solidFill>
                  <a:srgbClr val="1F3864"/>
                </a:solidFill>
                <a:latin typeface="Tahoma"/>
                <a:ea typeface="Tahoma"/>
                <a:cs typeface="Tahoma"/>
                <a:sym typeface="Tahoma"/>
              </a:rPr>
              <a:t>DDIM: โมเดลเดิม เดินก้าวใหญ่ขึ้น เร็วขึ้นหลายสิบเท่า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week4/slides/fig/f_d_ddim.png" id="936" name="Google Shape;936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6169" y="1252728"/>
            <a:ext cx="7411661" cy="3246120"/>
          </a:xfrm>
          <a:prstGeom prst="rect">
            <a:avLst/>
          </a:prstGeom>
          <a:noFill/>
          <a:ln>
            <a:noFill/>
          </a:ln>
        </p:spPr>
      </p:pic>
      <p:sp>
        <p:nvSpPr>
          <p:cNvPr id="937" name="Google Shape;937;p55"/>
          <p:cNvSpPr/>
          <p:nvPr/>
        </p:nvSpPr>
        <p:spPr>
          <a:xfrm>
            <a:off x="866169" y="1252728"/>
            <a:ext cx="7411661" cy="3246120"/>
          </a:xfrm>
          <a:prstGeom prst="rect">
            <a:avLst/>
          </a:prstGeom>
          <a:noFill/>
          <a:ln cap="flat" cmpd="sng" w="9525">
            <a:solidFill>
              <a:srgbClr val="D9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8" name="Google Shape;938;p55"/>
          <p:cNvSpPr txBox="1"/>
          <p:nvPr/>
        </p:nvSpPr>
        <p:spPr>
          <a:xfrm>
            <a:off x="457200" y="4576572"/>
            <a:ext cx="78638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4A2"/>
              </a:buClr>
              <a:buSzPts val="800"/>
              <a:buFont typeface="Tahoma"/>
              <a:buNone/>
            </a:pPr>
            <a:r>
              <a:rPr b="0" i="1" lang="en-US" sz="800" u="none" cap="none" strike="noStrike">
                <a:solidFill>
                  <a:srgbClr val="8A94A2"/>
                </a:solidFill>
                <a:latin typeface="Tahoma"/>
                <a:ea typeface="Tahoma"/>
                <a:cs typeface="Tahoma"/>
                <a:sym typeface="Tahoma"/>
              </a:rPr>
              <a:t>ภาพ: ผลรันจริงของแล็บ 3–4 (diffusion บน sprite 10,000 ภาพ, CPU)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43" name="Shape 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4" name="Google Shape;944;p56"/>
          <p:cNvSpPr txBox="1"/>
          <p:nvPr/>
        </p:nvSpPr>
        <p:spPr>
          <a:xfrm>
            <a:off x="457200" y="4814316"/>
            <a:ext cx="5486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3AE"/>
              </a:buClr>
              <a:buSzPts val="900"/>
              <a:buFont typeface="Tahoma"/>
              <a:buNone/>
            </a:pPr>
            <a:r>
              <a:rPr b="0" i="0" lang="en-US" sz="900" u="none" cap="none" strike="noStrike">
                <a:solidFill>
                  <a:srgbClr val="9AA3AE"/>
                </a:solidFill>
                <a:latin typeface="Tahoma"/>
                <a:ea typeface="Tahoma"/>
                <a:cs typeface="Tahoma"/>
                <a:sym typeface="Tahoma"/>
              </a:rPr>
              <a:t>LLM &amp; Agentic AI · สัปดาห์ 4 · ช่วงเช้า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5" name="Google Shape;945;p56"/>
          <p:cNvSpPr/>
          <p:nvPr/>
        </p:nvSpPr>
        <p:spPr>
          <a:xfrm>
            <a:off x="8357616" y="4759452"/>
            <a:ext cx="329184" cy="329184"/>
          </a:xfrm>
          <a:prstGeom prst="ellipse">
            <a:avLst/>
          </a:prstGeom>
          <a:solidFill>
            <a:srgbClr val="1F3864"/>
          </a:solidFill>
          <a:ln cap="flat" cmpd="sng" w="12700">
            <a:solidFill>
              <a:srgbClr val="1F38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6" name="Google Shape;946;p56"/>
          <p:cNvSpPr txBox="1"/>
          <p:nvPr/>
        </p:nvSpPr>
        <p:spPr>
          <a:xfrm>
            <a:off x="8357616" y="4759452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Tahoma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56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7" name="Google Shape;947;p56"/>
          <p:cNvSpPr/>
          <p:nvPr/>
        </p:nvSpPr>
        <p:spPr>
          <a:xfrm>
            <a:off x="457200" y="256032"/>
            <a:ext cx="914400" cy="274320"/>
          </a:xfrm>
          <a:prstGeom prst="roundRect">
            <a:avLst>
              <a:gd fmla="val 50000" name="adj"/>
            </a:avLst>
          </a:prstGeom>
          <a:solidFill>
            <a:srgbClr val="DDF1EA"/>
          </a:solidFill>
          <a:ln cap="flat" cmpd="sng" w="12700">
            <a:solidFill>
              <a:srgbClr val="DDF1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8" name="Google Shape;948;p56"/>
          <p:cNvSpPr txBox="1"/>
          <p:nvPr/>
        </p:nvSpPr>
        <p:spPr>
          <a:xfrm>
            <a:off x="457200" y="256032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6F5B"/>
              </a:buClr>
              <a:buSzPts val="1000"/>
              <a:buFont typeface="Tahoma"/>
              <a:buNone/>
            </a:pPr>
            <a:r>
              <a:rPr b="1" i="0" lang="en-US" sz="1000" u="none" cap="none" strike="noStrike">
                <a:solidFill>
                  <a:srgbClr val="1D6F5B"/>
                </a:solidFill>
                <a:latin typeface="Tahoma"/>
                <a:ea typeface="Tahoma"/>
                <a:cs typeface="Tahoma"/>
                <a:sym typeface="Tahoma"/>
              </a:rPr>
              <a:t>4 · DDIM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9" name="Google Shape;949;p56"/>
          <p:cNvSpPr txBox="1"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2400"/>
              <a:buFont typeface="Tahoma"/>
              <a:buNone/>
            </a:pPr>
            <a:r>
              <a:rPr b="1" i="0" lang="en-US" sz="2400" u="none" cap="none" strike="noStrike">
                <a:solidFill>
                  <a:srgbClr val="1F3864"/>
                </a:solidFill>
                <a:latin typeface="Tahoma"/>
                <a:ea typeface="Tahoma"/>
                <a:cs typeface="Tahoma"/>
                <a:sym typeface="Tahoma"/>
              </a:rPr>
              <a:t>noise เดิม → DDIM ได้ภาพเดิม ไม่ว่าจะเดินกี่ก้าว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week4/slides/fig/f_d_det.png" id="950" name="Google Shape;950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294976"/>
            <a:ext cx="8229600" cy="3161625"/>
          </a:xfrm>
          <a:prstGeom prst="rect">
            <a:avLst/>
          </a:prstGeom>
          <a:noFill/>
          <a:ln>
            <a:noFill/>
          </a:ln>
        </p:spPr>
      </p:pic>
      <p:sp>
        <p:nvSpPr>
          <p:cNvPr id="951" name="Google Shape;951;p56"/>
          <p:cNvSpPr/>
          <p:nvPr/>
        </p:nvSpPr>
        <p:spPr>
          <a:xfrm>
            <a:off x="457200" y="1294976"/>
            <a:ext cx="8229600" cy="3161625"/>
          </a:xfrm>
          <a:prstGeom prst="rect">
            <a:avLst/>
          </a:prstGeom>
          <a:noFill/>
          <a:ln cap="flat" cmpd="sng" w="9525">
            <a:solidFill>
              <a:srgbClr val="D9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2" name="Google Shape;952;p56"/>
          <p:cNvSpPr txBox="1"/>
          <p:nvPr/>
        </p:nvSpPr>
        <p:spPr>
          <a:xfrm>
            <a:off x="457200" y="4576572"/>
            <a:ext cx="78638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4A2"/>
              </a:buClr>
              <a:buSzPts val="800"/>
              <a:buFont typeface="Tahoma"/>
              <a:buNone/>
            </a:pPr>
            <a:r>
              <a:rPr b="0" i="1" lang="en-US" sz="800" u="none" cap="none" strike="noStrike">
                <a:solidFill>
                  <a:srgbClr val="8A94A2"/>
                </a:solidFill>
                <a:latin typeface="Tahoma"/>
                <a:ea typeface="Tahoma"/>
                <a:cs typeface="Tahoma"/>
                <a:sym typeface="Tahoma"/>
              </a:rPr>
              <a:t>ภาพ: ผลรันจริงของแล็บ 3 (diffusion บน sprite 10,000 ภาพ, CPU)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57" name="Shape 9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8" name="Google Shape;958;p57"/>
          <p:cNvSpPr txBox="1"/>
          <p:nvPr/>
        </p:nvSpPr>
        <p:spPr>
          <a:xfrm>
            <a:off x="457200" y="4814316"/>
            <a:ext cx="5486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3AE"/>
              </a:buClr>
              <a:buSzPts val="900"/>
              <a:buFont typeface="Tahoma"/>
              <a:buNone/>
            </a:pPr>
            <a:r>
              <a:rPr b="0" i="0" lang="en-US" sz="900" u="none" cap="none" strike="noStrike">
                <a:solidFill>
                  <a:srgbClr val="9AA3AE"/>
                </a:solidFill>
                <a:latin typeface="Tahoma"/>
                <a:ea typeface="Tahoma"/>
                <a:cs typeface="Tahoma"/>
                <a:sym typeface="Tahoma"/>
              </a:rPr>
              <a:t>LLM &amp; Agentic AI · สัปดาห์ 4 · ช่วงเช้า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9" name="Google Shape;959;p57"/>
          <p:cNvSpPr/>
          <p:nvPr/>
        </p:nvSpPr>
        <p:spPr>
          <a:xfrm>
            <a:off x="8357616" y="4759452"/>
            <a:ext cx="329184" cy="329184"/>
          </a:xfrm>
          <a:prstGeom prst="ellipse">
            <a:avLst/>
          </a:prstGeom>
          <a:solidFill>
            <a:srgbClr val="1F3864"/>
          </a:solidFill>
          <a:ln cap="flat" cmpd="sng" w="12700">
            <a:solidFill>
              <a:srgbClr val="1F38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0" name="Google Shape;960;p57"/>
          <p:cNvSpPr txBox="1"/>
          <p:nvPr/>
        </p:nvSpPr>
        <p:spPr>
          <a:xfrm>
            <a:off x="8357616" y="4759452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Tahoma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57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1" name="Google Shape;961;p57"/>
          <p:cNvSpPr/>
          <p:nvPr/>
        </p:nvSpPr>
        <p:spPr>
          <a:xfrm>
            <a:off x="457200" y="256032"/>
            <a:ext cx="1303020" cy="274320"/>
          </a:xfrm>
          <a:prstGeom prst="roundRect">
            <a:avLst>
              <a:gd fmla="val 50000" name="adj"/>
            </a:avLst>
          </a:prstGeom>
          <a:solidFill>
            <a:srgbClr val="DDF1EA"/>
          </a:solidFill>
          <a:ln cap="flat" cmpd="sng" w="12700">
            <a:solidFill>
              <a:srgbClr val="DDF1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2" name="Google Shape;962;p57"/>
          <p:cNvSpPr txBox="1"/>
          <p:nvPr/>
        </p:nvSpPr>
        <p:spPr>
          <a:xfrm>
            <a:off x="457200" y="256032"/>
            <a:ext cx="13030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6F5B"/>
              </a:buClr>
              <a:buSzPts val="1000"/>
              <a:buFont typeface="Tahoma"/>
              <a:buNone/>
            </a:pPr>
            <a:r>
              <a:rPr b="1" i="0" lang="en-US" sz="1000" u="none" cap="none" strike="noStrike">
                <a:solidFill>
                  <a:srgbClr val="1D6F5B"/>
                </a:solidFill>
                <a:latin typeface="Tahoma"/>
                <a:ea typeface="Tahoma"/>
                <a:cs typeface="Tahoma"/>
                <a:sym typeface="Tahoma"/>
              </a:rPr>
              <a:t>4 · เทียบ VAE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3" name="Google Shape;963;p57"/>
          <p:cNvSpPr txBox="1"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2400"/>
              <a:buFont typeface="Tahoma"/>
              <a:buNone/>
            </a:pPr>
            <a:r>
              <a:rPr b="1" i="0" lang="en-US" sz="2400" u="none" cap="none" strike="noStrike">
                <a:solidFill>
                  <a:srgbClr val="1F3864"/>
                </a:solidFill>
                <a:latin typeface="Tahoma"/>
                <a:ea typeface="Tahoma"/>
                <a:cs typeface="Tahoma"/>
                <a:sym typeface="Tahoma"/>
              </a:rPr>
              <a:t>Diffusion = VAE ที่มีหลายชั้นซ้อนกัน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week4/slides/fig/f_vae_vs_diffusion.png" id="964" name="Google Shape;964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13021" y="1298448"/>
            <a:ext cx="5517958" cy="2148840"/>
          </a:xfrm>
          <a:prstGeom prst="rect">
            <a:avLst/>
          </a:prstGeom>
          <a:noFill/>
          <a:ln>
            <a:noFill/>
          </a:ln>
        </p:spPr>
      </p:pic>
      <p:sp>
        <p:nvSpPr>
          <p:cNvPr id="965" name="Google Shape;965;p57"/>
          <p:cNvSpPr/>
          <p:nvPr/>
        </p:nvSpPr>
        <p:spPr>
          <a:xfrm>
            <a:off x="457200" y="3630168"/>
            <a:ext cx="2621280" cy="1056132"/>
          </a:xfrm>
          <a:prstGeom prst="roundRect">
            <a:avLst>
              <a:gd fmla="val 6926" name="adj"/>
            </a:avLst>
          </a:prstGeom>
          <a:solidFill>
            <a:srgbClr val="E4ECF7"/>
          </a:solidFill>
          <a:ln cap="flat" cmpd="sng" w="12700">
            <a:solidFill>
              <a:srgbClr val="E4EC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6" name="Google Shape;966;p57"/>
          <p:cNvSpPr/>
          <p:nvPr/>
        </p:nvSpPr>
        <p:spPr>
          <a:xfrm>
            <a:off x="585216" y="3758184"/>
            <a:ext cx="201168" cy="201168"/>
          </a:xfrm>
          <a:prstGeom prst="ellipse">
            <a:avLst/>
          </a:prstGeom>
          <a:solidFill>
            <a:srgbClr val="1F3864"/>
          </a:solidFill>
          <a:ln cap="flat" cmpd="sng" w="12700">
            <a:solidFill>
              <a:srgbClr val="1F38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7" name="Google Shape;967;p57"/>
          <p:cNvSpPr txBox="1"/>
          <p:nvPr/>
        </p:nvSpPr>
        <p:spPr>
          <a:xfrm>
            <a:off x="868680" y="3703320"/>
            <a:ext cx="2072640" cy="9098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33"/>
              </a:buClr>
              <a:buSzPts val="1200"/>
              <a:buFont typeface="Tahoma"/>
              <a:buNone/>
            </a:pPr>
            <a:r>
              <a:rPr b="0" i="0" lang="en-US" sz="1200" u="none" cap="none" strike="noStrike">
                <a:solidFill>
                  <a:srgbClr val="1E2733"/>
                </a:solidFill>
                <a:latin typeface="Tahoma"/>
                <a:ea typeface="Tahoma"/>
                <a:cs typeface="Tahoma"/>
                <a:sym typeface="Tahoma"/>
              </a:rPr>
              <a:t>VAE: encoder ที่ต้องเรียน บีบเป็น z เล็ก ๆ → decoder คลายทีเดียว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8" name="Google Shape;968;p57"/>
          <p:cNvSpPr/>
          <p:nvPr/>
        </p:nvSpPr>
        <p:spPr>
          <a:xfrm>
            <a:off x="3261360" y="3630168"/>
            <a:ext cx="2621280" cy="1056132"/>
          </a:xfrm>
          <a:prstGeom prst="roundRect">
            <a:avLst>
              <a:gd fmla="val 6926" name="adj"/>
            </a:avLst>
          </a:prstGeom>
          <a:solidFill>
            <a:srgbClr val="DDF1EA"/>
          </a:solidFill>
          <a:ln cap="flat" cmpd="sng" w="12700">
            <a:solidFill>
              <a:srgbClr val="DDF1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9" name="Google Shape;969;p57"/>
          <p:cNvSpPr/>
          <p:nvPr/>
        </p:nvSpPr>
        <p:spPr>
          <a:xfrm>
            <a:off x="3389376" y="3758184"/>
            <a:ext cx="201168" cy="201168"/>
          </a:xfrm>
          <a:prstGeom prst="ellipse">
            <a:avLst/>
          </a:prstGeom>
          <a:solidFill>
            <a:srgbClr val="1D6F5B"/>
          </a:solidFill>
          <a:ln cap="flat" cmpd="sng" w="12700">
            <a:solidFill>
              <a:srgbClr val="1D6F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0" name="Google Shape;970;p57"/>
          <p:cNvSpPr txBox="1"/>
          <p:nvPr/>
        </p:nvSpPr>
        <p:spPr>
          <a:xfrm>
            <a:off x="3672840" y="3703320"/>
            <a:ext cx="2072640" cy="9098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33"/>
              </a:buClr>
              <a:buSzPts val="1200"/>
              <a:buFont typeface="Tahoma"/>
              <a:buNone/>
            </a:pPr>
            <a:r>
              <a:rPr b="0" i="0" lang="en-US" sz="1200" u="none" cap="none" strike="noStrike">
                <a:solidFill>
                  <a:srgbClr val="1E2733"/>
                </a:solidFill>
                <a:latin typeface="Tahoma"/>
                <a:ea typeface="Tahoma"/>
                <a:cs typeface="Tahoma"/>
                <a:sym typeface="Tahoma"/>
              </a:rPr>
              <a:t>Diffusion: encoder = สูตรเติม noise ตายตัว (ไม่ต้องเรียน) หลายก้าว, latent ขนาดเท่าภาพ, decoder = U-Net ตัวเดียวใช้ซ้ำทุกก้าว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1" name="Google Shape;971;p57"/>
          <p:cNvSpPr/>
          <p:nvPr/>
        </p:nvSpPr>
        <p:spPr>
          <a:xfrm>
            <a:off x="6065520" y="3630168"/>
            <a:ext cx="2621280" cy="1056132"/>
          </a:xfrm>
          <a:prstGeom prst="roundRect">
            <a:avLst>
              <a:gd fmla="val 6926" name="adj"/>
            </a:avLst>
          </a:prstGeom>
          <a:solidFill>
            <a:srgbClr val="FCF0D9"/>
          </a:solidFill>
          <a:ln cap="flat" cmpd="sng" w="12700">
            <a:solidFill>
              <a:srgbClr val="FCF0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2" name="Google Shape;972;p57"/>
          <p:cNvSpPr/>
          <p:nvPr/>
        </p:nvSpPr>
        <p:spPr>
          <a:xfrm>
            <a:off x="6193536" y="3758184"/>
            <a:ext cx="201168" cy="201168"/>
          </a:xfrm>
          <a:prstGeom prst="ellipse">
            <a:avLst/>
          </a:prstGeom>
          <a:solidFill>
            <a:srgbClr val="B7791F"/>
          </a:solidFill>
          <a:ln cap="flat" cmpd="sng" w="12700">
            <a:solidFill>
              <a:srgbClr val="B779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3" name="Google Shape;973;p57"/>
          <p:cNvSpPr txBox="1"/>
          <p:nvPr/>
        </p:nvSpPr>
        <p:spPr>
          <a:xfrm>
            <a:off x="6477000" y="3703320"/>
            <a:ext cx="2072640" cy="9098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33"/>
              </a:buClr>
              <a:buSzPts val="1200"/>
              <a:buFont typeface="Tahoma"/>
              <a:buNone/>
            </a:pPr>
            <a:r>
              <a:rPr b="0" i="0" lang="en-US" sz="1200" u="none" cap="none" strike="noStrike">
                <a:solidFill>
                  <a:srgbClr val="1E2733"/>
                </a:solidFill>
                <a:latin typeface="Tahoma"/>
                <a:ea typeface="Tahoma"/>
                <a:cs typeface="Tahoma"/>
                <a:sym typeface="Tahoma"/>
              </a:rPr>
              <a:t>เพราะ encoder ตายตัว จึงไม่มี 'รู' และไม่ต้องประนีประนอมระหว่าง MSE กับ KL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78" name="Shape 9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9" name="Google Shape;979;p58"/>
          <p:cNvSpPr txBox="1"/>
          <p:nvPr/>
        </p:nvSpPr>
        <p:spPr>
          <a:xfrm>
            <a:off x="457200" y="4814316"/>
            <a:ext cx="5486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3AE"/>
              </a:buClr>
              <a:buSzPts val="900"/>
              <a:buFont typeface="Tahoma"/>
              <a:buNone/>
            </a:pPr>
            <a:r>
              <a:rPr b="0" i="0" lang="en-US" sz="900" u="none" cap="none" strike="noStrike">
                <a:solidFill>
                  <a:srgbClr val="9AA3AE"/>
                </a:solidFill>
                <a:latin typeface="Tahoma"/>
                <a:ea typeface="Tahoma"/>
                <a:cs typeface="Tahoma"/>
                <a:sym typeface="Tahoma"/>
              </a:rPr>
              <a:t>LLM &amp; Agentic AI · สัปดาห์ 4 · ช่วงเช้า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0" name="Google Shape;980;p58"/>
          <p:cNvSpPr/>
          <p:nvPr/>
        </p:nvSpPr>
        <p:spPr>
          <a:xfrm>
            <a:off x="8357616" y="4759452"/>
            <a:ext cx="329184" cy="329184"/>
          </a:xfrm>
          <a:prstGeom prst="ellipse">
            <a:avLst/>
          </a:prstGeom>
          <a:solidFill>
            <a:srgbClr val="1F3864"/>
          </a:solidFill>
          <a:ln cap="flat" cmpd="sng" w="12700">
            <a:solidFill>
              <a:srgbClr val="1F38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1" name="Google Shape;981;p58"/>
          <p:cNvSpPr txBox="1"/>
          <p:nvPr/>
        </p:nvSpPr>
        <p:spPr>
          <a:xfrm>
            <a:off x="8357616" y="4759452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Tahoma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58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2" name="Google Shape;982;p58"/>
          <p:cNvSpPr/>
          <p:nvPr/>
        </p:nvSpPr>
        <p:spPr>
          <a:xfrm>
            <a:off x="457200" y="256032"/>
            <a:ext cx="1303020" cy="274320"/>
          </a:xfrm>
          <a:prstGeom prst="roundRect">
            <a:avLst>
              <a:gd fmla="val 50000" name="adj"/>
            </a:avLst>
          </a:prstGeom>
          <a:solidFill>
            <a:srgbClr val="DDF1EA"/>
          </a:solidFill>
          <a:ln cap="flat" cmpd="sng" w="12700">
            <a:solidFill>
              <a:srgbClr val="DDF1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3" name="Google Shape;983;p58"/>
          <p:cNvSpPr txBox="1"/>
          <p:nvPr/>
        </p:nvSpPr>
        <p:spPr>
          <a:xfrm>
            <a:off x="457200" y="256032"/>
            <a:ext cx="13030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6F5B"/>
              </a:buClr>
              <a:buSzPts val="1000"/>
              <a:buFont typeface="Tahoma"/>
              <a:buNone/>
            </a:pPr>
            <a:r>
              <a:rPr b="1" i="0" lang="en-US" sz="1000" u="none" cap="none" strike="noStrike">
                <a:solidFill>
                  <a:srgbClr val="1D6F5B"/>
                </a:solidFill>
                <a:latin typeface="Tahoma"/>
                <a:ea typeface="Tahoma"/>
                <a:cs typeface="Tahoma"/>
                <a:sym typeface="Tahoma"/>
              </a:rPr>
              <a:t>4 · Diffusion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4" name="Google Shape;984;p58"/>
          <p:cNvSpPr txBox="1"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2400"/>
              <a:buFont typeface="Tahoma"/>
              <a:buNone/>
            </a:pPr>
            <a:r>
              <a:rPr b="1" i="0" lang="en-US" sz="2400" u="none" cap="none" strike="noStrike">
                <a:solidFill>
                  <a:srgbClr val="1F3864"/>
                </a:solidFill>
                <a:latin typeface="Tahoma"/>
                <a:ea typeface="Tahoma"/>
                <a:cs typeface="Tahoma"/>
                <a:sym typeface="Tahoma"/>
              </a:rPr>
              <a:t>ทำไม Diffusion ชนะ GAN (2021–ปัจจุบัน)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5" name="Google Shape;985;p58"/>
          <p:cNvSpPr/>
          <p:nvPr/>
        </p:nvSpPr>
        <p:spPr>
          <a:xfrm>
            <a:off x="457200" y="1298448"/>
            <a:ext cx="2609088" cy="1988820"/>
          </a:xfrm>
          <a:prstGeom prst="roundRect">
            <a:avLst>
              <a:gd fmla="val 4598" name="adj"/>
            </a:avLst>
          </a:prstGeom>
          <a:solidFill>
            <a:srgbClr val="E4ECF7"/>
          </a:solidFill>
          <a:ln cap="flat" cmpd="sng" w="12700">
            <a:solidFill>
              <a:srgbClr val="E4EC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6" name="Google Shape;986;p58"/>
          <p:cNvSpPr/>
          <p:nvPr/>
        </p:nvSpPr>
        <p:spPr>
          <a:xfrm>
            <a:off x="603504" y="1444752"/>
            <a:ext cx="365760" cy="365760"/>
          </a:xfrm>
          <a:prstGeom prst="ellipse">
            <a:avLst/>
          </a:prstGeom>
          <a:solidFill>
            <a:srgbClr val="1F3864"/>
          </a:solidFill>
          <a:ln cap="flat" cmpd="sng" w="12700">
            <a:solidFill>
              <a:srgbClr val="1F38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7" name="Google Shape;987;p58"/>
          <p:cNvSpPr txBox="1"/>
          <p:nvPr/>
        </p:nvSpPr>
        <p:spPr>
          <a:xfrm>
            <a:off x="603504" y="1444752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ahoma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8" name="Google Shape;988;p58"/>
          <p:cNvSpPr txBox="1"/>
          <p:nvPr/>
        </p:nvSpPr>
        <p:spPr>
          <a:xfrm>
            <a:off x="1060704" y="1426464"/>
            <a:ext cx="18592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350"/>
              <a:buFont typeface="Tahoma"/>
              <a:buNone/>
            </a:pPr>
            <a:r>
              <a:rPr b="1" i="0" lang="en-US" sz="1350" u="none" cap="none" strike="noStrike">
                <a:solidFill>
                  <a:srgbClr val="1F3864"/>
                </a:solidFill>
                <a:latin typeface="Tahoma"/>
                <a:ea typeface="Tahoma"/>
                <a:cs typeface="Tahoma"/>
                <a:sym typeface="Tahoma"/>
              </a:rPr>
              <a:t>เทรนนิ่ง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9" name="Google Shape;989;p58"/>
          <p:cNvSpPr txBox="1"/>
          <p:nvPr/>
        </p:nvSpPr>
        <p:spPr>
          <a:xfrm>
            <a:off x="603504" y="1901952"/>
            <a:ext cx="2316480" cy="12755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33"/>
              </a:buClr>
              <a:buSzPts val="1250"/>
              <a:buFont typeface="Tahoma"/>
              <a:buNone/>
            </a:pPr>
            <a:r>
              <a:rPr b="0" i="0" lang="en-US" sz="1250" u="none" cap="none" strike="noStrike">
                <a:solidFill>
                  <a:srgbClr val="1E2733"/>
                </a:solidFill>
                <a:latin typeface="Tahoma"/>
                <a:ea typeface="Tahoma"/>
                <a:cs typeface="Tahoma"/>
                <a:sym typeface="Tahoma"/>
              </a:rPr>
              <a:t>loss ตัวเดียว (MSE ของ noise) ลดลงเรียบ ๆ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33"/>
              </a:buClr>
              <a:buSzPts val="1250"/>
              <a:buFont typeface="Tahoma"/>
              <a:buNone/>
            </a:pPr>
            <a:r>
              <a:rPr b="0" i="0" lang="en-US" sz="1250" u="none" cap="none" strike="noStrike">
                <a:solidFill>
                  <a:srgbClr val="1E2733"/>
                </a:solidFill>
                <a:latin typeface="Tahoma"/>
                <a:ea typeface="Tahoma"/>
                <a:cs typeface="Tahoma"/>
                <a:sym typeface="Tahoma"/>
              </a:rPr>
              <a:t>ไม่มีสองฝ่ายไล่กัน ไม่ต้องจูนทริกพิเศษ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33"/>
              </a:buClr>
              <a:buSzPts val="1250"/>
              <a:buFont typeface="Tahoma"/>
              <a:buNone/>
            </a:pPr>
            <a:r>
              <a:rPr b="0" i="0" lang="en-US" sz="1250" u="none" cap="none" strike="noStrike">
                <a:solidFill>
                  <a:srgbClr val="1E2733"/>
                </a:solidFill>
                <a:latin typeface="Tahoma"/>
                <a:ea typeface="Tahoma"/>
                <a:cs typeface="Tahoma"/>
                <a:sym typeface="Tahoma"/>
              </a:rPr>
              <a:t>ขยายขนาดโมเดล/ข้อมูลได้ตรง ๆ (scale ได้)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0" name="Google Shape;990;p58"/>
          <p:cNvSpPr/>
          <p:nvPr/>
        </p:nvSpPr>
        <p:spPr>
          <a:xfrm>
            <a:off x="3267456" y="1298448"/>
            <a:ext cx="2609088" cy="1988820"/>
          </a:xfrm>
          <a:prstGeom prst="roundRect">
            <a:avLst>
              <a:gd fmla="val 4598" name="adj"/>
            </a:avLst>
          </a:prstGeom>
          <a:solidFill>
            <a:srgbClr val="DDF1EA"/>
          </a:solidFill>
          <a:ln cap="flat" cmpd="sng" w="12700">
            <a:solidFill>
              <a:srgbClr val="DDF1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1" name="Google Shape;991;p58"/>
          <p:cNvSpPr/>
          <p:nvPr/>
        </p:nvSpPr>
        <p:spPr>
          <a:xfrm>
            <a:off x="3413760" y="1444752"/>
            <a:ext cx="365760" cy="365760"/>
          </a:xfrm>
          <a:prstGeom prst="ellipse">
            <a:avLst/>
          </a:prstGeom>
          <a:solidFill>
            <a:srgbClr val="1D6F5B"/>
          </a:solidFill>
          <a:ln cap="flat" cmpd="sng" w="12700">
            <a:solidFill>
              <a:srgbClr val="1D6F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2" name="Google Shape;992;p58"/>
          <p:cNvSpPr txBox="1"/>
          <p:nvPr/>
        </p:nvSpPr>
        <p:spPr>
          <a:xfrm>
            <a:off x="3413760" y="1444752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ahoma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3" name="Google Shape;993;p58"/>
          <p:cNvSpPr txBox="1"/>
          <p:nvPr/>
        </p:nvSpPr>
        <p:spPr>
          <a:xfrm>
            <a:off x="3870960" y="1426464"/>
            <a:ext cx="18592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6F5B"/>
              </a:buClr>
              <a:buSzPts val="1350"/>
              <a:buFont typeface="Tahoma"/>
              <a:buNone/>
            </a:pPr>
            <a:r>
              <a:rPr b="1" i="0" lang="en-US" sz="1350" u="none" cap="none" strike="noStrike">
                <a:solidFill>
                  <a:srgbClr val="1D6F5B"/>
                </a:solidFill>
                <a:latin typeface="Tahoma"/>
                <a:ea typeface="Tahoma"/>
                <a:cs typeface="Tahoma"/>
                <a:sym typeface="Tahoma"/>
              </a:rPr>
              <a:t>หลากหลาย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4" name="Google Shape;994;p58"/>
          <p:cNvSpPr txBox="1"/>
          <p:nvPr/>
        </p:nvSpPr>
        <p:spPr>
          <a:xfrm>
            <a:off x="3413760" y="1901952"/>
            <a:ext cx="2316480" cy="12755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33"/>
              </a:buClr>
              <a:buSzPts val="1250"/>
              <a:buFont typeface="Tahoma"/>
              <a:buNone/>
            </a:pPr>
            <a:r>
              <a:rPr b="0" i="0" lang="en-US" sz="1250" u="none" cap="none" strike="noStrike">
                <a:solidFill>
                  <a:srgbClr val="1E2733"/>
                </a:solidFill>
                <a:latin typeface="Tahoma"/>
                <a:ea typeface="Tahoma"/>
                <a:cs typeface="Tahoma"/>
                <a:sym typeface="Tahoma"/>
              </a:rPr>
              <a:t>ไม่มี mode collapse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33"/>
              </a:buClr>
              <a:buSzPts val="1250"/>
              <a:buFont typeface="Tahoma"/>
              <a:buNone/>
            </a:pPr>
            <a:r>
              <a:rPr b="0" i="0" lang="en-US" sz="1250" u="none" cap="none" strike="noStrike">
                <a:solidFill>
                  <a:srgbClr val="1E2733"/>
                </a:solidFill>
                <a:latin typeface="Tahoma"/>
                <a:ea typeface="Tahoma"/>
                <a:cs typeface="Tahoma"/>
                <a:sym typeface="Tahoma"/>
              </a:rPr>
              <a:t>ทุกภาพจริงถูก 'ทำลาย' และ 'กู้คืน' ตอนเทรน → โมเดลต้องครอบคลุมทุกแบบ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33"/>
              </a:buClr>
              <a:buSzPts val="1250"/>
              <a:buFont typeface="Tahoma"/>
              <a:buNone/>
            </a:pPr>
            <a:r>
              <a:rPr b="0" i="0" lang="en-US" sz="1250" u="none" cap="none" strike="noStrike">
                <a:solidFill>
                  <a:srgbClr val="1E2733"/>
                </a:solidFill>
                <a:latin typeface="Tahoma"/>
                <a:ea typeface="Tahoma"/>
                <a:cs typeface="Tahoma"/>
                <a:sym typeface="Tahoma"/>
              </a:rPr>
              <a:t>ความหลากหลายมาจาก noise ตั้งต้นโดยตรง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5" name="Google Shape;995;p58"/>
          <p:cNvSpPr/>
          <p:nvPr/>
        </p:nvSpPr>
        <p:spPr>
          <a:xfrm>
            <a:off x="6077712" y="1298448"/>
            <a:ext cx="2609088" cy="1988820"/>
          </a:xfrm>
          <a:prstGeom prst="roundRect">
            <a:avLst>
              <a:gd fmla="val 4598" name="adj"/>
            </a:avLst>
          </a:prstGeom>
          <a:solidFill>
            <a:srgbClr val="FCF0D9"/>
          </a:solidFill>
          <a:ln cap="flat" cmpd="sng" w="12700">
            <a:solidFill>
              <a:srgbClr val="FCF0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6" name="Google Shape;996;p58"/>
          <p:cNvSpPr/>
          <p:nvPr/>
        </p:nvSpPr>
        <p:spPr>
          <a:xfrm>
            <a:off x="6224016" y="1444752"/>
            <a:ext cx="365760" cy="365760"/>
          </a:xfrm>
          <a:prstGeom prst="ellipse">
            <a:avLst/>
          </a:prstGeom>
          <a:solidFill>
            <a:srgbClr val="B7791F"/>
          </a:solidFill>
          <a:ln cap="flat" cmpd="sng" w="12700">
            <a:solidFill>
              <a:srgbClr val="B779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7" name="Google Shape;997;p58"/>
          <p:cNvSpPr txBox="1"/>
          <p:nvPr/>
        </p:nvSpPr>
        <p:spPr>
          <a:xfrm>
            <a:off x="6224016" y="1444752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ahoma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8" name="Google Shape;998;p58"/>
          <p:cNvSpPr txBox="1"/>
          <p:nvPr/>
        </p:nvSpPr>
        <p:spPr>
          <a:xfrm>
            <a:off x="6681216" y="1426464"/>
            <a:ext cx="18592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791F"/>
              </a:buClr>
              <a:buSzPts val="1350"/>
              <a:buFont typeface="Tahoma"/>
              <a:buNone/>
            </a:pPr>
            <a:r>
              <a:rPr b="1" i="0" lang="en-US" sz="1350" u="none" cap="none" strike="noStrike">
                <a:solidFill>
                  <a:srgbClr val="B7791F"/>
                </a:solidFill>
                <a:latin typeface="Tahoma"/>
                <a:ea typeface="Tahoma"/>
                <a:cs typeface="Tahoma"/>
                <a:sym typeface="Tahoma"/>
              </a:rPr>
              <a:t>ควบคุมง่าย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9" name="Google Shape;999;p58"/>
          <p:cNvSpPr txBox="1"/>
          <p:nvPr/>
        </p:nvSpPr>
        <p:spPr>
          <a:xfrm>
            <a:off x="6224016" y="1901952"/>
            <a:ext cx="2316480" cy="12755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33"/>
              </a:buClr>
              <a:buSzPts val="1250"/>
              <a:buFont typeface="Tahoma"/>
              <a:buNone/>
            </a:pPr>
            <a:r>
              <a:rPr b="0" i="0" lang="en-US" sz="1250" u="none" cap="none" strike="noStrike">
                <a:solidFill>
                  <a:srgbClr val="1E2733"/>
                </a:solidFill>
                <a:latin typeface="Tahoma"/>
                <a:ea typeface="Tahoma"/>
                <a:cs typeface="Tahoma"/>
                <a:sym typeface="Tahoma"/>
              </a:rPr>
              <a:t>ใส่เงื่อนไข (ป้าย ข้อความ ภาพร่าง) เข้า U-Net ได้ตรง ๆ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33"/>
              </a:buClr>
              <a:buSzPts val="1250"/>
              <a:buFont typeface="Tahoma"/>
              <a:buNone/>
            </a:pPr>
            <a:r>
              <a:rPr b="0" i="0" lang="en-US" sz="1250" u="none" cap="none" strike="noStrike">
                <a:solidFill>
                  <a:srgbClr val="1E2733"/>
                </a:solidFill>
                <a:latin typeface="Tahoma"/>
                <a:ea typeface="Tahoma"/>
                <a:cs typeface="Tahoma"/>
                <a:sym typeface="Tahoma"/>
              </a:rPr>
              <a:t>แก้ไขภาพได้โดยเริ่มจากกลางทาง (img2img)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33"/>
              </a:buClr>
              <a:buSzPts val="1250"/>
              <a:buFont typeface="Tahoma"/>
              <a:buNone/>
            </a:pPr>
            <a:r>
              <a:rPr b="0" i="0" lang="en-US" sz="1250" u="none" cap="none" strike="noStrike">
                <a:solidFill>
                  <a:srgbClr val="1E2733"/>
                </a:solidFill>
                <a:latin typeface="Tahoma"/>
                <a:ea typeface="Tahoma"/>
                <a:cs typeface="Tahoma"/>
                <a:sym typeface="Tahoma"/>
              </a:rPr>
              <a:t>เปลี่ยนวิธีเดิน (DDIM) ได้โดยไม่เทรนใหม่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week4/slides/fig/f_d_curve.png" id="1000" name="Google Shape;1000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0767" y="3424428"/>
            <a:ext cx="2274147" cy="854964"/>
          </a:xfrm>
          <a:prstGeom prst="rect">
            <a:avLst/>
          </a:prstGeom>
          <a:noFill/>
          <a:ln>
            <a:noFill/>
          </a:ln>
        </p:spPr>
      </p:pic>
      <p:sp>
        <p:nvSpPr>
          <p:cNvPr id="1001" name="Google Shape;1001;p58"/>
          <p:cNvSpPr/>
          <p:nvPr/>
        </p:nvSpPr>
        <p:spPr>
          <a:xfrm>
            <a:off x="630767" y="3424428"/>
            <a:ext cx="2274147" cy="854964"/>
          </a:xfrm>
          <a:prstGeom prst="rect">
            <a:avLst/>
          </a:prstGeom>
          <a:noFill/>
          <a:ln cap="flat" cmpd="sng" w="9525">
            <a:solidFill>
              <a:srgbClr val="D9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2" name="Google Shape;1002;p58"/>
          <p:cNvSpPr txBox="1"/>
          <p:nvPr/>
        </p:nvSpPr>
        <p:spPr>
          <a:xfrm>
            <a:off x="457200" y="4297680"/>
            <a:ext cx="26212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000"/>
              <a:buFont typeface="Tahoma"/>
              <a:buNone/>
            </a:pPr>
            <a:r>
              <a:rPr b="1" i="0" lang="en-US" sz="1000" u="none" cap="none" strike="noStrike">
                <a:solidFill>
                  <a:srgbClr val="1F3864"/>
                </a:solidFill>
                <a:latin typeface="Tahoma"/>
                <a:ea typeface="Tahoma"/>
                <a:cs typeface="Tahoma"/>
                <a:sym typeface="Tahoma"/>
              </a:rPr>
              <a:t>loss ลดเรียบ (เทรนจริง)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week4/slides/fig/t_diff6.png" id="1003" name="Google Shape;1003;p5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23882" y="3424428"/>
            <a:ext cx="1296236" cy="854964"/>
          </a:xfrm>
          <a:prstGeom prst="rect">
            <a:avLst/>
          </a:prstGeom>
          <a:noFill/>
          <a:ln>
            <a:noFill/>
          </a:ln>
        </p:spPr>
      </p:pic>
      <p:sp>
        <p:nvSpPr>
          <p:cNvPr id="1004" name="Google Shape;1004;p58"/>
          <p:cNvSpPr/>
          <p:nvPr/>
        </p:nvSpPr>
        <p:spPr>
          <a:xfrm>
            <a:off x="3923882" y="3424428"/>
            <a:ext cx="1296236" cy="854964"/>
          </a:xfrm>
          <a:prstGeom prst="rect">
            <a:avLst/>
          </a:prstGeom>
          <a:noFill/>
          <a:ln cap="flat" cmpd="sng" w="9525">
            <a:solidFill>
              <a:srgbClr val="D9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5" name="Google Shape;1005;p58"/>
          <p:cNvSpPr txBox="1"/>
          <p:nvPr/>
        </p:nvSpPr>
        <p:spPr>
          <a:xfrm>
            <a:off x="3261360" y="4297680"/>
            <a:ext cx="26212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000"/>
              <a:buFont typeface="Tahoma"/>
              <a:buNone/>
            </a:pPr>
            <a:r>
              <a:rPr b="1" i="0" lang="en-US" sz="1000" u="none" cap="none" strike="noStrike">
                <a:solidFill>
                  <a:srgbClr val="1F3864"/>
                </a:solidFill>
                <a:latin typeface="Tahoma"/>
                <a:ea typeface="Tahoma"/>
                <a:cs typeface="Tahoma"/>
                <a:sym typeface="Tahoma"/>
              </a:rPr>
              <a:t>ภาพจาก diffusion ของเรา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week4/slides/fig/f_d_cfg.png" id="1006" name="Google Shape;1006;p5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77914" y="3424428"/>
            <a:ext cx="2196493" cy="854964"/>
          </a:xfrm>
          <a:prstGeom prst="rect">
            <a:avLst/>
          </a:prstGeom>
          <a:noFill/>
          <a:ln>
            <a:noFill/>
          </a:ln>
        </p:spPr>
      </p:pic>
      <p:sp>
        <p:nvSpPr>
          <p:cNvPr id="1007" name="Google Shape;1007;p58"/>
          <p:cNvSpPr/>
          <p:nvPr/>
        </p:nvSpPr>
        <p:spPr>
          <a:xfrm>
            <a:off x="6277914" y="3424428"/>
            <a:ext cx="2196493" cy="854964"/>
          </a:xfrm>
          <a:prstGeom prst="rect">
            <a:avLst/>
          </a:prstGeom>
          <a:noFill/>
          <a:ln cap="flat" cmpd="sng" w="9525">
            <a:solidFill>
              <a:srgbClr val="D9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8" name="Google Shape;1008;p58"/>
          <p:cNvSpPr txBox="1"/>
          <p:nvPr/>
        </p:nvSpPr>
        <p:spPr>
          <a:xfrm>
            <a:off x="6065520" y="4297680"/>
            <a:ext cx="26212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000"/>
              <a:buFont typeface="Tahoma"/>
              <a:buNone/>
            </a:pPr>
            <a:r>
              <a:rPr b="1" i="0" lang="en-US" sz="1000" u="none" cap="none" strike="noStrike">
                <a:solidFill>
                  <a:srgbClr val="1F3864"/>
                </a:solidFill>
                <a:latin typeface="Tahoma"/>
                <a:ea typeface="Tahoma"/>
                <a:cs typeface="Tahoma"/>
                <a:sym typeface="Tahoma"/>
              </a:rPr>
              <a:t>ปรับ guidance ได้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9" name="Google Shape;1009;p58"/>
          <p:cNvSpPr txBox="1"/>
          <p:nvPr/>
        </p:nvSpPr>
        <p:spPr>
          <a:xfrm>
            <a:off x="457200" y="4576572"/>
            <a:ext cx="78638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4A2"/>
              </a:buClr>
              <a:buSzPts val="800"/>
              <a:buFont typeface="Tahoma"/>
              <a:buNone/>
            </a:pPr>
            <a:r>
              <a:rPr b="0" i="1" lang="en-US" sz="800" u="none" cap="none" strike="noStrike">
                <a:solidFill>
                  <a:srgbClr val="8A94A2"/>
                </a:solidFill>
                <a:latin typeface="Tahoma"/>
                <a:ea typeface="Tahoma"/>
                <a:cs typeface="Tahoma"/>
                <a:sym typeface="Tahoma"/>
              </a:rPr>
              <a:t>ภาพ: diffusion ที่เทรนจริงบน sprite (CPU)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14" name="Shape 10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5" name="Google Shape;1015;p59"/>
          <p:cNvSpPr txBox="1"/>
          <p:nvPr/>
        </p:nvSpPr>
        <p:spPr>
          <a:xfrm>
            <a:off x="457200" y="4814316"/>
            <a:ext cx="5486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3AE"/>
              </a:buClr>
              <a:buSzPts val="900"/>
              <a:buFont typeface="Tahoma"/>
              <a:buNone/>
            </a:pPr>
            <a:r>
              <a:rPr b="0" i="0" lang="en-US" sz="900" u="none" cap="none" strike="noStrike">
                <a:solidFill>
                  <a:srgbClr val="9AA3AE"/>
                </a:solidFill>
                <a:latin typeface="Tahoma"/>
                <a:ea typeface="Tahoma"/>
                <a:cs typeface="Tahoma"/>
                <a:sym typeface="Tahoma"/>
              </a:rPr>
              <a:t>LLM &amp; Agentic AI · สัปดาห์ 4 · ช่วงเช้า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6" name="Google Shape;1016;p59"/>
          <p:cNvSpPr/>
          <p:nvPr/>
        </p:nvSpPr>
        <p:spPr>
          <a:xfrm>
            <a:off x="8357616" y="4759452"/>
            <a:ext cx="329184" cy="329184"/>
          </a:xfrm>
          <a:prstGeom prst="ellipse">
            <a:avLst/>
          </a:prstGeom>
          <a:solidFill>
            <a:srgbClr val="1F3864"/>
          </a:solidFill>
          <a:ln cap="flat" cmpd="sng" w="12700">
            <a:solidFill>
              <a:srgbClr val="1F38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7" name="Google Shape;1017;p59"/>
          <p:cNvSpPr txBox="1"/>
          <p:nvPr/>
        </p:nvSpPr>
        <p:spPr>
          <a:xfrm>
            <a:off x="8357616" y="4759452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Tahoma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59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8" name="Google Shape;1018;p59"/>
          <p:cNvSpPr/>
          <p:nvPr/>
        </p:nvSpPr>
        <p:spPr>
          <a:xfrm>
            <a:off x="457200" y="256032"/>
            <a:ext cx="1303020" cy="274320"/>
          </a:xfrm>
          <a:prstGeom prst="roundRect">
            <a:avLst>
              <a:gd fmla="val 50000" name="adj"/>
            </a:avLst>
          </a:prstGeom>
          <a:solidFill>
            <a:srgbClr val="DDF1EA"/>
          </a:solidFill>
          <a:ln cap="flat" cmpd="sng" w="12700">
            <a:solidFill>
              <a:srgbClr val="DDF1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9" name="Google Shape;1019;p59"/>
          <p:cNvSpPr txBox="1"/>
          <p:nvPr/>
        </p:nvSpPr>
        <p:spPr>
          <a:xfrm>
            <a:off x="457200" y="256032"/>
            <a:ext cx="13030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6F5B"/>
              </a:buClr>
              <a:buSzPts val="1000"/>
              <a:buFont typeface="Tahoma"/>
              <a:buNone/>
            </a:pPr>
            <a:r>
              <a:rPr b="1" i="0" lang="en-US" sz="1000" u="none" cap="none" strike="noStrike">
                <a:solidFill>
                  <a:srgbClr val="1D6F5B"/>
                </a:solidFill>
                <a:latin typeface="Tahoma"/>
                <a:ea typeface="Tahoma"/>
                <a:cs typeface="Tahoma"/>
                <a:sym typeface="Tahoma"/>
              </a:rPr>
              <a:t>4 · Diffusion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0" name="Google Shape;1020;p59"/>
          <p:cNvSpPr txBox="1"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2400"/>
              <a:buFont typeface="Tahoma"/>
              <a:buNone/>
            </a:pPr>
            <a:r>
              <a:rPr b="1" i="0" lang="en-US" sz="2400" u="none" cap="none" strike="noStrike">
                <a:solidFill>
                  <a:srgbClr val="1F3864"/>
                </a:solidFill>
                <a:latin typeface="Tahoma"/>
                <a:ea typeface="Tahoma"/>
                <a:cs typeface="Tahoma"/>
                <a:sym typeface="Tahoma"/>
              </a:rPr>
              <a:t>ราคาที่ต้องจ่าย: ช้า — และ 3 วิธีแก้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1" name="Google Shape;1021;p59"/>
          <p:cNvSpPr/>
          <p:nvPr/>
        </p:nvSpPr>
        <p:spPr>
          <a:xfrm>
            <a:off x="457200" y="1298448"/>
            <a:ext cx="2609088" cy="2139696"/>
          </a:xfrm>
          <a:prstGeom prst="roundRect">
            <a:avLst>
              <a:gd fmla="val 4274" name="adj"/>
            </a:avLst>
          </a:prstGeom>
          <a:solidFill>
            <a:srgbClr val="E4ECF7"/>
          </a:solidFill>
          <a:ln cap="flat" cmpd="sng" w="12700">
            <a:solidFill>
              <a:srgbClr val="E4EC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2" name="Google Shape;1022;p59"/>
          <p:cNvSpPr/>
          <p:nvPr/>
        </p:nvSpPr>
        <p:spPr>
          <a:xfrm>
            <a:off x="603504" y="1444752"/>
            <a:ext cx="365760" cy="365760"/>
          </a:xfrm>
          <a:prstGeom prst="ellipse">
            <a:avLst/>
          </a:prstGeom>
          <a:solidFill>
            <a:srgbClr val="1F3864"/>
          </a:solidFill>
          <a:ln cap="flat" cmpd="sng" w="12700">
            <a:solidFill>
              <a:srgbClr val="1F38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3" name="Google Shape;1023;p59"/>
          <p:cNvSpPr txBox="1"/>
          <p:nvPr/>
        </p:nvSpPr>
        <p:spPr>
          <a:xfrm>
            <a:off x="603504" y="1444752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ahoma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4" name="Google Shape;1024;p59"/>
          <p:cNvSpPr txBox="1"/>
          <p:nvPr/>
        </p:nvSpPr>
        <p:spPr>
          <a:xfrm>
            <a:off x="1060704" y="1426464"/>
            <a:ext cx="18592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300"/>
              <a:buFont typeface="Tahoma"/>
              <a:buNone/>
            </a:pPr>
            <a:r>
              <a:rPr b="1" i="0" lang="en-US" sz="1300" u="none" cap="none" strike="noStrike">
                <a:solidFill>
                  <a:srgbClr val="1F3864"/>
                </a:solidFill>
                <a:latin typeface="Tahoma"/>
                <a:ea typeface="Tahoma"/>
                <a:cs typeface="Tahoma"/>
                <a:sym typeface="Tahoma"/>
              </a:rPr>
              <a:t>DDIM / sampler ใหม่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5" name="Google Shape;1025;p59"/>
          <p:cNvSpPr txBox="1"/>
          <p:nvPr/>
        </p:nvSpPr>
        <p:spPr>
          <a:xfrm>
            <a:off x="603504" y="1901952"/>
            <a:ext cx="2316480" cy="14264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33"/>
              </a:buClr>
              <a:buSzPts val="1200"/>
              <a:buFont typeface="Tahoma"/>
              <a:buNone/>
            </a:pPr>
            <a:r>
              <a:rPr b="0" i="0" lang="en-US" sz="1200" u="none" cap="none" strike="noStrike">
                <a:solidFill>
                  <a:srgbClr val="1E2733"/>
                </a:solidFill>
                <a:latin typeface="Tahoma"/>
                <a:ea typeface="Tahoma"/>
                <a:cs typeface="Tahoma"/>
                <a:sym typeface="Tahoma"/>
              </a:rPr>
              <a:t>ลดจาก 1,000 ก้าวเหลือ 20–50 โดยไม่เทรนใหม่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33"/>
              </a:buClr>
              <a:buSzPts val="1200"/>
              <a:buFont typeface="Tahoma"/>
              <a:buNone/>
            </a:pPr>
            <a:r>
              <a:rPr b="0" i="0" lang="en-US" sz="1200" u="none" cap="none" strike="noStrike">
                <a:solidFill>
                  <a:srgbClr val="1E2733"/>
                </a:solidFill>
                <a:latin typeface="Tahoma"/>
                <a:ea typeface="Tahoma"/>
                <a:cs typeface="Tahoma"/>
                <a:sym typeface="Tahoma"/>
              </a:rPr>
              <a:t>(ทำวันนี้ในแล็บ 3)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33"/>
              </a:buClr>
              <a:buSzPts val="1200"/>
              <a:buFont typeface="Tahoma"/>
              <a:buNone/>
            </a:pPr>
            <a:r>
              <a:rPr b="0" i="0" lang="en-US" sz="1200" u="none" cap="none" strike="noStrike">
                <a:solidFill>
                  <a:srgbClr val="1E2733"/>
                </a:solidFill>
                <a:latin typeface="Tahoma"/>
                <a:ea typeface="Tahoma"/>
                <a:cs typeface="Tahoma"/>
                <a:sym typeface="Tahoma"/>
              </a:rPr>
              <a:t>sampler รุ่นใหม่ (DPM-Solver, Euler) ลงได้ถึง ~10 ก้าว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6" name="Google Shape;1026;p59"/>
          <p:cNvSpPr/>
          <p:nvPr/>
        </p:nvSpPr>
        <p:spPr>
          <a:xfrm>
            <a:off x="3267456" y="1298448"/>
            <a:ext cx="2609088" cy="2139696"/>
          </a:xfrm>
          <a:prstGeom prst="roundRect">
            <a:avLst>
              <a:gd fmla="val 4274" name="adj"/>
            </a:avLst>
          </a:prstGeom>
          <a:solidFill>
            <a:srgbClr val="DDF1EA"/>
          </a:solidFill>
          <a:ln cap="flat" cmpd="sng" w="12700">
            <a:solidFill>
              <a:srgbClr val="DDF1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7" name="Google Shape;1027;p59"/>
          <p:cNvSpPr/>
          <p:nvPr/>
        </p:nvSpPr>
        <p:spPr>
          <a:xfrm>
            <a:off x="3413760" y="1444752"/>
            <a:ext cx="365760" cy="365760"/>
          </a:xfrm>
          <a:prstGeom prst="ellipse">
            <a:avLst/>
          </a:prstGeom>
          <a:solidFill>
            <a:srgbClr val="1D6F5B"/>
          </a:solidFill>
          <a:ln cap="flat" cmpd="sng" w="12700">
            <a:solidFill>
              <a:srgbClr val="1D6F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8" name="Google Shape;1028;p59"/>
          <p:cNvSpPr txBox="1"/>
          <p:nvPr/>
        </p:nvSpPr>
        <p:spPr>
          <a:xfrm>
            <a:off x="3413760" y="1444752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ahoma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9" name="Google Shape;1029;p59"/>
          <p:cNvSpPr txBox="1"/>
          <p:nvPr/>
        </p:nvSpPr>
        <p:spPr>
          <a:xfrm>
            <a:off x="3870960" y="1426464"/>
            <a:ext cx="18592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6F5B"/>
              </a:buClr>
              <a:buSzPts val="1300"/>
              <a:buFont typeface="Tahoma"/>
              <a:buNone/>
            </a:pPr>
            <a:r>
              <a:rPr b="1" i="0" lang="en-US" sz="1300" u="none" cap="none" strike="noStrike">
                <a:solidFill>
                  <a:srgbClr val="1D6F5B"/>
                </a:solidFill>
                <a:latin typeface="Tahoma"/>
                <a:ea typeface="Tahoma"/>
                <a:cs typeface="Tahoma"/>
                <a:sym typeface="Tahoma"/>
              </a:rPr>
              <a:t>Latent diffusion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0" name="Google Shape;1030;p59"/>
          <p:cNvSpPr txBox="1"/>
          <p:nvPr/>
        </p:nvSpPr>
        <p:spPr>
          <a:xfrm>
            <a:off x="3413760" y="1901952"/>
            <a:ext cx="2316480" cy="14264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33"/>
              </a:buClr>
              <a:buSzPts val="1200"/>
              <a:buFont typeface="Tahoma"/>
              <a:buNone/>
            </a:pPr>
            <a:r>
              <a:rPr b="0" i="0" lang="en-US" sz="1200" u="none" cap="none" strike="noStrike">
                <a:solidFill>
                  <a:srgbClr val="1E2733"/>
                </a:solidFill>
                <a:latin typeface="Tahoma"/>
                <a:ea typeface="Tahoma"/>
                <a:cs typeface="Tahoma"/>
                <a:sym typeface="Tahoma"/>
              </a:rPr>
              <a:t>เอา VAE บีบภาพก่อน 512×512 → 64×64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33"/>
              </a:buClr>
              <a:buSzPts val="1200"/>
              <a:buFont typeface="Tahoma"/>
              <a:buNone/>
            </a:pPr>
            <a:r>
              <a:rPr b="0" i="0" lang="en-US" sz="1200" u="none" cap="none" strike="noStrike">
                <a:solidFill>
                  <a:srgbClr val="1E2733"/>
                </a:solidFill>
                <a:latin typeface="Tahoma"/>
                <a:ea typeface="Tahoma"/>
                <a:cs typeface="Tahoma"/>
                <a:sym typeface="Tahoma"/>
              </a:rPr>
              <a:t>แล้วค่อย diffuse บน latent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33"/>
              </a:buClr>
              <a:buSzPts val="1200"/>
              <a:buFont typeface="Tahoma"/>
              <a:buNone/>
            </a:pPr>
            <a:r>
              <a:rPr b="0" i="0" lang="en-US" sz="1200" u="none" cap="none" strike="noStrike">
                <a:solidFill>
                  <a:srgbClr val="1E2733"/>
                </a:solidFill>
                <a:latin typeface="Tahoma"/>
                <a:ea typeface="Tahoma"/>
                <a:cs typeface="Tahoma"/>
                <a:sym typeface="Tahoma"/>
              </a:rPr>
              <a:t>เร็วขึ้นหลายสิบเท่า = Stable Diffusion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33"/>
              </a:buClr>
              <a:buSzPts val="1200"/>
              <a:buFont typeface="Tahoma"/>
              <a:buNone/>
            </a:pPr>
            <a:r>
              <a:rPr b="0" i="0" lang="en-US" sz="1200" u="none" cap="none" strike="noStrike">
                <a:solidFill>
                  <a:srgbClr val="1E2733"/>
                </a:solidFill>
                <a:latin typeface="Tahoma"/>
                <a:ea typeface="Tahoma"/>
                <a:cs typeface="Tahoma"/>
                <a:sym typeface="Tahoma"/>
              </a:rPr>
              <a:t>(สัปดาห์หน้า)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1" name="Google Shape;1031;p59"/>
          <p:cNvSpPr/>
          <p:nvPr/>
        </p:nvSpPr>
        <p:spPr>
          <a:xfrm>
            <a:off x="6077712" y="1298448"/>
            <a:ext cx="2609088" cy="2139696"/>
          </a:xfrm>
          <a:prstGeom prst="roundRect">
            <a:avLst>
              <a:gd fmla="val 4274" name="adj"/>
            </a:avLst>
          </a:prstGeom>
          <a:solidFill>
            <a:srgbClr val="FCF0D9"/>
          </a:solidFill>
          <a:ln cap="flat" cmpd="sng" w="12700">
            <a:solidFill>
              <a:srgbClr val="FCF0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2" name="Google Shape;1032;p59"/>
          <p:cNvSpPr/>
          <p:nvPr/>
        </p:nvSpPr>
        <p:spPr>
          <a:xfrm>
            <a:off x="6224016" y="1444752"/>
            <a:ext cx="365760" cy="365760"/>
          </a:xfrm>
          <a:prstGeom prst="ellipse">
            <a:avLst/>
          </a:prstGeom>
          <a:solidFill>
            <a:srgbClr val="B7791F"/>
          </a:solidFill>
          <a:ln cap="flat" cmpd="sng" w="12700">
            <a:solidFill>
              <a:srgbClr val="B779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3" name="Google Shape;1033;p59"/>
          <p:cNvSpPr txBox="1"/>
          <p:nvPr/>
        </p:nvSpPr>
        <p:spPr>
          <a:xfrm>
            <a:off x="6224016" y="1444752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ahoma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4" name="Google Shape;1034;p59"/>
          <p:cNvSpPr txBox="1"/>
          <p:nvPr/>
        </p:nvSpPr>
        <p:spPr>
          <a:xfrm>
            <a:off x="6681216" y="1426464"/>
            <a:ext cx="18592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791F"/>
              </a:buClr>
              <a:buSzPts val="1300"/>
              <a:buFont typeface="Tahoma"/>
              <a:buNone/>
            </a:pPr>
            <a:r>
              <a:rPr b="1" i="0" lang="en-US" sz="1300" u="none" cap="none" strike="noStrike">
                <a:solidFill>
                  <a:srgbClr val="B7791F"/>
                </a:solidFill>
                <a:latin typeface="Tahoma"/>
                <a:ea typeface="Tahoma"/>
                <a:cs typeface="Tahoma"/>
                <a:sym typeface="Tahoma"/>
              </a:rPr>
              <a:t>Distillation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5" name="Google Shape;1035;p59"/>
          <p:cNvSpPr txBox="1"/>
          <p:nvPr/>
        </p:nvSpPr>
        <p:spPr>
          <a:xfrm>
            <a:off x="6224016" y="1901952"/>
            <a:ext cx="2316480" cy="14264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33"/>
              </a:buClr>
              <a:buSzPts val="1200"/>
              <a:buFont typeface="Tahoma"/>
              <a:buNone/>
            </a:pPr>
            <a:r>
              <a:rPr b="0" i="0" lang="en-US" sz="1200" u="none" cap="none" strike="noStrike">
                <a:solidFill>
                  <a:srgbClr val="1E2733"/>
                </a:solidFill>
                <a:latin typeface="Tahoma"/>
                <a:ea typeface="Tahoma"/>
                <a:cs typeface="Tahoma"/>
                <a:sym typeface="Tahoma"/>
              </a:rPr>
              <a:t>เทรนโมเดลลูกให้เดิน 1–4 ก้าวเลียนแบบโมเดลแม่ 50 ก้าว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33"/>
              </a:buClr>
              <a:buSzPts val="1200"/>
              <a:buFont typeface="Tahoma"/>
              <a:buNone/>
            </a:pPr>
            <a:r>
              <a:rPr b="0" i="0" lang="en-US" sz="1200" u="none" cap="none" strike="noStrike">
                <a:solidFill>
                  <a:srgbClr val="1E2733"/>
                </a:solidFill>
                <a:latin typeface="Tahoma"/>
                <a:ea typeface="Tahoma"/>
                <a:cs typeface="Tahoma"/>
                <a:sym typeface="Tahoma"/>
              </a:rPr>
              <a:t>SD-Turbo, SDXL-Lightning, Flux Schnell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33"/>
              </a:buClr>
              <a:buSzPts val="1200"/>
              <a:buFont typeface="Tahoma"/>
              <a:buNone/>
            </a:pPr>
            <a:r>
              <a:rPr b="0" i="0" lang="en-US" sz="1200" u="none" cap="none" strike="noStrike">
                <a:solidFill>
                  <a:srgbClr val="1E2733"/>
                </a:solidFill>
                <a:latin typeface="Tahoma"/>
                <a:ea typeface="Tahoma"/>
                <a:cs typeface="Tahoma"/>
                <a:sym typeface="Tahoma"/>
              </a:rPr>
              <a:t>(กล่าวถึงสัปดาห์หน้า)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week4/slides/fig/f_d_ddim.png" id="1036" name="Google Shape;1036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65080" y="3575304"/>
            <a:ext cx="1607600" cy="7040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7" name="Google Shape;1037;p59"/>
          <p:cNvSpPr/>
          <p:nvPr/>
        </p:nvSpPr>
        <p:spPr>
          <a:xfrm>
            <a:off x="1665080" y="3575304"/>
            <a:ext cx="1607600" cy="704088"/>
          </a:xfrm>
          <a:prstGeom prst="rect">
            <a:avLst/>
          </a:prstGeom>
          <a:noFill/>
          <a:ln cap="flat" cmpd="sng" w="9525">
            <a:solidFill>
              <a:srgbClr val="D9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8" name="Google Shape;1038;p59"/>
          <p:cNvSpPr txBox="1"/>
          <p:nvPr/>
        </p:nvSpPr>
        <p:spPr>
          <a:xfrm>
            <a:off x="457200" y="4297680"/>
            <a:ext cx="40233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000"/>
              <a:buFont typeface="Tahoma"/>
              <a:buNone/>
            </a:pPr>
            <a:r>
              <a:rPr b="1" i="0" lang="en-US" sz="1000" u="none" cap="none" strike="noStrike">
                <a:solidFill>
                  <a:srgbClr val="1F3864"/>
                </a:solidFill>
                <a:latin typeface="Tahoma"/>
                <a:ea typeface="Tahoma"/>
                <a:cs typeface="Tahoma"/>
                <a:sym typeface="Tahoma"/>
              </a:rPr>
              <a:t>DDPM vs DDIM (เวลาจริงบน CPU)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week4/slides/fig/f_sd_simple.png" id="1039" name="Google Shape;1039;p5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77086" y="3575304"/>
            <a:ext cx="1596067" cy="704088"/>
          </a:xfrm>
          <a:prstGeom prst="rect">
            <a:avLst/>
          </a:prstGeom>
          <a:noFill/>
          <a:ln>
            <a:noFill/>
          </a:ln>
        </p:spPr>
      </p:pic>
      <p:sp>
        <p:nvSpPr>
          <p:cNvPr id="1040" name="Google Shape;1040;p59"/>
          <p:cNvSpPr/>
          <p:nvPr/>
        </p:nvSpPr>
        <p:spPr>
          <a:xfrm>
            <a:off x="5877086" y="3575304"/>
            <a:ext cx="1596067" cy="704088"/>
          </a:xfrm>
          <a:prstGeom prst="rect">
            <a:avLst/>
          </a:prstGeom>
          <a:noFill/>
          <a:ln cap="flat" cmpd="sng" w="9525">
            <a:solidFill>
              <a:srgbClr val="D9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1" name="Google Shape;1041;p59"/>
          <p:cNvSpPr txBox="1"/>
          <p:nvPr/>
        </p:nvSpPr>
        <p:spPr>
          <a:xfrm>
            <a:off x="4663440" y="4297680"/>
            <a:ext cx="40233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000"/>
              <a:buFont typeface="Tahoma"/>
              <a:buNone/>
            </a:pPr>
            <a:r>
              <a:rPr b="1" i="0" lang="en-US" sz="1000" u="none" cap="none" strike="noStrike">
                <a:solidFill>
                  <a:srgbClr val="1F3864"/>
                </a:solidFill>
                <a:latin typeface="Tahoma"/>
                <a:ea typeface="Tahoma"/>
                <a:cs typeface="Tahoma"/>
                <a:sym typeface="Tahoma"/>
              </a:rPr>
              <a:t>Latent diffusion: ทำบน latent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2" name="Google Shape;1042;p59"/>
          <p:cNvSpPr txBox="1"/>
          <p:nvPr/>
        </p:nvSpPr>
        <p:spPr>
          <a:xfrm>
            <a:off x="457200" y="4576572"/>
            <a:ext cx="78638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4A2"/>
              </a:buClr>
              <a:buSzPts val="800"/>
              <a:buFont typeface="Tahoma"/>
              <a:buNone/>
            </a:pPr>
            <a:r>
              <a:rPr b="0" i="1" lang="en-US" sz="800" u="none" cap="none" strike="noStrike">
                <a:solidFill>
                  <a:srgbClr val="8A94A2"/>
                </a:solidFill>
                <a:latin typeface="Tahoma"/>
                <a:ea typeface="Tahoma"/>
                <a:cs typeface="Tahoma"/>
                <a:sym typeface="Tahoma"/>
              </a:rPr>
              <a:t>ภาพ: diffusion ที่เทรนจริงบน sprite (CPU) · ภาพห้องนอนจาก Lecture 4&amp;5 หน้า 52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47" name="Shape 10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" name="Google Shape;1048;p60"/>
          <p:cNvSpPr txBox="1"/>
          <p:nvPr/>
        </p:nvSpPr>
        <p:spPr>
          <a:xfrm>
            <a:off x="457200" y="4814316"/>
            <a:ext cx="5486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3AE"/>
              </a:buClr>
              <a:buSzPts val="900"/>
              <a:buFont typeface="Tahoma"/>
              <a:buNone/>
            </a:pPr>
            <a:r>
              <a:rPr b="0" i="0" lang="en-US" sz="900" u="none" cap="none" strike="noStrike">
                <a:solidFill>
                  <a:srgbClr val="9AA3AE"/>
                </a:solidFill>
                <a:latin typeface="Tahoma"/>
                <a:ea typeface="Tahoma"/>
                <a:cs typeface="Tahoma"/>
                <a:sym typeface="Tahoma"/>
              </a:rPr>
              <a:t>LLM &amp; Agentic AI · สัปดาห์ 4 · ช่วงเช้า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9" name="Google Shape;1049;p60"/>
          <p:cNvSpPr/>
          <p:nvPr/>
        </p:nvSpPr>
        <p:spPr>
          <a:xfrm>
            <a:off x="8357616" y="4759452"/>
            <a:ext cx="329184" cy="329184"/>
          </a:xfrm>
          <a:prstGeom prst="ellipse">
            <a:avLst/>
          </a:prstGeom>
          <a:solidFill>
            <a:srgbClr val="1F3864"/>
          </a:solidFill>
          <a:ln cap="flat" cmpd="sng" w="12700">
            <a:solidFill>
              <a:srgbClr val="1F38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0" name="Google Shape;1050;p60"/>
          <p:cNvSpPr txBox="1"/>
          <p:nvPr/>
        </p:nvSpPr>
        <p:spPr>
          <a:xfrm>
            <a:off x="8357616" y="4759452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Tahoma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60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1" name="Google Shape;1051;p60"/>
          <p:cNvSpPr/>
          <p:nvPr/>
        </p:nvSpPr>
        <p:spPr>
          <a:xfrm>
            <a:off x="457200" y="256032"/>
            <a:ext cx="1225296" cy="274320"/>
          </a:xfrm>
          <a:prstGeom prst="roundRect">
            <a:avLst>
              <a:gd fmla="val 50000" name="adj"/>
            </a:avLst>
          </a:prstGeom>
          <a:solidFill>
            <a:srgbClr val="DDF1EA"/>
          </a:solidFill>
          <a:ln cap="flat" cmpd="sng" w="12700">
            <a:solidFill>
              <a:srgbClr val="DDF1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2" name="Google Shape;1052;p60"/>
          <p:cNvSpPr txBox="1"/>
          <p:nvPr/>
        </p:nvSpPr>
        <p:spPr>
          <a:xfrm>
            <a:off x="457200" y="256032"/>
            <a:ext cx="122529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6F5B"/>
              </a:buClr>
              <a:buSzPts val="1000"/>
              <a:buFont typeface="Tahoma"/>
              <a:buNone/>
            </a:pPr>
            <a:r>
              <a:rPr b="1" i="0" lang="en-US" sz="1000" u="none" cap="none" strike="noStrike">
                <a:solidFill>
                  <a:srgbClr val="1D6F5B"/>
                </a:solidFill>
                <a:latin typeface="Tahoma"/>
                <a:ea typeface="Tahoma"/>
                <a:cs typeface="Tahoma"/>
                <a:sym typeface="Tahoma"/>
              </a:rPr>
              <a:t>4 · เงื่อนไข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3" name="Google Shape;1053;p60"/>
          <p:cNvSpPr txBox="1"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2400"/>
              <a:buFont typeface="Tahoma"/>
              <a:buNone/>
            </a:pPr>
            <a:r>
              <a:rPr b="1" i="0" lang="en-US" sz="2400" u="none" cap="none" strike="noStrike">
                <a:solidFill>
                  <a:srgbClr val="1F3864"/>
                </a:solidFill>
                <a:latin typeface="Tahoma"/>
                <a:ea typeface="Tahoma"/>
                <a:cs typeface="Tahoma"/>
                <a:sym typeface="Tahoma"/>
              </a:rPr>
              <a:t>ใส่เงื่อนไข: วันนี้ป้ายกลุ่ม สัปดาห์หน้าข้อความ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week4/slides/fig/f_d_cond.png" id="1054" name="Google Shape;1054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25454" y="1252728"/>
            <a:ext cx="6293092" cy="3246120"/>
          </a:xfrm>
          <a:prstGeom prst="rect">
            <a:avLst/>
          </a:prstGeom>
          <a:noFill/>
          <a:ln>
            <a:noFill/>
          </a:ln>
        </p:spPr>
      </p:pic>
      <p:sp>
        <p:nvSpPr>
          <p:cNvPr id="1055" name="Google Shape;1055;p60"/>
          <p:cNvSpPr/>
          <p:nvPr/>
        </p:nvSpPr>
        <p:spPr>
          <a:xfrm>
            <a:off x="1425454" y="1252728"/>
            <a:ext cx="6293092" cy="3246120"/>
          </a:xfrm>
          <a:prstGeom prst="rect">
            <a:avLst/>
          </a:prstGeom>
          <a:noFill/>
          <a:ln cap="flat" cmpd="sng" w="9525">
            <a:solidFill>
              <a:srgbClr val="D9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6" name="Google Shape;1056;p60"/>
          <p:cNvSpPr txBox="1"/>
          <p:nvPr/>
        </p:nvSpPr>
        <p:spPr>
          <a:xfrm>
            <a:off x="457200" y="4576572"/>
            <a:ext cx="78638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4A2"/>
              </a:buClr>
              <a:buSzPts val="800"/>
              <a:buFont typeface="Tahoma"/>
              <a:buNone/>
            </a:pPr>
            <a:r>
              <a:rPr b="0" i="1" lang="en-US" sz="800" u="none" cap="none" strike="noStrike">
                <a:solidFill>
                  <a:srgbClr val="8A94A2"/>
                </a:solidFill>
                <a:latin typeface="Tahoma"/>
                <a:ea typeface="Tahoma"/>
                <a:cs typeface="Tahoma"/>
                <a:sym typeface="Tahoma"/>
              </a:rPr>
              <a:t>ภาพ: ผลรันจริงของแล็บ 3–4 (diffusion บน sprite 10,000 ภาพ, CPU)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61" name="Shape 10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2" name="Google Shape;1062;p61"/>
          <p:cNvSpPr txBox="1"/>
          <p:nvPr/>
        </p:nvSpPr>
        <p:spPr>
          <a:xfrm>
            <a:off x="457200" y="4814316"/>
            <a:ext cx="5486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3AE"/>
              </a:buClr>
              <a:buSzPts val="900"/>
              <a:buFont typeface="Tahoma"/>
              <a:buNone/>
            </a:pPr>
            <a:r>
              <a:rPr b="0" i="0" lang="en-US" sz="900" u="none" cap="none" strike="noStrike">
                <a:solidFill>
                  <a:srgbClr val="9AA3AE"/>
                </a:solidFill>
                <a:latin typeface="Tahoma"/>
                <a:ea typeface="Tahoma"/>
                <a:cs typeface="Tahoma"/>
                <a:sym typeface="Tahoma"/>
              </a:rPr>
              <a:t>LLM &amp; Agentic AI · สัปดาห์ 4 · ช่วงเช้า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3" name="Google Shape;1063;p61"/>
          <p:cNvSpPr/>
          <p:nvPr/>
        </p:nvSpPr>
        <p:spPr>
          <a:xfrm>
            <a:off x="8357616" y="4759452"/>
            <a:ext cx="329184" cy="329184"/>
          </a:xfrm>
          <a:prstGeom prst="ellipse">
            <a:avLst/>
          </a:prstGeom>
          <a:solidFill>
            <a:srgbClr val="1F3864"/>
          </a:solidFill>
          <a:ln cap="flat" cmpd="sng" w="12700">
            <a:solidFill>
              <a:srgbClr val="1F38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4" name="Google Shape;1064;p61"/>
          <p:cNvSpPr txBox="1"/>
          <p:nvPr/>
        </p:nvSpPr>
        <p:spPr>
          <a:xfrm>
            <a:off x="8357616" y="4759452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Tahoma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61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5" name="Google Shape;1065;p61"/>
          <p:cNvSpPr/>
          <p:nvPr/>
        </p:nvSpPr>
        <p:spPr>
          <a:xfrm>
            <a:off x="457200" y="256032"/>
            <a:ext cx="1225296" cy="274320"/>
          </a:xfrm>
          <a:prstGeom prst="roundRect">
            <a:avLst>
              <a:gd fmla="val 50000" name="adj"/>
            </a:avLst>
          </a:prstGeom>
          <a:solidFill>
            <a:srgbClr val="DDF1EA"/>
          </a:solidFill>
          <a:ln cap="flat" cmpd="sng" w="12700">
            <a:solidFill>
              <a:srgbClr val="DDF1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6" name="Google Shape;1066;p61"/>
          <p:cNvSpPr txBox="1"/>
          <p:nvPr/>
        </p:nvSpPr>
        <p:spPr>
          <a:xfrm>
            <a:off x="457200" y="256032"/>
            <a:ext cx="122529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6F5B"/>
              </a:buClr>
              <a:buSzPts val="1000"/>
              <a:buFont typeface="Tahoma"/>
              <a:buNone/>
            </a:pPr>
            <a:r>
              <a:rPr b="1" i="0" lang="en-US" sz="1000" u="none" cap="none" strike="noStrike">
                <a:solidFill>
                  <a:srgbClr val="1D6F5B"/>
                </a:solidFill>
                <a:latin typeface="Tahoma"/>
                <a:ea typeface="Tahoma"/>
                <a:cs typeface="Tahoma"/>
                <a:sym typeface="Tahoma"/>
              </a:rPr>
              <a:t>4 · เงื่อนไข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7" name="Google Shape;1067;p61"/>
          <p:cNvSpPr txBox="1"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2400"/>
              <a:buFont typeface="Tahoma"/>
              <a:buNone/>
            </a:pPr>
            <a:r>
              <a:rPr b="1" i="0" lang="en-US" sz="2400" u="none" cap="none" strike="noStrike">
                <a:solidFill>
                  <a:srgbClr val="1F3864"/>
                </a:solidFill>
                <a:latin typeface="Tahoma"/>
                <a:ea typeface="Tahoma"/>
                <a:cs typeface="Tahoma"/>
                <a:sym typeface="Tahoma"/>
              </a:rPr>
              <a:t>ปุ่ม guidance: ตรงคำสั่งมากขึ้น แต่หลากหลายน้อยลง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week4/slides/fig/f_d_cfg.png" id="1068" name="Google Shape;1068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274141"/>
            <a:ext cx="8229600" cy="3203294"/>
          </a:xfrm>
          <a:prstGeom prst="rect">
            <a:avLst/>
          </a:prstGeom>
          <a:noFill/>
          <a:ln>
            <a:noFill/>
          </a:ln>
        </p:spPr>
      </p:pic>
      <p:sp>
        <p:nvSpPr>
          <p:cNvPr id="1069" name="Google Shape;1069;p61"/>
          <p:cNvSpPr/>
          <p:nvPr/>
        </p:nvSpPr>
        <p:spPr>
          <a:xfrm>
            <a:off x="457200" y="1274141"/>
            <a:ext cx="8229600" cy="3203294"/>
          </a:xfrm>
          <a:prstGeom prst="rect">
            <a:avLst/>
          </a:prstGeom>
          <a:noFill/>
          <a:ln cap="flat" cmpd="sng" w="9525">
            <a:solidFill>
              <a:srgbClr val="D9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0" name="Google Shape;1070;p61"/>
          <p:cNvSpPr txBox="1"/>
          <p:nvPr/>
        </p:nvSpPr>
        <p:spPr>
          <a:xfrm>
            <a:off x="457200" y="4576572"/>
            <a:ext cx="78638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4A2"/>
              </a:buClr>
              <a:buSzPts val="800"/>
              <a:buFont typeface="Tahoma"/>
              <a:buNone/>
            </a:pPr>
            <a:r>
              <a:rPr b="0" i="1" lang="en-US" sz="800" u="none" cap="none" strike="noStrike">
                <a:solidFill>
                  <a:srgbClr val="8A94A2"/>
                </a:solidFill>
                <a:latin typeface="Tahoma"/>
                <a:ea typeface="Tahoma"/>
                <a:cs typeface="Tahoma"/>
                <a:sym typeface="Tahoma"/>
              </a:rPr>
              <a:t>ภาพ: ผลรันจริงของแล็บ 3–4 (diffusion บน sprite 10,000 ภาพ, CPU)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75" name="Shape 10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6" name="Google Shape;1076;p62"/>
          <p:cNvSpPr txBox="1"/>
          <p:nvPr/>
        </p:nvSpPr>
        <p:spPr>
          <a:xfrm>
            <a:off x="457200" y="4814316"/>
            <a:ext cx="5486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3AE"/>
              </a:buClr>
              <a:buSzPts val="900"/>
              <a:buFont typeface="Tahoma"/>
              <a:buNone/>
            </a:pPr>
            <a:r>
              <a:rPr b="0" i="0" lang="en-US" sz="900" u="none" cap="none" strike="noStrike">
                <a:solidFill>
                  <a:srgbClr val="9AA3AE"/>
                </a:solidFill>
                <a:latin typeface="Tahoma"/>
                <a:ea typeface="Tahoma"/>
                <a:cs typeface="Tahoma"/>
                <a:sym typeface="Tahoma"/>
              </a:rPr>
              <a:t>LLM &amp; Agentic AI · สัปดาห์ 4 · ช่วงเช้า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7" name="Google Shape;1077;p62"/>
          <p:cNvSpPr/>
          <p:nvPr/>
        </p:nvSpPr>
        <p:spPr>
          <a:xfrm>
            <a:off x="8357616" y="4759452"/>
            <a:ext cx="329184" cy="329184"/>
          </a:xfrm>
          <a:prstGeom prst="ellipse">
            <a:avLst/>
          </a:prstGeom>
          <a:solidFill>
            <a:srgbClr val="1F3864"/>
          </a:solidFill>
          <a:ln cap="flat" cmpd="sng" w="12700">
            <a:solidFill>
              <a:srgbClr val="1F38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8" name="Google Shape;1078;p62"/>
          <p:cNvSpPr txBox="1"/>
          <p:nvPr/>
        </p:nvSpPr>
        <p:spPr>
          <a:xfrm>
            <a:off x="8357616" y="4759452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Tahoma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62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9" name="Google Shape;1079;p62"/>
          <p:cNvSpPr/>
          <p:nvPr/>
        </p:nvSpPr>
        <p:spPr>
          <a:xfrm>
            <a:off x="457200" y="256032"/>
            <a:ext cx="2080260" cy="274320"/>
          </a:xfrm>
          <a:prstGeom prst="roundRect">
            <a:avLst>
              <a:gd fmla="val 50000" name="adj"/>
            </a:avLst>
          </a:prstGeom>
          <a:solidFill>
            <a:srgbClr val="DDF1EA"/>
          </a:solidFill>
          <a:ln cap="flat" cmpd="sng" w="12700">
            <a:solidFill>
              <a:srgbClr val="DDF1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0" name="Google Shape;1080;p62"/>
          <p:cNvSpPr txBox="1"/>
          <p:nvPr/>
        </p:nvSpPr>
        <p:spPr>
          <a:xfrm>
            <a:off x="457200" y="256032"/>
            <a:ext cx="20802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6F5B"/>
              </a:buClr>
              <a:buSzPts val="1000"/>
              <a:buFont typeface="Tahoma"/>
              <a:buNone/>
            </a:pPr>
            <a:r>
              <a:rPr b="1" i="0" lang="en-US" sz="1000" u="none" cap="none" strike="noStrike">
                <a:solidFill>
                  <a:srgbClr val="1D6F5B"/>
                </a:solidFill>
                <a:latin typeface="Tahoma"/>
                <a:ea typeface="Tahoma"/>
                <a:cs typeface="Tahoma"/>
                <a:sym typeface="Tahoma"/>
              </a:rPr>
              <a:t>4 · สะพานสู่สัปดาห์หน้า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1" name="Google Shape;1081;p62"/>
          <p:cNvSpPr txBox="1"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2400"/>
              <a:buFont typeface="Tahoma"/>
              <a:buNone/>
            </a:pPr>
            <a:r>
              <a:rPr b="1" i="0" lang="en-US" sz="2400" u="none" cap="none" strike="noStrike">
                <a:solidFill>
                  <a:srgbClr val="1F3864"/>
                </a:solidFill>
                <a:latin typeface="Tahoma"/>
                <a:ea typeface="Tahoma"/>
                <a:cs typeface="Tahoma"/>
                <a:sym typeface="Tahoma"/>
              </a:rPr>
              <a:t>ประกอบร่าง: Stable Diffusion = 3 แล็บของวันนี้ต่อกัน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week4/slides/fig/f_sd_overview.png" id="1082" name="Google Shape;1082;p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42694" y="1298448"/>
            <a:ext cx="5658612" cy="2148840"/>
          </a:xfrm>
          <a:prstGeom prst="rect">
            <a:avLst/>
          </a:prstGeom>
          <a:noFill/>
          <a:ln>
            <a:noFill/>
          </a:ln>
        </p:spPr>
      </p:pic>
      <p:sp>
        <p:nvSpPr>
          <p:cNvPr id="1083" name="Google Shape;1083;p62"/>
          <p:cNvSpPr/>
          <p:nvPr/>
        </p:nvSpPr>
        <p:spPr>
          <a:xfrm>
            <a:off x="457200" y="3630168"/>
            <a:ext cx="2621280" cy="1056132"/>
          </a:xfrm>
          <a:prstGeom prst="roundRect">
            <a:avLst>
              <a:gd fmla="val 6926" name="adj"/>
            </a:avLst>
          </a:prstGeom>
          <a:solidFill>
            <a:srgbClr val="E4ECF7"/>
          </a:solidFill>
          <a:ln cap="flat" cmpd="sng" w="12700">
            <a:solidFill>
              <a:srgbClr val="E4EC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4" name="Google Shape;1084;p62"/>
          <p:cNvSpPr/>
          <p:nvPr/>
        </p:nvSpPr>
        <p:spPr>
          <a:xfrm>
            <a:off x="585216" y="3758184"/>
            <a:ext cx="201168" cy="201168"/>
          </a:xfrm>
          <a:prstGeom prst="ellipse">
            <a:avLst/>
          </a:prstGeom>
          <a:solidFill>
            <a:srgbClr val="1F3864"/>
          </a:solidFill>
          <a:ln cap="flat" cmpd="sng" w="12700">
            <a:solidFill>
              <a:srgbClr val="1F38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5" name="Google Shape;1085;p62"/>
          <p:cNvSpPr txBox="1"/>
          <p:nvPr/>
        </p:nvSpPr>
        <p:spPr>
          <a:xfrm>
            <a:off x="868680" y="3703320"/>
            <a:ext cx="2072640" cy="9098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33"/>
              </a:buClr>
              <a:buSzPts val="1200"/>
              <a:buFont typeface="Tahoma"/>
              <a:buNone/>
            </a:pPr>
            <a:r>
              <a:rPr b="0" i="0" lang="en-US" sz="1200" u="none" cap="none" strike="noStrike">
                <a:solidFill>
                  <a:srgbClr val="1E2733"/>
                </a:solidFill>
                <a:latin typeface="Tahoma"/>
                <a:ea typeface="Tahoma"/>
                <a:cs typeface="Tahoma"/>
                <a:sym typeface="Tahoma"/>
              </a:rPr>
              <a:t>แล็บ 1 (VAE): บีบภาพ 512×512 เป็น latent 64×64 และคลายกลับ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6" name="Google Shape;1086;p62"/>
          <p:cNvSpPr/>
          <p:nvPr/>
        </p:nvSpPr>
        <p:spPr>
          <a:xfrm>
            <a:off x="3261360" y="3630168"/>
            <a:ext cx="2621280" cy="1056132"/>
          </a:xfrm>
          <a:prstGeom prst="roundRect">
            <a:avLst>
              <a:gd fmla="val 6926" name="adj"/>
            </a:avLst>
          </a:prstGeom>
          <a:solidFill>
            <a:srgbClr val="DDF1EA"/>
          </a:solidFill>
          <a:ln cap="flat" cmpd="sng" w="12700">
            <a:solidFill>
              <a:srgbClr val="DDF1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7" name="Google Shape;1087;p62"/>
          <p:cNvSpPr/>
          <p:nvPr/>
        </p:nvSpPr>
        <p:spPr>
          <a:xfrm>
            <a:off x="3389376" y="3758184"/>
            <a:ext cx="201168" cy="201168"/>
          </a:xfrm>
          <a:prstGeom prst="ellipse">
            <a:avLst/>
          </a:prstGeom>
          <a:solidFill>
            <a:srgbClr val="1D6F5B"/>
          </a:solidFill>
          <a:ln cap="flat" cmpd="sng" w="12700">
            <a:solidFill>
              <a:srgbClr val="1D6F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8" name="Google Shape;1088;p62"/>
          <p:cNvSpPr txBox="1"/>
          <p:nvPr/>
        </p:nvSpPr>
        <p:spPr>
          <a:xfrm>
            <a:off x="3672840" y="3703320"/>
            <a:ext cx="2072640" cy="9098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33"/>
              </a:buClr>
              <a:buSzPts val="1200"/>
              <a:buFont typeface="Tahoma"/>
              <a:buNone/>
            </a:pPr>
            <a:r>
              <a:rPr b="0" i="0" lang="en-US" sz="1200" u="none" cap="none" strike="noStrike">
                <a:solidFill>
                  <a:srgbClr val="1E2733"/>
                </a:solidFill>
                <a:latin typeface="Tahoma"/>
                <a:ea typeface="Tahoma"/>
                <a:cs typeface="Tahoma"/>
                <a:sym typeface="Tahoma"/>
              </a:rPr>
              <a:t>แล็บ 3 (diffusion): U-Net ทาย noise บน latent 20–50 ก้าว (DDIM)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9" name="Google Shape;1089;p62"/>
          <p:cNvSpPr/>
          <p:nvPr/>
        </p:nvSpPr>
        <p:spPr>
          <a:xfrm>
            <a:off x="6065520" y="3630168"/>
            <a:ext cx="2621280" cy="1056132"/>
          </a:xfrm>
          <a:prstGeom prst="roundRect">
            <a:avLst>
              <a:gd fmla="val 6926" name="adj"/>
            </a:avLst>
          </a:prstGeom>
          <a:solidFill>
            <a:srgbClr val="FCF0D9"/>
          </a:solidFill>
          <a:ln cap="flat" cmpd="sng" w="12700">
            <a:solidFill>
              <a:srgbClr val="FCF0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0" name="Google Shape;1090;p62"/>
          <p:cNvSpPr/>
          <p:nvPr/>
        </p:nvSpPr>
        <p:spPr>
          <a:xfrm>
            <a:off x="6193536" y="3758184"/>
            <a:ext cx="201168" cy="201168"/>
          </a:xfrm>
          <a:prstGeom prst="ellipse">
            <a:avLst/>
          </a:prstGeom>
          <a:solidFill>
            <a:srgbClr val="B7791F"/>
          </a:solidFill>
          <a:ln cap="flat" cmpd="sng" w="12700">
            <a:solidFill>
              <a:srgbClr val="B779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1" name="Google Shape;1091;p62"/>
          <p:cNvSpPr txBox="1"/>
          <p:nvPr/>
        </p:nvSpPr>
        <p:spPr>
          <a:xfrm>
            <a:off x="6477000" y="3703320"/>
            <a:ext cx="2072640" cy="9098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33"/>
              </a:buClr>
              <a:buSzPts val="1200"/>
              <a:buFont typeface="Tahoma"/>
              <a:buNone/>
            </a:pPr>
            <a:r>
              <a:rPr b="0" i="0" lang="en-US" sz="1200" u="none" cap="none" strike="noStrike">
                <a:solidFill>
                  <a:srgbClr val="1E2733"/>
                </a:solidFill>
                <a:latin typeface="Tahoma"/>
                <a:ea typeface="Tahoma"/>
                <a:cs typeface="Tahoma"/>
                <a:sym typeface="Tahoma"/>
              </a:rPr>
              <a:t>แล็บ 4 (เงื่อนไข): แทนป้ายกลุ่มด้วยข้อความผ่าน CLIP + cross-attention (= attention สัปดาห์ 2: Q จากภาพ K/V จากข้อความ)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96" name="Shape 10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7" name="Google Shape;1097;p63"/>
          <p:cNvSpPr txBox="1"/>
          <p:nvPr/>
        </p:nvSpPr>
        <p:spPr>
          <a:xfrm>
            <a:off x="457200" y="4814316"/>
            <a:ext cx="5486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3AE"/>
              </a:buClr>
              <a:buSzPts val="900"/>
              <a:buFont typeface="Tahoma"/>
              <a:buNone/>
            </a:pPr>
            <a:r>
              <a:rPr b="0" i="0" lang="en-US" sz="900" u="none" cap="none" strike="noStrike">
                <a:solidFill>
                  <a:srgbClr val="9AA3AE"/>
                </a:solidFill>
                <a:latin typeface="Tahoma"/>
                <a:ea typeface="Tahoma"/>
                <a:cs typeface="Tahoma"/>
                <a:sym typeface="Tahoma"/>
              </a:rPr>
              <a:t>LLM &amp; Agentic AI · สัปดาห์ 4 · ช่วงเช้า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8" name="Google Shape;1098;p63"/>
          <p:cNvSpPr/>
          <p:nvPr/>
        </p:nvSpPr>
        <p:spPr>
          <a:xfrm>
            <a:off x="8357616" y="4759452"/>
            <a:ext cx="329184" cy="329184"/>
          </a:xfrm>
          <a:prstGeom prst="ellipse">
            <a:avLst/>
          </a:prstGeom>
          <a:solidFill>
            <a:srgbClr val="1F3864"/>
          </a:solidFill>
          <a:ln cap="flat" cmpd="sng" w="12700">
            <a:solidFill>
              <a:srgbClr val="1F38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9" name="Google Shape;1099;p63"/>
          <p:cNvSpPr txBox="1"/>
          <p:nvPr/>
        </p:nvSpPr>
        <p:spPr>
          <a:xfrm>
            <a:off x="8357616" y="4759452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Tahoma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63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0" name="Google Shape;1100;p63"/>
          <p:cNvSpPr/>
          <p:nvPr/>
        </p:nvSpPr>
        <p:spPr>
          <a:xfrm>
            <a:off x="457200" y="256032"/>
            <a:ext cx="2080260" cy="274320"/>
          </a:xfrm>
          <a:prstGeom prst="roundRect">
            <a:avLst>
              <a:gd fmla="val 50000" name="adj"/>
            </a:avLst>
          </a:prstGeom>
          <a:solidFill>
            <a:srgbClr val="DDF1EA"/>
          </a:solidFill>
          <a:ln cap="flat" cmpd="sng" w="12700">
            <a:solidFill>
              <a:srgbClr val="DDF1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1" name="Google Shape;1101;p63"/>
          <p:cNvSpPr txBox="1"/>
          <p:nvPr/>
        </p:nvSpPr>
        <p:spPr>
          <a:xfrm>
            <a:off x="457200" y="256032"/>
            <a:ext cx="20802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6F5B"/>
              </a:buClr>
              <a:buSzPts val="1000"/>
              <a:buFont typeface="Tahoma"/>
              <a:buNone/>
            </a:pPr>
            <a:r>
              <a:rPr b="1" i="0" lang="en-US" sz="1000" u="none" cap="none" strike="noStrike">
                <a:solidFill>
                  <a:srgbClr val="1D6F5B"/>
                </a:solidFill>
                <a:latin typeface="Tahoma"/>
                <a:ea typeface="Tahoma"/>
                <a:cs typeface="Tahoma"/>
                <a:sym typeface="Tahoma"/>
              </a:rPr>
              <a:t>4 · สะพานสู่สัปดาห์หน้า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2" name="Google Shape;1102;p63"/>
          <p:cNvSpPr txBox="1"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2400"/>
              <a:buFont typeface="Tahoma"/>
              <a:buNone/>
            </a:pPr>
            <a:r>
              <a:rPr b="1" i="0" lang="en-US" sz="2400" u="none" cap="none" strike="noStrike">
                <a:solidFill>
                  <a:srgbClr val="1F3864"/>
                </a:solidFill>
                <a:latin typeface="Tahoma"/>
                <a:ea typeface="Tahoma"/>
                <a:cs typeface="Tahoma"/>
                <a:sym typeface="Tahoma"/>
              </a:rPr>
              <a:t>Stable Diffusion: 3 ชิ้นของวันนี้ ทำงานบน latent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week4/slides/fig/f_sd_simple.png" id="1103" name="Google Shape;1103;p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2754" y="1252728"/>
            <a:ext cx="7358493" cy="3246120"/>
          </a:xfrm>
          <a:prstGeom prst="rect">
            <a:avLst/>
          </a:prstGeom>
          <a:noFill/>
          <a:ln>
            <a:noFill/>
          </a:ln>
        </p:spPr>
      </p:pic>
      <p:sp>
        <p:nvSpPr>
          <p:cNvPr id="1104" name="Google Shape;1104;p63"/>
          <p:cNvSpPr/>
          <p:nvPr/>
        </p:nvSpPr>
        <p:spPr>
          <a:xfrm>
            <a:off x="892754" y="1252728"/>
            <a:ext cx="7358493" cy="3246120"/>
          </a:xfrm>
          <a:prstGeom prst="rect">
            <a:avLst/>
          </a:prstGeom>
          <a:noFill/>
          <a:ln cap="flat" cmpd="sng" w="9525">
            <a:solidFill>
              <a:srgbClr val="D9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5" name="Google Shape;1105;p63"/>
          <p:cNvSpPr txBox="1"/>
          <p:nvPr/>
        </p:nvSpPr>
        <p:spPr>
          <a:xfrm>
            <a:off x="457200" y="4576572"/>
            <a:ext cx="78638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4A2"/>
              </a:buClr>
              <a:buSzPts val="800"/>
              <a:buFont typeface="Tahoma"/>
              <a:buNone/>
            </a:pPr>
            <a:r>
              <a:rPr b="0" i="1" lang="en-US" sz="800" u="none" cap="none" strike="noStrike">
                <a:solidFill>
                  <a:srgbClr val="8A94A2"/>
                </a:solidFill>
                <a:latin typeface="Tahoma"/>
                <a:ea typeface="Tahoma"/>
                <a:cs typeface="Tahoma"/>
                <a:sym typeface="Tahoma"/>
              </a:rPr>
              <a:t>ภาพ: แผนภาพย่อจาก Rombach et al. 2022 · ภาพห้องนอนจาก ControlNet (Siyu Zhu Lecture 4&amp;5 หน้า 46, 52)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10" name="Shape 1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1" name="Google Shape;1111;p64"/>
          <p:cNvSpPr txBox="1"/>
          <p:nvPr/>
        </p:nvSpPr>
        <p:spPr>
          <a:xfrm>
            <a:off x="457200" y="4814316"/>
            <a:ext cx="5486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3AE"/>
              </a:buClr>
              <a:buSzPts val="900"/>
              <a:buFont typeface="Tahoma"/>
              <a:buNone/>
            </a:pPr>
            <a:r>
              <a:rPr b="0" i="0" lang="en-US" sz="900" u="none" cap="none" strike="noStrike">
                <a:solidFill>
                  <a:srgbClr val="9AA3AE"/>
                </a:solidFill>
                <a:latin typeface="Tahoma"/>
                <a:ea typeface="Tahoma"/>
                <a:cs typeface="Tahoma"/>
                <a:sym typeface="Tahoma"/>
              </a:rPr>
              <a:t>LLM &amp; Agentic AI · สัปดาห์ 4 · ช่วงเช้า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2" name="Google Shape;1112;p64"/>
          <p:cNvSpPr/>
          <p:nvPr/>
        </p:nvSpPr>
        <p:spPr>
          <a:xfrm>
            <a:off x="8357616" y="4759452"/>
            <a:ext cx="329184" cy="329184"/>
          </a:xfrm>
          <a:prstGeom prst="ellipse">
            <a:avLst/>
          </a:prstGeom>
          <a:solidFill>
            <a:srgbClr val="1F3864"/>
          </a:solidFill>
          <a:ln cap="flat" cmpd="sng" w="12700">
            <a:solidFill>
              <a:srgbClr val="1F38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3" name="Google Shape;1113;p64"/>
          <p:cNvSpPr txBox="1"/>
          <p:nvPr/>
        </p:nvSpPr>
        <p:spPr>
          <a:xfrm>
            <a:off x="8357616" y="4759452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Tahoma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64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4" name="Google Shape;1114;p64"/>
          <p:cNvSpPr/>
          <p:nvPr/>
        </p:nvSpPr>
        <p:spPr>
          <a:xfrm>
            <a:off x="457200" y="256032"/>
            <a:ext cx="603504" cy="274320"/>
          </a:xfrm>
          <a:prstGeom prst="roundRect">
            <a:avLst>
              <a:gd fmla="val 50000" name="adj"/>
            </a:avLst>
          </a:prstGeom>
          <a:solidFill>
            <a:srgbClr val="DDF1EA"/>
          </a:solidFill>
          <a:ln cap="flat" cmpd="sng" w="12700">
            <a:solidFill>
              <a:srgbClr val="DDF1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5" name="Google Shape;1115;p64"/>
          <p:cNvSpPr txBox="1"/>
          <p:nvPr/>
        </p:nvSpPr>
        <p:spPr>
          <a:xfrm>
            <a:off x="457200" y="256032"/>
            <a:ext cx="60350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6F5B"/>
              </a:buClr>
              <a:buSzPts val="1000"/>
              <a:buFont typeface="Tahoma"/>
              <a:buNone/>
            </a:pPr>
            <a:r>
              <a:rPr b="1" i="0" lang="en-US" sz="1000" u="none" cap="none" strike="noStrike">
                <a:solidFill>
                  <a:srgbClr val="1D6F5B"/>
                </a:solidFill>
                <a:latin typeface="Tahoma"/>
                <a:ea typeface="Tahoma"/>
                <a:cs typeface="Tahoma"/>
                <a:sym typeface="Tahoma"/>
              </a:rPr>
              <a:t>สรุป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6" name="Google Shape;1116;p64"/>
          <p:cNvSpPr txBox="1"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2400"/>
              <a:buFont typeface="Tahoma"/>
              <a:buNone/>
            </a:pPr>
            <a:r>
              <a:rPr b="1" i="0" lang="en-US" sz="2400" u="none" cap="none" strike="noStrike">
                <a:solidFill>
                  <a:srgbClr val="1F3864"/>
                </a:solidFill>
                <a:latin typeface="Tahoma"/>
                <a:ea typeface="Tahoma"/>
                <a:cs typeface="Tahoma"/>
                <a:sym typeface="Tahoma"/>
              </a:rPr>
              <a:t>สรุป 3 โมเดล — กลับมาดูตารางตอนเช้าอีกครั้ง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117" name="Google Shape;1117;p64"/>
          <p:cNvGraphicFramePr/>
          <p:nvPr/>
        </p:nvGraphicFramePr>
        <p:xfrm>
          <a:off x="457200" y="129844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{78235127-4059-4FEF-A48D-6CC648F02DD3}</a:tableStyleId>
              </a:tblPr>
              <a:tblGrid>
                <a:gridCol w="1452875"/>
                <a:gridCol w="1452875"/>
                <a:gridCol w="1584950"/>
                <a:gridCol w="1452875"/>
              </a:tblGrid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54875" marB="54875" marR="54875" marL="54875" anchor="ctr">
                    <a:lnL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Tahoma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VAE</a:t>
                      </a:r>
                      <a:endParaRPr sz="11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54875" marB="54875" marR="54875" marL="54875" anchor="ctr">
                    <a:lnL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Tahoma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GAN</a:t>
                      </a:r>
                      <a:endParaRPr sz="11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54875" marB="54875" marR="54875" marL="54875" anchor="ctr">
                    <a:lnL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Tahoma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Diffusion</a:t>
                      </a:r>
                      <a:endParaRPr sz="11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54875" marB="54875" marR="54875" marL="54875" anchor="ctr">
                    <a:lnL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3864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33"/>
                        </a:buClr>
                        <a:buSzPts val="1100"/>
                        <a:buFont typeface="Tahoma"/>
                        <a:buNone/>
                      </a:pPr>
                      <a:r>
                        <a:rPr lang="en-US" sz="1100" u="none" cap="none" strike="noStrike">
                          <a:solidFill>
                            <a:srgbClr val="1E2733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สุ่มภาพอย่างไร</a:t>
                      </a:r>
                      <a:endParaRPr sz="11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54875" marB="54875" marR="54875" marL="54875" anchor="ctr">
                    <a:lnL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33"/>
                        </a:buClr>
                        <a:buSzPts val="1100"/>
                        <a:buFont typeface="Tahoma"/>
                        <a:buNone/>
                      </a:pPr>
                      <a:r>
                        <a:rPr lang="en-US" sz="1100" u="none" cap="none" strike="noStrike">
                          <a:solidFill>
                            <a:srgbClr val="1E2733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z → decoder ทีเดียว</a:t>
                      </a:r>
                      <a:endParaRPr sz="11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54875" marB="54875" marR="54875" marL="54875" anchor="ctr">
                    <a:lnL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33"/>
                        </a:buClr>
                        <a:buSzPts val="1100"/>
                        <a:buFont typeface="Tahoma"/>
                        <a:buNone/>
                      </a:pPr>
                      <a:r>
                        <a:rPr lang="en-US" sz="1100" u="none" cap="none" strike="noStrike">
                          <a:solidFill>
                            <a:srgbClr val="1E2733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z → G ทีเดียว</a:t>
                      </a:r>
                      <a:endParaRPr sz="11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54875" marB="54875" marR="54875" marL="54875" anchor="ctr">
                    <a:lnL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33"/>
                        </a:buClr>
                        <a:buSzPts val="1100"/>
                        <a:buFont typeface="Tahoma"/>
                        <a:buNone/>
                      </a:pPr>
                      <a:r>
                        <a:rPr lang="en-US" sz="1100" u="none" cap="none" strike="noStrike">
                          <a:solidFill>
                            <a:srgbClr val="1E2733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noise → ลบทีละก้าว</a:t>
                      </a:r>
                      <a:endParaRPr sz="11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54875" marB="54875" marR="54875" marL="54875" anchor="ctr">
                    <a:lnL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B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33"/>
                        </a:buClr>
                        <a:buSzPts val="1100"/>
                        <a:buFont typeface="Tahoma"/>
                        <a:buNone/>
                      </a:pPr>
                      <a:r>
                        <a:rPr lang="en-US" sz="1100" u="none" cap="none" strike="noStrike">
                          <a:solidFill>
                            <a:srgbClr val="1E2733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loss</a:t>
                      </a:r>
                      <a:endParaRPr sz="11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54875" marB="54875" marR="54875" marL="54875" anchor="ctr">
                    <a:lnL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33"/>
                        </a:buClr>
                        <a:buSzPts val="1100"/>
                        <a:buFont typeface="Tahoma"/>
                        <a:buNone/>
                      </a:pPr>
                      <a:r>
                        <a:rPr lang="en-US" sz="1100" u="none" cap="none" strike="noStrike">
                          <a:solidFill>
                            <a:srgbClr val="1E2733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MSE + KL (นิ่ง)</a:t>
                      </a:r>
                      <a:endParaRPr sz="11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54875" marB="54875" marR="54875" marL="54875" anchor="ctr">
                    <a:lnL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33"/>
                        </a:buClr>
                        <a:buSzPts val="1100"/>
                        <a:buFont typeface="Tahoma"/>
                        <a:buNone/>
                      </a:pPr>
                      <a:r>
                        <a:rPr lang="en-US" sz="1100" u="none" cap="none" strike="noStrike">
                          <a:solidFill>
                            <a:srgbClr val="1E2733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สองฝ่ายสู้กัน (แกว่ง)</a:t>
                      </a:r>
                      <a:endParaRPr sz="11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54875" marB="54875" marR="54875" marL="54875" anchor="ctr">
                    <a:lnL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33"/>
                        </a:buClr>
                        <a:buSzPts val="1100"/>
                        <a:buFont typeface="Tahoma"/>
                        <a:buNone/>
                      </a:pPr>
                      <a:r>
                        <a:rPr lang="en-US" sz="1100" u="none" cap="none" strike="noStrike">
                          <a:solidFill>
                            <a:srgbClr val="1E2733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MSE ของ noise (นิ่ง)</a:t>
                      </a:r>
                      <a:endParaRPr sz="11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54875" marB="54875" marR="54875" marL="54875" anchor="ctr">
                    <a:lnL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33"/>
                        </a:buClr>
                        <a:buSzPts val="1100"/>
                        <a:buFont typeface="Tahoma"/>
                        <a:buNone/>
                      </a:pPr>
                      <a:r>
                        <a:rPr lang="en-US" sz="1100" u="none" cap="none" strike="noStrike">
                          <a:solidFill>
                            <a:srgbClr val="1E2733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ภาพ</a:t>
                      </a:r>
                      <a:endParaRPr sz="11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54875" marB="54875" marR="54875" marL="54875" anchor="ctr">
                    <a:lnL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33"/>
                        </a:buClr>
                        <a:buSzPts val="1100"/>
                        <a:buFont typeface="Tahoma"/>
                        <a:buNone/>
                      </a:pPr>
                      <a:r>
                        <a:rPr lang="en-US" sz="1100" u="none" cap="none" strike="noStrike">
                          <a:solidFill>
                            <a:srgbClr val="1E2733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เบลอ</a:t>
                      </a:r>
                      <a:endParaRPr sz="11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54875" marB="54875" marR="54875" marL="54875" anchor="ctr">
                    <a:lnL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33"/>
                        </a:buClr>
                        <a:buSzPts val="1100"/>
                        <a:buFont typeface="Tahoma"/>
                        <a:buNone/>
                      </a:pPr>
                      <a:r>
                        <a:rPr lang="en-US" sz="1100" u="none" cap="none" strike="noStrike">
                          <a:solidFill>
                            <a:srgbClr val="1E2733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คม</a:t>
                      </a:r>
                      <a:endParaRPr sz="11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54875" marB="54875" marR="54875" marL="54875" anchor="ctr">
                    <a:lnL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33"/>
                        </a:buClr>
                        <a:buSzPts val="1100"/>
                        <a:buFont typeface="Tahoma"/>
                        <a:buNone/>
                      </a:pPr>
                      <a:r>
                        <a:rPr lang="en-US" sz="1100" u="none" cap="none" strike="noStrike">
                          <a:solidFill>
                            <a:srgbClr val="1E2733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คม</a:t>
                      </a:r>
                      <a:endParaRPr sz="11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54875" marB="54875" marR="54875" marL="54875" anchor="ctr">
                    <a:lnL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B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33"/>
                        </a:buClr>
                        <a:buSzPts val="1100"/>
                        <a:buFont typeface="Tahoma"/>
                        <a:buNone/>
                      </a:pPr>
                      <a:r>
                        <a:rPr lang="en-US" sz="1100" u="none" cap="none" strike="noStrike">
                          <a:solidFill>
                            <a:srgbClr val="1E2733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ความหลากหลาย</a:t>
                      </a:r>
                      <a:endParaRPr sz="11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54875" marB="54875" marR="54875" marL="54875" anchor="ctr">
                    <a:lnL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33"/>
                        </a:buClr>
                        <a:buSzPts val="1100"/>
                        <a:buFont typeface="Tahoma"/>
                        <a:buNone/>
                      </a:pPr>
                      <a:r>
                        <a:rPr lang="en-US" sz="1100" u="none" cap="none" strike="noStrike">
                          <a:solidFill>
                            <a:srgbClr val="1E2733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ดี</a:t>
                      </a:r>
                      <a:endParaRPr sz="11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54875" marB="54875" marR="54875" marL="54875" anchor="ctr">
                    <a:lnL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33"/>
                        </a:buClr>
                        <a:buSzPts val="1100"/>
                        <a:buFont typeface="Tahoma"/>
                        <a:buNone/>
                      </a:pPr>
                      <a:r>
                        <a:rPr lang="en-US" sz="1100" u="none" cap="none" strike="noStrike">
                          <a:solidFill>
                            <a:srgbClr val="1E2733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เสี่ยง mode collapse</a:t>
                      </a:r>
                      <a:endParaRPr sz="11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54875" marB="54875" marR="54875" marL="54875" anchor="ctr">
                    <a:lnL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33"/>
                        </a:buClr>
                        <a:buSzPts val="1100"/>
                        <a:buFont typeface="Tahoma"/>
                        <a:buNone/>
                      </a:pPr>
                      <a:r>
                        <a:rPr lang="en-US" sz="1100" u="none" cap="none" strike="noStrike">
                          <a:solidFill>
                            <a:srgbClr val="1E2733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ดี</a:t>
                      </a:r>
                      <a:endParaRPr sz="11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54875" marB="54875" marR="54875" marL="54875" anchor="ctr">
                    <a:lnL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33"/>
                        </a:buClr>
                        <a:buSzPts val="1100"/>
                        <a:buFont typeface="Tahoma"/>
                        <a:buNone/>
                      </a:pPr>
                      <a:r>
                        <a:rPr lang="en-US" sz="1100" u="none" cap="none" strike="noStrike">
                          <a:solidFill>
                            <a:srgbClr val="1E2733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สร้างเร็ว</a:t>
                      </a:r>
                      <a:endParaRPr sz="11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54875" marB="54875" marR="54875" marL="54875" anchor="ctr">
                    <a:lnL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33"/>
                        </a:buClr>
                        <a:buSzPts val="1100"/>
                        <a:buFont typeface="Tahoma"/>
                        <a:buNone/>
                      </a:pPr>
                      <a:r>
                        <a:rPr lang="en-US" sz="1100" u="none" cap="none" strike="noStrike">
                          <a:solidFill>
                            <a:srgbClr val="1E2733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เร็วมาก</a:t>
                      </a:r>
                      <a:endParaRPr sz="11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54875" marB="54875" marR="54875" marL="54875" anchor="ctr">
                    <a:lnL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33"/>
                        </a:buClr>
                        <a:buSzPts val="1100"/>
                        <a:buFont typeface="Tahoma"/>
                        <a:buNone/>
                      </a:pPr>
                      <a:r>
                        <a:rPr lang="en-US" sz="1100" u="none" cap="none" strike="noStrike">
                          <a:solidFill>
                            <a:srgbClr val="1E2733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เร็วมาก</a:t>
                      </a:r>
                      <a:endParaRPr sz="11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54875" marB="54875" marR="54875" marL="54875" anchor="ctr">
                    <a:lnL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33"/>
                        </a:buClr>
                        <a:buSzPts val="1100"/>
                        <a:buFont typeface="Tahoma"/>
                        <a:buNone/>
                      </a:pPr>
                      <a:r>
                        <a:rPr lang="en-US" sz="1100" u="none" cap="none" strike="noStrike">
                          <a:solidFill>
                            <a:srgbClr val="1E2733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ช้า → DDIM / latent</a:t>
                      </a:r>
                      <a:endParaRPr sz="11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54875" marB="54875" marR="54875" marL="54875" anchor="ctr">
                    <a:lnL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B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33"/>
                        </a:buClr>
                        <a:buSzPts val="1100"/>
                        <a:buFont typeface="Tahoma"/>
                        <a:buNone/>
                      </a:pPr>
                      <a:r>
                        <a:rPr lang="en-US" sz="1100" u="none" cap="none" strike="noStrike">
                          <a:solidFill>
                            <a:srgbClr val="1E2733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อยู่ตรงไหนใน SD</a:t>
                      </a:r>
                      <a:endParaRPr sz="11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54875" marB="54875" marR="54875" marL="54875" anchor="ctr">
                    <a:lnL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33"/>
                        </a:buClr>
                        <a:buSzPts val="1100"/>
                        <a:buFont typeface="Tahoma"/>
                        <a:buNone/>
                      </a:pPr>
                      <a:r>
                        <a:rPr lang="en-US" sz="1100" u="none" cap="none" strike="noStrike">
                          <a:solidFill>
                            <a:srgbClr val="1E2733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ตัวบีบภาพ</a:t>
                      </a:r>
                      <a:endParaRPr sz="11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54875" marB="54875" marR="54875" marL="54875" anchor="ctr">
                    <a:lnL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33"/>
                        </a:buClr>
                        <a:buSzPts val="1100"/>
                        <a:buFont typeface="Tahoma"/>
                        <a:buNone/>
                      </a:pPr>
                      <a:r>
                        <a:rPr lang="en-US" sz="1100" u="none" cap="none" strike="noStrike">
                          <a:solidFill>
                            <a:srgbClr val="1E2733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กรรมการของ decoder</a:t>
                      </a:r>
                      <a:endParaRPr sz="11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54875" marB="54875" marR="54875" marL="54875" anchor="ctr">
                    <a:lnL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33"/>
                        </a:buClr>
                        <a:buSzPts val="1100"/>
                        <a:buFont typeface="Tahoma"/>
                        <a:buNone/>
                      </a:pPr>
                      <a:r>
                        <a:rPr lang="en-US" sz="1100" u="none" cap="none" strike="noStrike">
                          <a:solidFill>
                            <a:srgbClr val="1E2733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หัวใจ (U-Net)</a:t>
                      </a:r>
                      <a:endParaRPr sz="11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54875" marB="54875" marR="54875" marL="54875" anchor="ctr">
                    <a:lnL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descr="/home/claude/week4/slides/fig/t_row_vae.png" id="1118" name="Google Shape;1118;p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88013" y="1298448"/>
            <a:ext cx="1094454" cy="530352"/>
          </a:xfrm>
          <a:prstGeom prst="rect">
            <a:avLst/>
          </a:prstGeom>
          <a:noFill/>
          <a:ln>
            <a:noFill/>
          </a:ln>
        </p:spPr>
      </p:pic>
      <p:sp>
        <p:nvSpPr>
          <p:cNvPr id="1119" name="Google Shape;1119;p64"/>
          <p:cNvSpPr/>
          <p:nvPr/>
        </p:nvSpPr>
        <p:spPr>
          <a:xfrm>
            <a:off x="7088013" y="1298448"/>
            <a:ext cx="1094454" cy="530352"/>
          </a:xfrm>
          <a:prstGeom prst="rect">
            <a:avLst/>
          </a:prstGeom>
          <a:noFill/>
          <a:ln cap="flat" cmpd="sng" w="9525">
            <a:solidFill>
              <a:srgbClr val="D9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0" name="Google Shape;1120;p64"/>
          <p:cNvSpPr txBox="1"/>
          <p:nvPr/>
        </p:nvSpPr>
        <p:spPr>
          <a:xfrm>
            <a:off x="6583680" y="1847088"/>
            <a:ext cx="21031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000"/>
              <a:buFont typeface="Tahoma"/>
              <a:buNone/>
            </a:pPr>
            <a:r>
              <a:rPr b="1" i="0" lang="en-US" sz="1000" u="none" cap="none" strike="noStrike">
                <a:solidFill>
                  <a:srgbClr val="1F3864"/>
                </a:solidFill>
                <a:latin typeface="Tahoma"/>
                <a:ea typeface="Tahoma"/>
                <a:cs typeface="Tahoma"/>
                <a:sym typeface="Tahoma"/>
              </a:rPr>
              <a:t>ภาพที่ VAE สร้าง: เบลอ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week4/slides/fig/t_row_gan.png" id="1121" name="Google Shape;1121;p6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88013" y="2167128"/>
            <a:ext cx="1094454" cy="530352"/>
          </a:xfrm>
          <a:prstGeom prst="rect">
            <a:avLst/>
          </a:prstGeom>
          <a:noFill/>
          <a:ln>
            <a:noFill/>
          </a:ln>
        </p:spPr>
      </p:pic>
      <p:sp>
        <p:nvSpPr>
          <p:cNvPr id="1122" name="Google Shape;1122;p64"/>
          <p:cNvSpPr/>
          <p:nvPr/>
        </p:nvSpPr>
        <p:spPr>
          <a:xfrm>
            <a:off x="7088013" y="2167128"/>
            <a:ext cx="1094454" cy="530352"/>
          </a:xfrm>
          <a:prstGeom prst="rect">
            <a:avLst/>
          </a:prstGeom>
          <a:noFill/>
          <a:ln cap="flat" cmpd="sng" w="9525">
            <a:solidFill>
              <a:srgbClr val="D9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3" name="Google Shape;1123;p64"/>
          <p:cNvSpPr txBox="1"/>
          <p:nvPr/>
        </p:nvSpPr>
        <p:spPr>
          <a:xfrm>
            <a:off x="6583680" y="2715768"/>
            <a:ext cx="21031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000"/>
              <a:buFont typeface="Tahoma"/>
              <a:buNone/>
            </a:pPr>
            <a:r>
              <a:rPr b="1" i="0" lang="en-US" sz="1000" u="none" cap="none" strike="noStrike">
                <a:solidFill>
                  <a:srgbClr val="1F3864"/>
                </a:solidFill>
                <a:latin typeface="Tahoma"/>
                <a:ea typeface="Tahoma"/>
                <a:cs typeface="Tahoma"/>
                <a:sym typeface="Tahoma"/>
              </a:rPr>
              <a:t>ภาพที่ GAN สร้าง: คม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week4/slides/fig/t_row_diff.png" id="1124" name="Google Shape;1124;p6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088013" y="3035808"/>
            <a:ext cx="1094454" cy="530352"/>
          </a:xfrm>
          <a:prstGeom prst="rect">
            <a:avLst/>
          </a:prstGeom>
          <a:noFill/>
          <a:ln>
            <a:noFill/>
          </a:ln>
        </p:spPr>
      </p:pic>
      <p:sp>
        <p:nvSpPr>
          <p:cNvPr id="1125" name="Google Shape;1125;p64"/>
          <p:cNvSpPr/>
          <p:nvPr/>
        </p:nvSpPr>
        <p:spPr>
          <a:xfrm>
            <a:off x="7088013" y="3035808"/>
            <a:ext cx="1094454" cy="530352"/>
          </a:xfrm>
          <a:prstGeom prst="rect">
            <a:avLst/>
          </a:prstGeom>
          <a:noFill/>
          <a:ln cap="flat" cmpd="sng" w="9525">
            <a:solidFill>
              <a:srgbClr val="D9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6" name="Google Shape;1126;p64"/>
          <p:cNvSpPr txBox="1"/>
          <p:nvPr/>
        </p:nvSpPr>
        <p:spPr>
          <a:xfrm>
            <a:off x="6583680" y="3584448"/>
            <a:ext cx="21031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000"/>
              <a:buFont typeface="Tahoma"/>
              <a:buNone/>
            </a:pPr>
            <a:r>
              <a:rPr b="1" i="0" lang="en-US" sz="1000" u="none" cap="none" strike="noStrike">
                <a:solidFill>
                  <a:srgbClr val="1F3864"/>
                </a:solidFill>
                <a:latin typeface="Tahoma"/>
                <a:ea typeface="Tahoma"/>
                <a:cs typeface="Tahoma"/>
                <a:sym typeface="Tahoma"/>
              </a:rPr>
              <a:t>ภาพที่ Diffusion สร้าง: คม หลากหลาย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7" name="Google Shape;1127;p64"/>
          <p:cNvSpPr/>
          <p:nvPr/>
        </p:nvSpPr>
        <p:spPr>
          <a:xfrm>
            <a:off x="457200" y="3877056"/>
            <a:ext cx="8229600" cy="621792"/>
          </a:xfrm>
          <a:prstGeom prst="roundRect">
            <a:avLst>
              <a:gd fmla="val 11765" name="adj"/>
            </a:avLst>
          </a:prstGeom>
          <a:solidFill>
            <a:srgbClr val="DDF1EA"/>
          </a:solidFill>
          <a:ln cap="flat" cmpd="sng" w="12700">
            <a:solidFill>
              <a:srgbClr val="DDF1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8" name="Google Shape;1128;p64"/>
          <p:cNvSpPr/>
          <p:nvPr/>
        </p:nvSpPr>
        <p:spPr>
          <a:xfrm>
            <a:off x="621792" y="4105656"/>
            <a:ext cx="164592" cy="164592"/>
          </a:xfrm>
          <a:prstGeom prst="ellipse">
            <a:avLst/>
          </a:prstGeom>
          <a:solidFill>
            <a:srgbClr val="1D6F5B"/>
          </a:solidFill>
          <a:ln cap="flat" cmpd="sng" w="12700">
            <a:solidFill>
              <a:srgbClr val="1D6F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9" name="Google Shape;1129;p64"/>
          <p:cNvSpPr txBox="1"/>
          <p:nvPr/>
        </p:nvSpPr>
        <p:spPr>
          <a:xfrm>
            <a:off x="914400" y="3877056"/>
            <a:ext cx="763524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33"/>
              </a:buClr>
              <a:buSzPts val="1300"/>
              <a:buFont typeface="Tahoma"/>
              <a:buNone/>
            </a:pPr>
            <a:r>
              <a:rPr b="0" i="0" lang="en-US" sz="1300" u="none" cap="none" strike="noStrike">
                <a:solidFill>
                  <a:srgbClr val="1E2733"/>
                </a:solidFill>
                <a:latin typeface="Tahoma"/>
                <a:ea typeface="Tahoma"/>
                <a:cs typeface="Tahoma"/>
                <a:sym typeface="Tahoma"/>
              </a:rPr>
              <a:t>ตอนบ่ายจะเทรนทั้งสามบนชุดข้อมูลเดียวกัน แล้วดูว่าตารางนี้จริงไหม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0" name="Google Shape;1130;p64"/>
          <p:cNvSpPr txBox="1"/>
          <p:nvPr/>
        </p:nvSpPr>
        <p:spPr>
          <a:xfrm>
            <a:off x="457200" y="4576572"/>
            <a:ext cx="78638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4A2"/>
              </a:buClr>
              <a:buSzPts val="800"/>
              <a:buFont typeface="Tahoma"/>
              <a:buNone/>
            </a:pPr>
            <a:r>
              <a:rPr b="0" i="1" lang="en-US" sz="800" u="none" cap="none" strike="noStrike">
                <a:solidFill>
                  <a:srgbClr val="8A94A2"/>
                </a:solidFill>
                <a:latin typeface="Tahoma"/>
                <a:ea typeface="Tahoma"/>
                <a:cs typeface="Tahoma"/>
                <a:sym typeface="Tahoma"/>
              </a:rPr>
              <a:t>ภาพ: Siyu Zhu (Fudan) Lecture 2 หน้า 81 · Lecture 3 หน้า 33 · Lecture 4&amp;5 หน้า 52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35" name="Shape 1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" name="Google Shape;1136;p65"/>
          <p:cNvSpPr txBox="1"/>
          <p:nvPr/>
        </p:nvSpPr>
        <p:spPr>
          <a:xfrm>
            <a:off x="457200" y="4814316"/>
            <a:ext cx="5486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3AE"/>
              </a:buClr>
              <a:buSzPts val="900"/>
              <a:buFont typeface="Tahoma"/>
              <a:buNone/>
            </a:pPr>
            <a:r>
              <a:rPr b="0" i="0" lang="en-US" sz="900" u="none" cap="none" strike="noStrike">
                <a:solidFill>
                  <a:srgbClr val="9AA3AE"/>
                </a:solidFill>
                <a:latin typeface="Tahoma"/>
                <a:ea typeface="Tahoma"/>
                <a:cs typeface="Tahoma"/>
                <a:sym typeface="Tahoma"/>
              </a:rPr>
              <a:t>LLM &amp; Agentic AI · สัปดาห์ 4 · ช่วงเช้า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7" name="Google Shape;1137;p65"/>
          <p:cNvSpPr/>
          <p:nvPr/>
        </p:nvSpPr>
        <p:spPr>
          <a:xfrm>
            <a:off x="8357616" y="4759452"/>
            <a:ext cx="329184" cy="329184"/>
          </a:xfrm>
          <a:prstGeom prst="ellipse">
            <a:avLst/>
          </a:prstGeom>
          <a:solidFill>
            <a:srgbClr val="1F3864"/>
          </a:solidFill>
          <a:ln cap="flat" cmpd="sng" w="12700">
            <a:solidFill>
              <a:srgbClr val="1F38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8" name="Google Shape;1138;p65"/>
          <p:cNvSpPr txBox="1"/>
          <p:nvPr/>
        </p:nvSpPr>
        <p:spPr>
          <a:xfrm>
            <a:off x="8357616" y="4759452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Tahoma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65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9" name="Google Shape;1139;p65"/>
          <p:cNvSpPr/>
          <p:nvPr/>
        </p:nvSpPr>
        <p:spPr>
          <a:xfrm>
            <a:off x="457200" y="256032"/>
            <a:ext cx="914400" cy="274320"/>
          </a:xfrm>
          <a:prstGeom prst="roundRect">
            <a:avLst>
              <a:gd fmla="val 50000" name="adj"/>
            </a:avLst>
          </a:prstGeom>
          <a:solidFill>
            <a:srgbClr val="DDF1EA"/>
          </a:solidFill>
          <a:ln cap="flat" cmpd="sng" w="12700">
            <a:solidFill>
              <a:srgbClr val="DDF1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0" name="Google Shape;1140;p65"/>
          <p:cNvSpPr txBox="1"/>
          <p:nvPr/>
        </p:nvSpPr>
        <p:spPr>
          <a:xfrm>
            <a:off x="457200" y="256032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6F5B"/>
              </a:buClr>
              <a:buSzPts val="1000"/>
              <a:buFont typeface="Tahoma"/>
              <a:buNone/>
            </a:pPr>
            <a:r>
              <a:rPr b="1" i="0" lang="en-US" sz="1000" u="none" cap="none" strike="noStrike">
                <a:solidFill>
                  <a:srgbClr val="1D6F5B"/>
                </a:solidFill>
                <a:latin typeface="Tahoma"/>
                <a:ea typeface="Tahoma"/>
                <a:cs typeface="Tahoma"/>
                <a:sym typeface="Tahoma"/>
              </a:rPr>
              <a:t>ช่วงบ่าย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1" name="Google Shape;1141;p65"/>
          <p:cNvSpPr txBox="1"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2400"/>
              <a:buFont typeface="Tahoma"/>
              <a:buNone/>
            </a:pPr>
            <a:r>
              <a:rPr b="1" i="0" lang="en-US" sz="2400" u="none" cap="none" strike="noStrike">
                <a:solidFill>
                  <a:srgbClr val="1F3864"/>
                </a:solidFill>
                <a:latin typeface="Tahoma"/>
                <a:ea typeface="Tahoma"/>
                <a:cs typeface="Tahoma"/>
                <a:sym typeface="Tahoma"/>
              </a:rPr>
              <a:t>ช่วงบ่าย: 4 แล็บบน Colab T4 — ชุดข้อมูล Sprites 16×16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2" name="Google Shape;1142;p65"/>
          <p:cNvSpPr/>
          <p:nvPr/>
        </p:nvSpPr>
        <p:spPr>
          <a:xfrm>
            <a:off x="457200" y="1298448"/>
            <a:ext cx="1906524" cy="1988820"/>
          </a:xfrm>
          <a:prstGeom prst="roundRect">
            <a:avLst>
              <a:gd fmla="val 4796" name="adj"/>
            </a:avLst>
          </a:prstGeom>
          <a:solidFill>
            <a:srgbClr val="E4ECF7"/>
          </a:solidFill>
          <a:ln cap="flat" cmpd="sng" w="12700">
            <a:solidFill>
              <a:srgbClr val="E4EC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3" name="Google Shape;1143;p65"/>
          <p:cNvSpPr/>
          <p:nvPr/>
        </p:nvSpPr>
        <p:spPr>
          <a:xfrm>
            <a:off x="603504" y="1444752"/>
            <a:ext cx="365760" cy="365760"/>
          </a:xfrm>
          <a:prstGeom prst="ellipse">
            <a:avLst/>
          </a:prstGeom>
          <a:solidFill>
            <a:srgbClr val="1F3864"/>
          </a:solidFill>
          <a:ln cap="flat" cmpd="sng" w="12700">
            <a:solidFill>
              <a:srgbClr val="1F38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4" name="Google Shape;1144;p65"/>
          <p:cNvSpPr txBox="1"/>
          <p:nvPr/>
        </p:nvSpPr>
        <p:spPr>
          <a:xfrm>
            <a:off x="603504" y="1444752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ahoma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5" name="Google Shape;1145;p65"/>
          <p:cNvSpPr txBox="1"/>
          <p:nvPr/>
        </p:nvSpPr>
        <p:spPr>
          <a:xfrm>
            <a:off x="1060704" y="1426464"/>
            <a:ext cx="115671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350"/>
              <a:buFont typeface="Tahoma"/>
              <a:buNone/>
            </a:pPr>
            <a:r>
              <a:rPr b="1" i="0" lang="en-US" sz="1350" u="none" cap="none" strike="noStrike">
                <a:solidFill>
                  <a:srgbClr val="1F3864"/>
                </a:solidFill>
                <a:latin typeface="Tahoma"/>
                <a:ea typeface="Tahoma"/>
                <a:cs typeface="Tahoma"/>
                <a:sym typeface="Tahoma"/>
              </a:rPr>
              <a:t>แล็บ 1 · VAE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6" name="Google Shape;1146;p65"/>
          <p:cNvSpPr txBox="1"/>
          <p:nvPr/>
        </p:nvSpPr>
        <p:spPr>
          <a:xfrm>
            <a:off x="603504" y="1901952"/>
            <a:ext cx="1613916" cy="12755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33"/>
              </a:buClr>
              <a:buSzPts val="1250"/>
              <a:buFont typeface="Tahoma"/>
              <a:buNone/>
            </a:pPr>
            <a:r>
              <a:rPr b="0" i="0" lang="en-US" sz="1250" u="none" cap="none" strike="noStrike">
                <a:solidFill>
                  <a:srgbClr val="1E2733"/>
                </a:solidFill>
                <a:latin typeface="Tahoma"/>
                <a:ea typeface="Tahoma"/>
                <a:cs typeface="Tahoma"/>
                <a:sym typeface="Tahoma"/>
              </a:rPr>
              <a:t>เทรน ~1 นาที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33"/>
              </a:buClr>
              <a:buSzPts val="1250"/>
              <a:buFont typeface="Tahoma"/>
              <a:buNone/>
            </a:pPr>
            <a:r>
              <a:rPr b="0" i="0" lang="en-US" sz="1250" u="none" cap="none" strike="noStrike">
                <a:solidFill>
                  <a:srgbClr val="1E2733"/>
                </a:solidFill>
                <a:latin typeface="Tahoma"/>
                <a:ea typeface="Tahoma"/>
                <a:cs typeface="Tahoma"/>
                <a:sym typeface="Tahoma"/>
              </a:rPr>
              <a:t>ดูภาพคลายกลับ (เบลอ)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33"/>
              </a:buClr>
              <a:buSzPts val="1250"/>
              <a:buFont typeface="Tahoma"/>
              <a:buNone/>
            </a:pPr>
            <a:r>
              <a:rPr b="0" i="0" lang="en-US" sz="1250" u="none" cap="none" strike="noStrike">
                <a:solidFill>
                  <a:srgbClr val="1E2733"/>
                </a:solidFill>
                <a:latin typeface="Tahoma"/>
                <a:ea typeface="Tahoma"/>
                <a:cs typeface="Tahoma"/>
                <a:sym typeface="Tahoma"/>
              </a:rPr>
              <a:t>สุ่มภาพใหม่ · interpolate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33"/>
              </a:buClr>
              <a:buSzPts val="1250"/>
              <a:buFont typeface="Tahoma"/>
              <a:buNone/>
            </a:pPr>
            <a:r>
              <a:rPr b="0" i="0" lang="en-US" sz="1250" u="none" cap="none" strike="noStrike">
                <a:solidFill>
                  <a:srgbClr val="1E2733"/>
                </a:solidFill>
                <a:latin typeface="Tahoma"/>
                <a:ea typeface="Tahoma"/>
                <a:cs typeface="Tahoma"/>
                <a:sym typeface="Tahoma"/>
              </a:rPr>
              <a:t>แผนที่ latent แยกกลุ่มเองได้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7" name="Google Shape;1147;p65"/>
          <p:cNvSpPr/>
          <p:nvPr/>
        </p:nvSpPr>
        <p:spPr>
          <a:xfrm>
            <a:off x="2564892" y="1298448"/>
            <a:ext cx="1906524" cy="1988820"/>
          </a:xfrm>
          <a:prstGeom prst="roundRect">
            <a:avLst>
              <a:gd fmla="val 4796" name="adj"/>
            </a:avLst>
          </a:prstGeom>
          <a:solidFill>
            <a:srgbClr val="DDF1EA"/>
          </a:solidFill>
          <a:ln cap="flat" cmpd="sng" w="12700">
            <a:solidFill>
              <a:srgbClr val="DDF1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8" name="Google Shape;1148;p65"/>
          <p:cNvSpPr/>
          <p:nvPr/>
        </p:nvSpPr>
        <p:spPr>
          <a:xfrm>
            <a:off x="2711196" y="1444752"/>
            <a:ext cx="365760" cy="365760"/>
          </a:xfrm>
          <a:prstGeom prst="ellipse">
            <a:avLst/>
          </a:prstGeom>
          <a:solidFill>
            <a:srgbClr val="1D6F5B"/>
          </a:solidFill>
          <a:ln cap="flat" cmpd="sng" w="12700">
            <a:solidFill>
              <a:srgbClr val="1D6F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9" name="Google Shape;1149;p65"/>
          <p:cNvSpPr txBox="1"/>
          <p:nvPr/>
        </p:nvSpPr>
        <p:spPr>
          <a:xfrm>
            <a:off x="2711196" y="1444752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ahoma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0" name="Google Shape;1150;p65"/>
          <p:cNvSpPr txBox="1"/>
          <p:nvPr/>
        </p:nvSpPr>
        <p:spPr>
          <a:xfrm>
            <a:off x="3168396" y="1426464"/>
            <a:ext cx="115671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6F5B"/>
              </a:buClr>
              <a:buSzPts val="1350"/>
              <a:buFont typeface="Tahoma"/>
              <a:buNone/>
            </a:pPr>
            <a:r>
              <a:rPr b="1" i="0" lang="en-US" sz="1350" u="none" cap="none" strike="noStrike">
                <a:solidFill>
                  <a:srgbClr val="1D6F5B"/>
                </a:solidFill>
                <a:latin typeface="Tahoma"/>
                <a:ea typeface="Tahoma"/>
                <a:cs typeface="Tahoma"/>
                <a:sym typeface="Tahoma"/>
              </a:rPr>
              <a:t>แล็บ 2 · GAN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1" name="Google Shape;1151;p65"/>
          <p:cNvSpPr txBox="1"/>
          <p:nvPr/>
        </p:nvSpPr>
        <p:spPr>
          <a:xfrm>
            <a:off x="2711196" y="1901952"/>
            <a:ext cx="1613916" cy="12755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33"/>
              </a:buClr>
              <a:buSzPts val="1250"/>
              <a:buFont typeface="Tahoma"/>
              <a:buNone/>
            </a:pPr>
            <a:r>
              <a:rPr b="0" i="0" lang="en-US" sz="1250" u="none" cap="none" strike="noStrike">
                <a:solidFill>
                  <a:srgbClr val="1E2733"/>
                </a:solidFill>
                <a:latin typeface="Tahoma"/>
                <a:ea typeface="Tahoma"/>
                <a:cs typeface="Tahoma"/>
                <a:sym typeface="Tahoma"/>
              </a:rPr>
              <a:t>เทรน ~2 นาที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33"/>
              </a:buClr>
              <a:buSzPts val="1250"/>
              <a:buFont typeface="Tahoma"/>
              <a:buNone/>
            </a:pPr>
            <a:r>
              <a:rPr b="0" i="0" lang="en-US" sz="1250" u="none" cap="none" strike="noStrike">
                <a:solidFill>
                  <a:srgbClr val="1E2733"/>
                </a:solidFill>
                <a:latin typeface="Tahoma"/>
                <a:ea typeface="Tahoma"/>
                <a:cs typeface="Tahoma"/>
                <a:sym typeface="Tahoma"/>
              </a:rPr>
              <a:t>ดู loss แกว่ง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33"/>
              </a:buClr>
              <a:buSzPts val="1250"/>
              <a:buFont typeface="Tahoma"/>
              <a:buNone/>
            </a:pPr>
            <a:r>
              <a:rPr b="0" i="0" lang="en-US" sz="1250" u="none" cap="none" strike="noStrike">
                <a:solidFill>
                  <a:srgbClr val="1E2733"/>
                </a:solidFill>
                <a:latin typeface="Tahoma"/>
                <a:ea typeface="Tahoma"/>
                <a:cs typeface="Tahoma"/>
                <a:sym typeface="Tahoma"/>
              </a:rPr>
              <a:t>ภาพคมขึ้นทุก 5 epoch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33"/>
              </a:buClr>
              <a:buSzPts val="1250"/>
              <a:buFont typeface="Tahoma"/>
              <a:buNone/>
            </a:pPr>
            <a:r>
              <a:rPr b="0" i="0" lang="en-US" sz="1250" u="none" cap="none" strike="noStrike">
                <a:solidFill>
                  <a:srgbClr val="1E2733"/>
                </a:solidFill>
                <a:latin typeface="Tahoma"/>
                <a:ea typeface="Tahoma"/>
                <a:cs typeface="Tahoma"/>
                <a:sym typeface="Tahoma"/>
              </a:rPr>
              <a:t>วัดความหลากหลาย vs ข้อมูลจริง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2" name="Google Shape;1152;p65"/>
          <p:cNvSpPr/>
          <p:nvPr/>
        </p:nvSpPr>
        <p:spPr>
          <a:xfrm>
            <a:off x="4672584" y="1298448"/>
            <a:ext cx="1906524" cy="1988820"/>
          </a:xfrm>
          <a:prstGeom prst="roundRect">
            <a:avLst>
              <a:gd fmla="val 4796" name="adj"/>
            </a:avLst>
          </a:prstGeom>
          <a:solidFill>
            <a:srgbClr val="FCF0D9"/>
          </a:solidFill>
          <a:ln cap="flat" cmpd="sng" w="12700">
            <a:solidFill>
              <a:srgbClr val="FCF0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3" name="Google Shape;1153;p65"/>
          <p:cNvSpPr/>
          <p:nvPr/>
        </p:nvSpPr>
        <p:spPr>
          <a:xfrm>
            <a:off x="4818888" y="1444752"/>
            <a:ext cx="365760" cy="365760"/>
          </a:xfrm>
          <a:prstGeom prst="ellipse">
            <a:avLst/>
          </a:prstGeom>
          <a:solidFill>
            <a:srgbClr val="B7791F"/>
          </a:solidFill>
          <a:ln cap="flat" cmpd="sng" w="12700">
            <a:solidFill>
              <a:srgbClr val="B779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4" name="Google Shape;1154;p65"/>
          <p:cNvSpPr txBox="1"/>
          <p:nvPr/>
        </p:nvSpPr>
        <p:spPr>
          <a:xfrm>
            <a:off x="4818888" y="1444752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ahoma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5" name="Google Shape;1155;p65"/>
          <p:cNvSpPr txBox="1"/>
          <p:nvPr/>
        </p:nvSpPr>
        <p:spPr>
          <a:xfrm>
            <a:off x="5276088" y="1426464"/>
            <a:ext cx="115671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791F"/>
              </a:buClr>
              <a:buSzPts val="1350"/>
              <a:buFont typeface="Tahoma"/>
              <a:buNone/>
            </a:pPr>
            <a:r>
              <a:rPr b="1" i="0" lang="en-US" sz="1350" u="none" cap="none" strike="noStrike">
                <a:solidFill>
                  <a:srgbClr val="B7791F"/>
                </a:solidFill>
                <a:latin typeface="Tahoma"/>
                <a:ea typeface="Tahoma"/>
                <a:cs typeface="Tahoma"/>
                <a:sym typeface="Tahoma"/>
              </a:rPr>
              <a:t>แล็บ 3 · DDPM/DDIM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6" name="Google Shape;1156;p65"/>
          <p:cNvSpPr txBox="1"/>
          <p:nvPr/>
        </p:nvSpPr>
        <p:spPr>
          <a:xfrm>
            <a:off x="4818888" y="1901952"/>
            <a:ext cx="1613916" cy="12755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33"/>
              </a:buClr>
              <a:buSzPts val="1250"/>
              <a:buFont typeface="Tahoma"/>
              <a:buNone/>
            </a:pPr>
            <a:r>
              <a:rPr b="0" i="0" lang="en-US" sz="1250" u="none" cap="none" strike="noStrike">
                <a:solidFill>
                  <a:srgbClr val="1E2733"/>
                </a:solidFill>
                <a:latin typeface="Tahoma"/>
                <a:ea typeface="Tahoma"/>
                <a:cs typeface="Tahoma"/>
                <a:sym typeface="Tahoma"/>
              </a:rPr>
              <a:t>ดู forward noising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33"/>
              </a:buClr>
              <a:buSzPts val="1250"/>
              <a:buFont typeface="Tahoma"/>
              <a:buNone/>
            </a:pPr>
            <a:r>
              <a:rPr b="0" i="0" lang="en-US" sz="1250" u="none" cap="none" strike="noStrike">
                <a:solidFill>
                  <a:srgbClr val="1E2733"/>
                </a:solidFill>
                <a:latin typeface="Tahoma"/>
                <a:ea typeface="Tahoma"/>
                <a:cs typeface="Tahoma"/>
                <a:sym typeface="Tahoma"/>
              </a:rPr>
              <a:t>เทรน ~4 นาที loss นิ่ง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33"/>
              </a:buClr>
              <a:buSzPts val="1250"/>
              <a:buFont typeface="Tahoma"/>
              <a:buNone/>
            </a:pPr>
            <a:r>
              <a:rPr b="0" i="0" lang="en-US" sz="1250" u="none" cap="none" strike="noStrike">
                <a:solidFill>
                  <a:srgbClr val="1E2733"/>
                </a:solidFill>
                <a:latin typeface="Tahoma"/>
                <a:ea typeface="Tahoma"/>
                <a:cs typeface="Tahoma"/>
                <a:sym typeface="Tahoma"/>
              </a:rPr>
              <a:t>ดูเส้นทาง denoising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33"/>
              </a:buClr>
              <a:buSzPts val="1250"/>
              <a:buFont typeface="Tahoma"/>
              <a:buNone/>
            </a:pPr>
            <a:r>
              <a:rPr b="0" i="0" lang="en-US" sz="1250" u="none" cap="none" strike="noStrike">
                <a:solidFill>
                  <a:srgbClr val="1E2733"/>
                </a:solidFill>
                <a:latin typeface="Tahoma"/>
                <a:ea typeface="Tahoma"/>
                <a:cs typeface="Tahoma"/>
                <a:sym typeface="Tahoma"/>
              </a:rPr>
              <a:t>1,000 vs 50 vs 20 vs 10 ก้าว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7" name="Google Shape;1157;p65"/>
          <p:cNvSpPr/>
          <p:nvPr/>
        </p:nvSpPr>
        <p:spPr>
          <a:xfrm>
            <a:off x="6780276" y="1298448"/>
            <a:ext cx="1906524" cy="1988820"/>
          </a:xfrm>
          <a:prstGeom prst="roundRect">
            <a:avLst>
              <a:gd fmla="val 4796" name="adj"/>
            </a:avLst>
          </a:prstGeom>
          <a:solidFill>
            <a:srgbClr val="F1F3F6"/>
          </a:solidFill>
          <a:ln cap="flat" cmpd="sng" w="12700">
            <a:solidFill>
              <a:srgbClr val="F1F3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8" name="Google Shape;1158;p65"/>
          <p:cNvSpPr/>
          <p:nvPr/>
        </p:nvSpPr>
        <p:spPr>
          <a:xfrm>
            <a:off x="6926580" y="1444752"/>
            <a:ext cx="365760" cy="365760"/>
          </a:xfrm>
          <a:prstGeom prst="ellipse">
            <a:avLst/>
          </a:prstGeom>
          <a:solidFill>
            <a:srgbClr val="5F6B7A"/>
          </a:solidFill>
          <a:ln cap="flat" cmpd="sng" w="12700">
            <a:solidFill>
              <a:srgbClr val="5F6B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9" name="Google Shape;1159;p65"/>
          <p:cNvSpPr txBox="1"/>
          <p:nvPr/>
        </p:nvSpPr>
        <p:spPr>
          <a:xfrm>
            <a:off x="6926580" y="1444752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ahoma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0" name="Google Shape;1160;p65"/>
          <p:cNvSpPr txBox="1"/>
          <p:nvPr/>
        </p:nvSpPr>
        <p:spPr>
          <a:xfrm>
            <a:off x="7383780" y="1426464"/>
            <a:ext cx="115671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A"/>
              </a:buClr>
              <a:buSzPts val="1350"/>
              <a:buFont typeface="Tahoma"/>
              <a:buNone/>
            </a:pPr>
            <a:r>
              <a:rPr b="1" i="0" lang="en-US" sz="1350" u="none" cap="none" strike="noStrike">
                <a:solidFill>
                  <a:srgbClr val="5F6B7A"/>
                </a:solidFill>
                <a:latin typeface="Tahoma"/>
                <a:ea typeface="Tahoma"/>
                <a:cs typeface="Tahoma"/>
                <a:sym typeface="Tahoma"/>
              </a:rPr>
              <a:t>แล็บ 4 · เงื่อนไข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1" name="Google Shape;1161;p65"/>
          <p:cNvSpPr txBox="1"/>
          <p:nvPr/>
        </p:nvSpPr>
        <p:spPr>
          <a:xfrm>
            <a:off x="6926580" y="1901952"/>
            <a:ext cx="1613916" cy="12755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33"/>
              </a:buClr>
              <a:buSzPts val="1250"/>
              <a:buFont typeface="Tahoma"/>
              <a:buNone/>
            </a:pPr>
            <a:r>
              <a:rPr b="0" i="0" lang="en-US" sz="1250" u="none" cap="none" strike="noStrike">
                <a:solidFill>
                  <a:srgbClr val="1E2733"/>
                </a:solidFill>
                <a:latin typeface="Tahoma"/>
                <a:ea typeface="Tahoma"/>
                <a:cs typeface="Tahoma"/>
                <a:sym typeface="Tahoma"/>
              </a:rPr>
              <a:t>ป้อนป้ายกลุ่มเข้า U-Net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33"/>
              </a:buClr>
              <a:buSzPts val="1250"/>
              <a:buFont typeface="Tahoma"/>
              <a:buNone/>
            </a:pPr>
            <a:r>
              <a:rPr b="0" i="0" lang="en-US" sz="1250" u="none" cap="none" strike="noStrike">
                <a:solidFill>
                  <a:srgbClr val="1E2733"/>
                </a:solidFill>
                <a:latin typeface="Tahoma"/>
                <a:ea typeface="Tahoma"/>
                <a:cs typeface="Tahoma"/>
                <a:sym typeface="Tahoma"/>
              </a:rPr>
              <a:t>สั่ง 'อาหาร' 'ฮีโร่' ได้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33"/>
              </a:buClr>
              <a:buSzPts val="1250"/>
              <a:buFont typeface="Tahoma"/>
              <a:buNone/>
            </a:pPr>
            <a:r>
              <a:rPr b="0" i="0" lang="en-US" sz="1250" u="none" cap="none" strike="noStrike">
                <a:solidFill>
                  <a:srgbClr val="1E2733"/>
                </a:solidFill>
                <a:latin typeface="Tahoma"/>
                <a:ea typeface="Tahoma"/>
                <a:cs typeface="Tahoma"/>
                <a:sym typeface="Tahoma"/>
              </a:rPr>
              <a:t>หมุน guidance 1/3/6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33"/>
              </a:buClr>
              <a:buSzPts val="1250"/>
              <a:buFont typeface="Tahoma"/>
              <a:buNone/>
            </a:pPr>
            <a:r>
              <a:rPr b="0" i="0" lang="en-US" sz="1250" u="none" cap="none" strike="noStrike">
                <a:solidFill>
                  <a:srgbClr val="1E2733"/>
                </a:solidFill>
                <a:latin typeface="Tahoma"/>
                <a:ea typeface="Tahoma"/>
                <a:cs typeface="Tahoma"/>
                <a:sym typeface="Tahoma"/>
              </a:rPr>
              <a:t>= ปุ่ม CFG ของ SD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week4/slides/fig/lab_vae_latent.png" id="1162" name="Google Shape;1162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9493" y="3424428"/>
            <a:ext cx="935653" cy="854964"/>
          </a:xfrm>
          <a:prstGeom prst="rect">
            <a:avLst/>
          </a:prstGeom>
          <a:noFill/>
          <a:ln>
            <a:noFill/>
          </a:ln>
        </p:spPr>
      </p:pic>
      <p:sp>
        <p:nvSpPr>
          <p:cNvPr id="1163" name="Google Shape;1163;p65"/>
          <p:cNvSpPr/>
          <p:nvPr/>
        </p:nvSpPr>
        <p:spPr>
          <a:xfrm>
            <a:off x="949493" y="3424428"/>
            <a:ext cx="935653" cy="854964"/>
          </a:xfrm>
          <a:prstGeom prst="rect">
            <a:avLst/>
          </a:prstGeom>
          <a:noFill/>
          <a:ln cap="flat" cmpd="sng" w="9525">
            <a:solidFill>
              <a:srgbClr val="D9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4" name="Google Shape;1164;p65"/>
          <p:cNvSpPr txBox="1"/>
          <p:nvPr/>
        </p:nvSpPr>
        <p:spPr>
          <a:xfrm>
            <a:off x="457200" y="4297680"/>
            <a:ext cx="19202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000"/>
              <a:buFont typeface="Tahoma"/>
              <a:buNone/>
            </a:pPr>
            <a:r>
              <a:rPr b="1" i="0" lang="en-US" sz="1000" u="none" cap="none" strike="noStrike">
                <a:solidFill>
                  <a:srgbClr val="1F3864"/>
                </a:solidFill>
                <a:latin typeface="Tahoma"/>
                <a:ea typeface="Tahoma"/>
                <a:cs typeface="Tahoma"/>
                <a:sym typeface="Tahoma"/>
              </a:rPr>
              <a:t>แล็บ 1: แผนที่ latent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week4/slides/fig/lab_gan_loss.png" id="1165" name="Google Shape;1165;p6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62509" y="3424428"/>
            <a:ext cx="1315861" cy="854964"/>
          </a:xfrm>
          <a:prstGeom prst="rect">
            <a:avLst/>
          </a:prstGeom>
          <a:noFill/>
          <a:ln>
            <a:noFill/>
          </a:ln>
        </p:spPr>
      </p:pic>
      <p:sp>
        <p:nvSpPr>
          <p:cNvPr id="1166" name="Google Shape;1166;p65"/>
          <p:cNvSpPr/>
          <p:nvPr/>
        </p:nvSpPr>
        <p:spPr>
          <a:xfrm>
            <a:off x="2862509" y="3424428"/>
            <a:ext cx="1315861" cy="854964"/>
          </a:xfrm>
          <a:prstGeom prst="rect">
            <a:avLst/>
          </a:prstGeom>
          <a:noFill/>
          <a:ln cap="flat" cmpd="sng" w="9525">
            <a:solidFill>
              <a:srgbClr val="D9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7" name="Google Shape;1167;p65"/>
          <p:cNvSpPr txBox="1"/>
          <p:nvPr/>
        </p:nvSpPr>
        <p:spPr>
          <a:xfrm>
            <a:off x="2560320" y="4297680"/>
            <a:ext cx="19202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000"/>
              <a:buFont typeface="Tahoma"/>
              <a:buNone/>
            </a:pPr>
            <a:r>
              <a:rPr b="1" i="0" lang="en-US" sz="1000" u="none" cap="none" strike="noStrike">
                <a:solidFill>
                  <a:srgbClr val="1F3864"/>
                </a:solidFill>
                <a:latin typeface="Tahoma"/>
                <a:ea typeface="Tahoma"/>
                <a:cs typeface="Tahoma"/>
                <a:sym typeface="Tahoma"/>
              </a:rPr>
              <a:t>แล็บ 2: loss แกว่ง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week4/slides/fig/lab_ddpm_grid.png" id="1168" name="Google Shape;1168;p6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63440" y="3713135"/>
            <a:ext cx="1920240" cy="277549"/>
          </a:xfrm>
          <a:prstGeom prst="rect">
            <a:avLst/>
          </a:prstGeom>
          <a:noFill/>
          <a:ln>
            <a:noFill/>
          </a:ln>
        </p:spPr>
      </p:pic>
      <p:sp>
        <p:nvSpPr>
          <p:cNvPr id="1169" name="Google Shape;1169;p65"/>
          <p:cNvSpPr/>
          <p:nvPr/>
        </p:nvSpPr>
        <p:spPr>
          <a:xfrm>
            <a:off x="4663440" y="3713135"/>
            <a:ext cx="1920240" cy="277549"/>
          </a:xfrm>
          <a:prstGeom prst="rect">
            <a:avLst/>
          </a:prstGeom>
          <a:noFill/>
          <a:ln cap="flat" cmpd="sng" w="9525">
            <a:solidFill>
              <a:srgbClr val="D9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0" name="Google Shape;1170;p65"/>
          <p:cNvSpPr txBox="1"/>
          <p:nvPr/>
        </p:nvSpPr>
        <p:spPr>
          <a:xfrm>
            <a:off x="4663440" y="4297680"/>
            <a:ext cx="19202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000"/>
              <a:buFont typeface="Tahoma"/>
              <a:buNone/>
            </a:pPr>
            <a:r>
              <a:rPr b="1" i="0" lang="en-US" sz="1000" u="none" cap="none" strike="noStrike">
                <a:solidFill>
                  <a:srgbClr val="1F3864"/>
                </a:solidFill>
                <a:latin typeface="Tahoma"/>
                <a:ea typeface="Tahoma"/>
                <a:cs typeface="Tahoma"/>
                <a:sym typeface="Tahoma"/>
              </a:rPr>
              <a:t>แล็บ 3: sprite จาก DDPM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week4/slides/fig/lab_cond_classes.png" id="1171" name="Google Shape;1171;p6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128583" y="3424428"/>
            <a:ext cx="1196194" cy="854964"/>
          </a:xfrm>
          <a:prstGeom prst="rect">
            <a:avLst/>
          </a:prstGeom>
          <a:noFill/>
          <a:ln>
            <a:noFill/>
          </a:ln>
        </p:spPr>
      </p:pic>
      <p:sp>
        <p:nvSpPr>
          <p:cNvPr id="1172" name="Google Shape;1172;p65"/>
          <p:cNvSpPr/>
          <p:nvPr/>
        </p:nvSpPr>
        <p:spPr>
          <a:xfrm>
            <a:off x="7128583" y="3424428"/>
            <a:ext cx="1196194" cy="854964"/>
          </a:xfrm>
          <a:prstGeom prst="rect">
            <a:avLst/>
          </a:prstGeom>
          <a:noFill/>
          <a:ln cap="flat" cmpd="sng" w="9525">
            <a:solidFill>
              <a:srgbClr val="D9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3" name="Google Shape;1173;p65"/>
          <p:cNvSpPr txBox="1"/>
          <p:nvPr/>
        </p:nvSpPr>
        <p:spPr>
          <a:xfrm>
            <a:off x="6766560" y="4297680"/>
            <a:ext cx="19202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000"/>
              <a:buFont typeface="Tahoma"/>
              <a:buNone/>
            </a:pPr>
            <a:r>
              <a:rPr b="1" i="0" lang="en-US" sz="1000" u="none" cap="none" strike="noStrike">
                <a:solidFill>
                  <a:srgbClr val="1F3864"/>
                </a:solidFill>
                <a:latin typeface="Tahoma"/>
                <a:ea typeface="Tahoma"/>
                <a:cs typeface="Tahoma"/>
                <a:sym typeface="Tahoma"/>
              </a:rPr>
              <a:t>แล็บ 4: สั่งทีละกลุ่ม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4" name="Google Shape;1174;p65"/>
          <p:cNvSpPr txBox="1"/>
          <p:nvPr/>
        </p:nvSpPr>
        <p:spPr>
          <a:xfrm>
            <a:off x="457200" y="4576572"/>
            <a:ext cx="78638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4A2"/>
              </a:buClr>
              <a:buSzPts val="800"/>
              <a:buFont typeface="Tahoma"/>
              <a:buNone/>
            </a:pPr>
            <a:r>
              <a:rPr b="0" i="1" lang="en-US" sz="800" u="none" cap="none" strike="noStrike">
                <a:solidFill>
                  <a:srgbClr val="8A94A2"/>
                </a:solidFill>
                <a:latin typeface="Tahoma"/>
                <a:ea typeface="Tahoma"/>
                <a:cs typeface="Tahoma"/>
                <a:sym typeface="Tahoma"/>
              </a:rPr>
              <a:t>ภาพผลลัพธ์จากการรัน notebook แล็บ (CPU)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79" name="Shape 1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0" name="Google Shape;1180;p66"/>
          <p:cNvSpPr txBox="1"/>
          <p:nvPr/>
        </p:nvSpPr>
        <p:spPr>
          <a:xfrm>
            <a:off x="457200" y="4814316"/>
            <a:ext cx="5486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3AE"/>
              </a:buClr>
              <a:buSzPts val="900"/>
              <a:buFont typeface="Tahoma"/>
              <a:buNone/>
            </a:pPr>
            <a:r>
              <a:rPr b="0" i="0" lang="en-US" sz="900" u="none" cap="none" strike="noStrike">
                <a:solidFill>
                  <a:srgbClr val="9AA3AE"/>
                </a:solidFill>
                <a:latin typeface="Tahoma"/>
                <a:ea typeface="Tahoma"/>
                <a:cs typeface="Tahoma"/>
                <a:sym typeface="Tahoma"/>
              </a:rPr>
              <a:t>LLM &amp; Agentic AI · สัปดาห์ 4 · ช่วงเช้า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1" name="Google Shape;1181;p66"/>
          <p:cNvSpPr/>
          <p:nvPr/>
        </p:nvSpPr>
        <p:spPr>
          <a:xfrm>
            <a:off x="8357616" y="4759452"/>
            <a:ext cx="329184" cy="329184"/>
          </a:xfrm>
          <a:prstGeom prst="ellipse">
            <a:avLst/>
          </a:prstGeom>
          <a:solidFill>
            <a:srgbClr val="1F3864"/>
          </a:solidFill>
          <a:ln cap="flat" cmpd="sng" w="12700">
            <a:solidFill>
              <a:srgbClr val="1F38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2" name="Google Shape;1182;p66"/>
          <p:cNvSpPr txBox="1"/>
          <p:nvPr/>
        </p:nvSpPr>
        <p:spPr>
          <a:xfrm>
            <a:off x="8357616" y="4759452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Tahoma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66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3" name="Google Shape;1183;p66"/>
          <p:cNvSpPr/>
          <p:nvPr/>
        </p:nvSpPr>
        <p:spPr>
          <a:xfrm>
            <a:off x="457200" y="256032"/>
            <a:ext cx="1147572" cy="274320"/>
          </a:xfrm>
          <a:prstGeom prst="roundRect">
            <a:avLst>
              <a:gd fmla="val 50000" name="adj"/>
            </a:avLst>
          </a:prstGeom>
          <a:solidFill>
            <a:srgbClr val="DDF1EA"/>
          </a:solidFill>
          <a:ln cap="flat" cmpd="sng" w="12700">
            <a:solidFill>
              <a:srgbClr val="DDF1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4" name="Google Shape;1184;p66"/>
          <p:cNvSpPr txBox="1"/>
          <p:nvPr/>
        </p:nvSpPr>
        <p:spPr>
          <a:xfrm>
            <a:off x="457200" y="256032"/>
            <a:ext cx="11475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6F5B"/>
              </a:buClr>
              <a:buSzPts val="1000"/>
              <a:buFont typeface="Tahoma"/>
              <a:buNone/>
            </a:pPr>
            <a:r>
              <a:rPr b="1" i="0" lang="en-US" sz="1000" u="none" cap="none" strike="noStrike">
                <a:solidFill>
                  <a:srgbClr val="1D6F5B"/>
                </a:solidFill>
                <a:latin typeface="Tahoma"/>
                <a:ea typeface="Tahoma"/>
                <a:cs typeface="Tahoma"/>
                <a:sym typeface="Tahoma"/>
              </a:rPr>
              <a:t>ปิดช่วงเช้า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5" name="Google Shape;1185;p66"/>
          <p:cNvSpPr txBox="1"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2400"/>
              <a:buFont typeface="Tahoma"/>
              <a:buNone/>
            </a:pPr>
            <a:r>
              <a:rPr b="1" i="0" lang="en-US" sz="2400" u="none" cap="none" strike="noStrike">
                <a:solidFill>
                  <a:srgbClr val="1F3864"/>
                </a:solidFill>
                <a:latin typeface="Tahoma"/>
                <a:ea typeface="Tahoma"/>
                <a:cs typeface="Tahoma"/>
                <a:sym typeface="Tahoma"/>
              </a:rPr>
              <a:t>คำถามชวนคิดก่อนพัก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6" name="Google Shape;1186;p66"/>
          <p:cNvSpPr/>
          <p:nvPr/>
        </p:nvSpPr>
        <p:spPr>
          <a:xfrm>
            <a:off x="457200" y="1344168"/>
            <a:ext cx="4572000" cy="1783080"/>
          </a:xfrm>
          <a:prstGeom prst="roundRect">
            <a:avLst>
              <a:gd fmla="val 6154" name="adj"/>
            </a:avLst>
          </a:prstGeom>
          <a:solidFill>
            <a:srgbClr val="FCF0D9"/>
          </a:solidFill>
          <a:ln cap="flat" cmpd="sng" w="12700">
            <a:solidFill>
              <a:srgbClr val="FCF0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7" name="Google Shape;1187;p66"/>
          <p:cNvSpPr txBox="1"/>
          <p:nvPr/>
        </p:nvSpPr>
        <p:spPr>
          <a:xfrm>
            <a:off x="640080" y="1344168"/>
            <a:ext cx="4206240" cy="1783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600"/>
              <a:buFont typeface="Tahoma"/>
              <a:buNone/>
            </a:pPr>
            <a:r>
              <a:rPr b="1" i="0" lang="en-US" sz="1600" u="none" cap="none" strike="noStrike">
                <a:solidFill>
                  <a:srgbClr val="1F3864"/>
                </a:solidFill>
                <a:latin typeface="Tahoma"/>
                <a:ea typeface="Tahoma"/>
                <a:cs typeface="Tahoma"/>
                <a:sym typeface="Tahoma"/>
              </a:rPr>
              <a:t>ถ้าอยากได้โมเดลที่ 'สร้างภาพสินค้าของบริษัทตัวเอง' จากข้อความ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600"/>
              <a:buFont typeface="Tahoma"/>
              <a:buNone/>
            </a:pPr>
            <a:r>
              <a:rPr b="1" i="0" lang="en-US" sz="1600" u="none" cap="none" strike="noStrike">
                <a:solidFill>
                  <a:srgbClr val="1F3864"/>
                </a:solidFill>
                <a:latin typeface="Tahoma"/>
                <a:ea typeface="Tahoma"/>
                <a:cs typeface="Tahoma"/>
                <a:sym typeface="Tahoma"/>
              </a:rPr>
              <a:t>ควรเทรนตั้งแต่ศูนย์แบบวันนี้ หรือเอา Stable Diffusion มาปรับ (เหมือน LoRA สัปดาห์ 3)?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8" name="Google Shape;1188;p66"/>
          <p:cNvSpPr txBox="1"/>
          <p:nvPr/>
        </p:nvSpPr>
        <p:spPr>
          <a:xfrm>
            <a:off x="457200" y="3264408"/>
            <a:ext cx="457200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A"/>
              </a:buClr>
              <a:buSzPts val="1200"/>
              <a:buFont typeface="Tahoma"/>
              <a:buNone/>
            </a:pPr>
            <a:r>
              <a:rPr b="0" i="0" lang="en-US" sz="1200" u="none" cap="none" strike="noStrike">
                <a:solidFill>
                  <a:srgbClr val="5F6B7A"/>
                </a:solidFill>
                <a:latin typeface="Tahoma"/>
                <a:ea typeface="Tahoma"/>
                <a:cs typeface="Tahoma"/>
                <a:sym typeface="Tahoma"/>
              </a:rPr>
              <a:t>คำใบ้: สัปดาห์ 3 เราสรุปว่า 'prompt + RAG ก่อน, fine-tune เมื่อจำเป็น' — สัปดาห์หน้าจะได้คำตอบฝั่งภาพ: prompt / ControlNet / LoRA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week4/slides/fig/use/e_L4_49_0.png" id="1189" name="Google Shape;1189;p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57800" y="2310322"/>
            <a:ext cx="3429000" cy="1176652"/>
          </a:xfrm>
          <a:prstGeom prst="rect">
            <a:avLst/>
          </a:prstGeom>
          <a:noFill/>
          <a:ln>
            <a:noFill/>
          </a:ln>
        </p:spPr>
      </p:pic>
      <p:sp>
        <p:nvSpPr>
          <p:cNvPr id="1190" name="Google Shape;1190;p66"/>
          <p:cNvSpPr/>
          <p:nvPr/>
        </p:nvSpPr>
        <p:spPr>
          <a:xfrm>
            <a:off x="5257800" y="2310322"/>
            <a:ext cx="3429000" cy="1176652"/>
          </a:xfrm>
          <a:prstGeom prst="rect">
            <a:avLst/>
          </a:prstGeom>
          <a:noFill/>
          <a:ln cap="flat" cmpd="sng" w="9525">
            <a:solidFill>
              <a:srgbClr val="D9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1" name="Google Shape;1191;p66"/>
          <p:cNvSpPr txBox="1"/>
          <p:nvPr/>
        </p:nvSpPr>
        <p:spPr>
          <a:xfrm>
            <a:off x="457200" y="4576572"/>
            <a:ext cx="78638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4A2"/>
              </a:buClr>
              <a:buSzPts val="800"/>
              <a:buFont typeface="Tahoma"/>
              <a:buNone/>
            </a:pPr>
            <a:r>
              <a:rPr b="0" i="1" lang="en-US" sz="800" u="none" cap="none" strike="noStrike">
                <a:solidFill>
                  <a:srgbClr val="8A94A2"/>
                </a:solidFill>
                <a:latin typeface="Tahoma"/>
                <a:ea typeface="Tahoma"/>
                <a:cs typeface="Tahoma"/>
                <a:sym typeface="Tahoma"/>
              </a:rPr>
              <a:t>ภาพ: Siyu Zhu (Fudan) Lecture 4&amp;5 หน้า 49 · ต้นฉบับ Mike Shou, NUS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2026-10-17T15:11:27Z</dcterms:created>
  <dc:creator>ดร.ธีรพงศ์ อรชร</dc:creator>
</cp:coreProperties>
</file>