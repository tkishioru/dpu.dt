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เปิดคาบ: บอกภาพรวมสั้น ๆ แล้วชี้ว่าเช้าเป็นทฤษฎี บ่ายลงมือทำบน Colab ทุกแล็บ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ย้ำว่าวันนี้ไม่มีทฤษฎีใหม่มาก แต่เอาของที่เรียนแล้วมาประกอบเป็นโมเดลจริงตัวหนึ่ง แล้วต่อยอดสองทาง: fine-tune กับ prompt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ให้นักศึกษาอ่านออกเสียงหรือจดไว้ ทุกครั้งที่ขึ้นหัวข้อใหม่จะกลับมาชี้สไลด์นี้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เปิดด้วยคำถาม: ถ้าผมพิมพ์ 'เมืองหลวงของประเทศไทยคือ' โมเดลทำอะไร? ให้ตอบก่อนเฉลย · ตัวเลขในกราฟเป็นค่าสมมติ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โยงกลับสไลด์ 3 สายของสัปดาห์ 2 — BERT (WangchanBERTa) มองได้สองทาง, GPT/Llama มองได้เฉพาะ token ก่อนหน้า · Claude/Gemini เชื่อกันว่าอยู่สายนี้ แต่ผู้พัฒนาไม่เปิดเผยรายละเอียด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ชี้ทีละชิ้นซ้ายไปขวา แล้วเปิดฝั่งขวาว่าข้างใน block มีอะไร — ย้ำ residual = ทางลัดแบบ ResNet สัปดาห์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ประเด็นสำคัญ: เกือบทุกชิ้นคือ matrix multiplication + activation แบบสัปดาห์ 1 ส่วนที่ใหม่จริงมีเพียง attention (สัปดาห์ 2) กับเทคนิคเสริมอย่าง normalization และวิธีบอกตำแหน่ง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เล่าเรื่องห้องประชุมก่อนแตะสูตรใด ๆ — ถ้านักศึกษาเข้าใจสไลด์นี้ ที่เหลือคือการใส่ตัวเลข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ทั้งสี่คือ Dense layer ธรรมดาที่ไม่มี bias — ส่วนที่ฉลาดคือขั้น 'ถาม → เทียบป้าย → หยิบเนื้อหา → เขียนใส่ตัวเอง' · มี 32 หัว = ถาม 32 คำถามพร้อมกัน · LoRA ใน Lab 4 แทรกที่สี่ตารางนี้พอดี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ประเด็น: ไม่มีชิ้นไหนใน LLM ที่นักศึกษาไม่เคยเจอ — ที่ใหม่จริงมีแค่ attention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 artifact 'Config to Model' คู่กัน: คลิกค่าไหน ชิ้นส่วนนั้นสว่าง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ค่าชุดนี้กำหนด 'ขนาดตาราง' — สไลด์ถัดไปคือค่าที่กำหนด attention กับ context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ตอนสาธิต Lab 1 จะพิมพ์ค่าจริงให้ดูว่าตรงทุกค่า · Qwen3 เลือกตัวเลขคนละชุดบนโครงเดียวกัน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ให้นักศึกษาคำนวณ embedding เองก่อน (128,256 × 2,048) แล้วค่อยเฉลยส่วนที่เหลือ ตอน Lab 1 จะนับด้วยโค้ดเทียบ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ให้นักศึกษาทำขั้น 1 เองก่อน (คูณเลขสองตัว) แล้วค่อยเฉลยที่เหลือ · Lab 1.4 จะนับด้วยโค้ดได้ 1,235.8 ล้าน ต่างกันแค่ norm 67,584 ตัวที่จงใจไม่นับ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ถ้ามีคนถามว่าทำไมชื่อ 1B แต่ได้ 1.24B: ชื่อรุ่นปัดลง เป็นธรรมเนียม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โครงใหญ่ยังเป็น Transformer 2017 (ตัด cross-attention เพราะไม่มี encoder) สี่อย่างนี้แค่ทำให้เทรนเร็วขึ้น รันถูกลง รับ context ยาวขึ้น — ไม่ต้องลงสูตร มีภาพประกอบใน artifact 'Four Llama Tricks'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คำนวณให้ดูบนกระดานได้ เลขจริงจะออกมาใน Lab 1 ข้อ 1.6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บทเรียน: สร้างโมเดลไทยไม่ต้องออกแบบสถาปัตยกรรมใหม่ ต้องมีข้อมูลไทยดีและวิธีเทรนที่ไม่ทำให้ความสามารถเดิมหาย = transfer learning ที่ทำกับภาพในสัปดาห์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ถ้ามีเวลา: ให้นักศึกษาลองคำนวณพารามิเตอร์ Qwen3 เอง (เฉลย ≈ 1.72B อยู่ในเอกสาร)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Typhoon2 ใช้ tokenizer ของ Llama 3 ตัวเดิม (vocab 128,256) — ไม่ได้ขยาย เพราะมี token ไทยพอสมควรอยู่แล้ว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ตอบคำถามที่มักถูกถาม: ทำไมไม่สอนด้วย ChatGPT เลย — เพราะเปิดดูข้างในไม่ได้ และ fine-tune เองไม่ได้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เตรียม Colab ไว้ก่อนเริ่มคาบ: โหลด Typhoon2 ล่วงหน้าเพื่อไม่ต้องรอ 2–3 นาทีต่อหน้าห้อง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ชี้ว่า config คือพิมพ์เขียว ยังไม่มี weight สักตัว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เลื่อนช้า ๆ ตอน print(model) ให้เห็นว่า layers.0 ถึง layers.15 เหมือนกันหมด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จบสาธิตด้วยการชี้กลับไปสไลด์ 'ประโยคเดียวที่จะใช้ทั้งวัน'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ถามสุ่ม 2–3 คนให้พูดประโยคนี้ด้วยคำของตัวเอง แล้วพัก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กลับไปที่ประโยคหลักของวัน: ถ้าคำตอบ = โมเดล(input) แล้วเราแก้ตรงไหนได้บ้าง?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กฎที่ให้จำ: ลอง prompt ก่อนเสมอ ปัญหา 'ไม่รู้ข้อเท็จจริง' → RAG ปัญหา 'รู้แต่ตอบไม่ถูกแบบ' → fine-tune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ให้นักศึกษายกตัวอย่างงานของตัวเอง แล้วเดินตาม flow นี้ด้วยกัน 1–2 ตัวอย่าง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ย้ำว่าเราจะไม่ทำ pretraining แน่นอน แต่จะ fine-tune บ่ายนี้จริง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เปรียบเทียบ: สัปดาห์ 1 แช่แข็ง ResNet แล้วเทรนแค่ classifier ชั้นบน — LoRA แทรกชั้นเล็กเข้าไป 'ทุกชั้น' แทนที่จะแทรกแค่ท้ายสุด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ถ้าใครถามว่า rank ควรเท่าไร: 8–64 ใช้กันทั่วไป มากขึ้นไม่ได้ดีขึ้นเสมอ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ตัวเลข 4-bit ที่จะเห็นใน Lab 4: ถ้านับพารามิเตอร์ตรง ๆ จะได้ราว 750 ล้าน เพราะ 2 ค่าถูกอัดใน 1 ไบต์ — notebook แก้ให้แล้ว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เล่าเป็นบทละครก่อน แล้วค่อยเปิดสไลด์ถัดไปที่เป็น token จริงทั้งหมด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ถ้ารูปแบบไม่ตรงกับที่โมเดลเคยเห็น ผลจะแย่ลงแม้ข้อมูลจะดี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ชี้ token พิเศษทีละตัว: begin_of_text, start_header_id/end_header_id, eot_id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จุดที่นักศึกษามักงง: ไม่มีไฟล์ label แยก — ไลบรารีดึงคำตอบออกจากบทสนทนามาเป็น label ให้เอง · Lab 4 มีเซลล์พิมพ์ว่า 'ส่วนที่คิด loss' คืออะไร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ไล่ทีละแถว แล้วเปิดตารางถัดไปสำหรับข้อควรระวัง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กรณี C ของ Lab 4 = สอนโมเดลให้ตอบ JSON นิ่ง ๆ โดยไม่ต้อง prompt ยาว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บ่ายนี้ Lab 4 ใช้กรณี C เพราะวัดผลอัตโนมัติได้ในเวลาจำกัด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เน้นข้อ 3: ถ้าเลือก prompt จากชุดไหน แล้วเอาชุดนั้นมาตัดสิน ผลจะเอียงเข้าข้าง prompt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ให้เวลา 1 นาทีเขียนลงกระดาษ แล้วสุ่มถาม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ไล่ ①→⑥ ช้า ๆ แล้วชี้ลูปวนกลับ ③ — โยงกับ Lab 2.2 สัปดาห์ 2 ที่ดู LLM เขียนทีละ token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ให้เห็นว่าไม่มีขั้นไหน 'เข้าใจคำสั่ง' เป็นพิเศษ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ทั้งสามข้อคือทฤษฎีของสัปดาห์ 2 ที่กลับมาในบทบาทใหม่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อ่าน prompt ทั้งสามให้ฟัง แล้วถามว่าคิดว่าคำตอบจะต่างกันอย่างไร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ย้ำสองครั้งว่าตัวเลขเป็นค่าสมมติเพื่ออธิบาย บ่ายนี้จะได้ค่าจริง ซึ่งอาจไม่สวยเท่านี้ — และนั่นคือประเด็นที่จะอภิปราย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ใน Lab 2 จะเห็นกราฟ attention ดิบที่สูงเฉพาะ token แรก และค่า sink เป็นตัวเลข — ไม่ต้องตกใจ เป็นเรื่องปกติ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รายละเอียดเล็กแต่ทำให้ผลการทดลองผิดได้ทั้งแล็บ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ถ้ามีเวลา สาธิตรันสด 1 ครั้งให้เห็นว่า prompt ไม่ดีตอบไม่ซ้ำกัน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ย้ำว่าแต่ละข้อไม่ใช่เคล็ดลับ แต่มีเหตุผลจากกลไกในคอลัมน์ขวา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กลับไปสไลด์ 'ประโยคเดียวที่จะใช้ทั้งวัน' อีกครั้ง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ย้ำเรื่อง GPU T4 และให้เปิด notebook รอไว้ก่อนเข้าคาบบ่าย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พักกลางวัน — เตือนให้เปิด Colab เลือก T4 และเปิด notebook Lab 2 รอไว้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206240" cy="4206240"/>
          </a:xfrm>
          <a:prstGeom prst="ellipse">
            <a:avLst/>
          </a:prstGeom>
          <a:solidFill>
            <a:srgbClr val="22325A"/>
          </a:solidFill>
          <a:ln w="12700">
            <a:solidFill>
              <a:srgbClr val="2232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3108960"/>
            <a:ext cx="2743200" cy="2743200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เปิดฝากระโปรง LLM: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โครงสร้าง การเทรน และการ Prompt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 (ทฤษฎี)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0233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ดร.ธีรพงศ์ อรชร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00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วันนี้เรียนอะไร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014216" cy="3387852"/>
          </a:xfrm>
          <a:prstGeom prst="roundRect">
            <a:avLst>
              <a:gd name="adj" fmla="val 2699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" y="1444752"/>
            <a:ext cx="365760" cy="36576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3504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60704" y="1426464"/>
            <a:ext cx="3264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ช่วงเช้า · ทฤษฎี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03504" y="1901952"/>
            <a:ext cx="3721608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1 · ผ่าโครงสร้าง LLM (Typhoon2-1B) + สาธิตสด Lab 1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2 · การเทรน การ fine-tune และการเตรียมข้อมูล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3 · Prompt ทำงานอย่างไรในโมเดล — prompt ดี vs ไม่ดี ทีละขั้น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72584" y="1298448"/>
            <a:ext cx="4014216" cy="3387852"/>
          </a:xfrm>
          <a:prstGeom prst="roundRect">
            <a:avLst>
              <a:gd name="adj" fmla="val 2699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18888" y="1444752"/>
            <a:ext cx="365760" cy="365760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18888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276088" y="1426464"/>
            <a:ext cx="3264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ช่วงบ่าย · ปฏิบัติ (Colab)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818888" y="1901952"/>
            <a:ext cx="3721608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2 · ตามรอย prompt 3 ระดับ (คลุมเครือ / สั้น / เต็ม) วัดด้วยตัวชี้วัดเดียวกัน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3 · Prompt engineering อย่างเป็นระบบ + เทียบ ChatGPT/Claude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4 · เตรียมข้อมูลและ fine-tune ด้วย LoRA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เชื่อมโยง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จากสองสัปดาห์ก่อน สู่วันนี้</a:t>
            </a:r>
            <a:endParaRPr lang="en-US" sz="2400" dirty="0"/>
          </a:p>
        </p:txBody>
      </p:sp>
      <p:pic>
        <p:nvPicPr>
          <p:cNvPr id="8" name="Image 0" descr="/home/claude/week3/slides/fig/01_road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857" y="1298448"/>
            <a:ext cx="7050287" cy="2148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" y="3758184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 1: neural network เรียนรู้อย่างไร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6136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89376" y="3758184"/>
            <a:ext cx="201168" cy="201168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7284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 2: Transformer และ LLM ในระดับแนวคิด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6552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3536" y="3758184"/>
            <a:ext cx="201168" cy="20116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7700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วันนี้: หยิบโมเดลจริงมาผ่าให้เห็นว่าทั้งหมดประกอบกันอย่างไร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38074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เส้นด้ายของวัน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ประโยคเดียวที่จะใช้ทั้งวัน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7863840" cy="1737360"/>
          </a:xfrm>
          <a:prstGeom prst="roundRect">
            <a:avLst>
              <a:gd name="adj" fmla="val 6316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1417320"/>
            <a:ext cx="7406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คือฟังก์ชันที่รับ token เข้าไป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แล้วทำนายความน่าจะเป็นของ token ถัดไป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33756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 fine-tune = เปลี่ยนตัวฟังก์ชัน (weight)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 prompt = เปลี่ยนสิ่งที่ป้อนเข้าฟังก์ชัน (input)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ทุกหัวข้อวันนี้จะกลับมาที่ประโยคนี้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766560" y="1280160"/>
            <a:ext cx="2194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0" b="1" dirty="0">
                <a:solidFill>
                  <a:srgbClr val="2740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B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ผ่าโครงสร้าง LLM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Typhoon2-1B ประกอบจากอะไร · อ่าน config อย่างไร · นับพารามิเตอร์ด้วยมือ · Typhoon2 เกิดจาก Llama อย่างไร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ทบทวน: LLM ทำอะไรกันแน่</a:t>
            </a:r>
            <a:endParaRPr lang="en-US" sz="2400" dirty="0"/>
          </a:p>
        </p:txBody>
      </p:sp>
      <p:pic>
        <p:nvPicPr>
          <p:cNvPr id="8" name="Image 0" descr="/home/claude/week3/slides/fig/03_next_tok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778" y="1298448"/>
            <a:ext cx="7030444" cy="2148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630168"/>
            <a:ext cx="4023360" cy="1056132"/>
          </a:xfrm>
          <a:prstGeom prst="roundRect">
            <a:avLst>
              <a:gd name="adj" fmla="val 6926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" y="3758184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703320"/>
            <a:ext cx="347472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รับ token ทั้งหมดที่มี → ให้ความน่าจะเป็นของ token ถัดไป → เลือก 1 token ต่อท้าย แล้วทำซ้ำ (Lab 2.2 สัปดาห์ 2)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3630168"/>
            <a:ext cx="4023360" cy="1056132"/>
          </a:xfrm>
          <a:prstGeom prst="roundRect">
            <a:avLst>
              <a:gd name="adj" fmla="val 6926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3758184"/>
            <a:ext cx="201168" cy="201168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74920" y="3703320"/>
            <a:ext cx="347472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โมเดลไม่ได้ "ค้นหาความจริง" มันทำนายรูปแบบที่เคยเห็น — รากของ hallucination และเหตุผลที่ prompt มีผล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ทำไมโมเดลแชทเกือบทั้งหมดเป็น decoder-only</a:t>
            </a:r>
            <a:endParaRPr lang="en-US" sz="2400" dirty="0"/>
          </a:p>
        </p:txBody>
      </p:sp>
      <p:pic>
        <p:nvPicPr>
          <p:cNvPr id="8" name="Image 0" descr="/home/claude/week3/slides/fig/04_three_famil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67830"/>
            <a:ext cx="5486400" cy="24490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72200" y="1298448"/>
            <a:ext cx="2514600" cy="1611630"/>
          </a:xfrm>
          <a:prstGeom prst="roundRect">
            <a:avLst>
              <a:gd name="adj" fmla="val 4539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0216" y="1426464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0" y="1371600"/>
            <a:ext cx="1965960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งานแชทคือ "อ่านแล้วเขียนต่อ" ซึ่ง decoder ทำได้คนเดียวจบ: อ่านทุกอย่างที่มีผ่าน attention แล้วเขียนต่อทีละ token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72200" y="3074670"/>
            <a:ext cx="2514600" cy="1611630"/>
          </a:xfrm>
          <a:prstGeom prst="roundRect">
            <a:avLst>
              <a:gd name="adj" fmla="val 4539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0216" y="3202686"/>
            <a:ext cx="201168" cy="201168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83680" y="3147822"/>
            <a:ext cx="1965960" cy="1465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โมเดลชนิดเดียวใช้ได้ทุกงาน เพียงเปลี่ยนสิ่งที่ป้อนเข้าไป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ประกอบโมเดลทีละชิ้น: มีแค่ 4 ประเภท</a:t>
            </a:r>
            <a:endParaRPr lang="en-US" sz="2400" dirty="0"/>
          </a:p>
        </p:txBody>
      </p:sp>
      <p:pic>
        <p:nvPicPr>
          <p:cNvPr id="8" name="Image 0" descr="/home/claude/week3/slides/fig/05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95923"/>
            <a:ext cx="5486400" cy="299290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72200" y="1298448"/>
            <a:ext cx="2514600" cy="3387852"/>
          </a:xfrm>
          <a:prstGeom prst="roundRect">
            <a:avLst>
              <a:gd name="adj" fmla="val 2909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0216" y="1426464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0" y="1371600"/>
            <a:ext cx="1965960" cy="3241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① Embedding → ② Decoder block (Attention + Feed-forward) → ③ ซ้อน 16 ชั้น + normalization ครั้งสุดท้าย → ④ Output head + softmax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แต่ละชิ้นคืออะไร (ภาษาคน)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1906524" cy="3387852"/>
          </a:xfrm>
          <a:prstGeom prst="roundRect">
            <a:avLst>
              <a:gd name="adj" fmla="val 4796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1444752"/>
            <a:ext cx="365760" cy="36576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60704" y="1426464"/>
            <a:ext cx="11567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① Embedding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03504" y="1901952"/>
            <a:ext cx="1613916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ตารางแปลง token id → vector ยาว 2,048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ขนาด 128,256 × 2,048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เป็นชั้นแรกสุด คล้าย vector ของคำที่วาดเทียบใน Lab 1.3 สัปดาห์ 2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564892" y="1298448"/>
            <a:ext cx="1906524" cy="3387852"/>
          </a:xfrm>
          <a:prstGeom prst="roundRect">
            <a:avLst>
              <a:gd name="adj" fmla="val 4796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11196" y="1444752"/>
            <a:ext cx="365760" cy="365760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11196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168396" y="1426464"/>
            <a:ext cx="11567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② Decoder block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2711196" y="1901952"/>
            <a:ext cx="1613916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Attention: แต่ละ token "มองหา" token อื่นที่เกี่ยวข้อง (สัปดาห์ 2)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Feed-forward: neural network ธรรมดา ประมวลผลแต่ละ token แยกกัน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คั่นด้วย normalization + residual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72584" y="1298448"/>
            <a:ext cx="1906524" cy="3387852"/>
          </a:xfrm>
          <a:prstGeom prst="roundRect">
            <a:avLst>
              <a:gd name="adj" fmla="val 4796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18888" y="1444752"/>
            <a:ext cx="365760" cy="36576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18888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276088" y="1426464"/>
            <a:ext cx="11567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③ ซ้อน 16 ชั้น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818888" y="1901952"/>
            <a:ext cx="1613916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block เดิมซ้ำ 16 ครั้ง = "deep"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เหมือน CNN ซ้อน conv layer หลายชั้น (สัปดาห์ 1)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ปิดด้วย normalization ครั้งสุดท้าย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780276" y="1298448"/>
            <a:ext cx="1906524" cy="3387852"/>
          </a:xfrm>
          <a:prstGeom prst="roundRect">
            <a:avLst>
              <a:gd name="adj" fmla="val 479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26580" y="1444752"/>
            <a:ext cx="365760" cy="365760"/>
          </a:xfrm>
          <a:prstGeom prst="ellipse">
            <a:avLst/>
          </a:prstGeom>
          <a:solidFill>
            <a:srgbClr val="5F6B7A"/>
          </a:solidFill>
          <a:ln w="12700">
            <a:solidFill>
              <a:srgbClr val="5F6B7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2658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383780" y="1426464"/>
            <a:ext cx="11567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④ Output head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926580" y="1901952"/>
            <a:ext cx="1613916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แปลง vector กลับเป็นคะแนนของทุก token ใน vocab แล้ว softmax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softmax ตัวเดียวกับที่จำแนก 10 คลาสใน Fashion-MNIST — แต่ตอนนี้ 128,256 คลาส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Attention คืออะไร — เหมือนหันไปดูว่าใครพูดอะไรไว้ก่อนหน้า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2609088" cy="3387852"/>
          </a:xfrm>
          <a:prstGeom prst="roundRect">
            <a:avLst>
              <a:gd name="adj" fmla="val 3505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1426464"/>
            <a:ext cx="231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สถานการณ์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03504" y="1901952"/>
            <a:ext cx="2316480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ในห้องประชุมมีคนพูดว่า "มันแพง"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คุณสงสัยว่า "มัน" คืออะไร สมองจึงหันกลับไปดูว่าก่อนหน้านี้ใครพูดถึงอะไรไว้ แล้วหยิบคำที่น่าจะใช่มาเติมความหมาย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67456" y="1298448"/>
            <a:ext cx="2609088" cy="3387852"/>
          </a:xfrm>
          <a:prstGeom prst="roundRect">
            <a:avLst>
              <a:gd name="adj" fmla="val 3505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13760" y="1426464"/>
            <a:ext cx="231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ในโมเดล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413760" y="1901952"/>
            <a:ext cx="2316480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token "มัน" ทำแบบเดียวกัน: มองย้อนไปทุก token ก่อนหน้า ให้คะแนนว่าใครเกี่ยวข้อง แล้วดึงความหมายของตัวที่คะแนนสูงมาผสมกับตัวเอง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คะแนนที่รวมกันได้ 1 นี่แหละคือ "attention" ที่ Lab 2 จะวาดกราฟ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77712" y="1298448"/>
            <a:ext cx="2609088" cy="3387852"/>
          </a:xfrm>
          <a:prstGeom prst="roundRect">
            <a:avLst>
              <a:gd name="adj" fmla="val 3505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24016" y="1426464"/>
            <a:ext cx="231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ทำไมสำคัญกับ prompt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224016" y="1901952"/>
            <a:ext cx="2316480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token ดึงได้เฉพาะสิ่งที่อยู่ในห้อง (context)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สิ่งที่ไม่ได้เขียนไว้ใน prompt ไม่มีให้ดึง โมเดลต้องเดาจากความจำตอนเทรน → hallucination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 · K · V · O: สี่ตารางใน attention ทำหน้าที่อะไร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1906524" cy="3387852"/>
          </a:xfrm>
          <a:prstGeom prst="roundRect">
            <a:avLst>
              <a:gd name="adj" fmla="val 4796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1426464"/>
            <a:ext cx="16139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 = คำถาม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03504" y="1901952"/>
            <a:ext cx="1613916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"ฉันกำลังหาอะไร"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token "มัน" ถามว่า มีของอะไรถูกพูดถึงก่อนหน้านี้บ้าง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564892" y="1298448"/>
            <a:ext cx="1906524" cy="3387852"/>
          </a:xfrm>
          <a:prstGeom prst="roundRect">
            <a:avLst>
              <a:gd name="adj" fmla="val 4796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11196" y="1426464"/>
            <a:ext cx="16139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 = ป้ายชื่อ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711196" y="1901952"/>
            <a:ext cx="1613916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"ฉันมีอะไรให้ค้นเจอ"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 token ชูป้าย: "กาแฟ" = สิ่งของ, "ดี" = คำบรรยาย · เอาคำถามไปเทียบป้าย ป้ายไหนตรงได้คะแนนสูง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72584" y="1298448"/>
            <a:ext cx="1906524" cy="3387852"/>
          </a:xfrm>
          <a:prstGeom prst="roundRect">
            <a:avLst>
              <a:gd name="adj" fmla="val 4796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18888" y="1426464"/>
            <a:ext cx="16139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 = เนื้อหา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818888" y="1901952"/>
            <a:ext cx="1613916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"ถ้าเลือกฉัน จะได้ข้อมูลนี้ไป"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พอเลือก "กาแฟ" สิ่งที่ได้คือความหมายจริงของกาแฟ ไม่ใช่ป้าย (เหมือนสันหนังสือ vs เนื้อใน)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780276" y="1298448"/>
            <a:ext cx="1906524" cy="3387852"/>
          </a:xfrm>
          <a:prstGeom prst="roundRect">
            <a:avLst>
              <a:gd name="adj" fmla="val 479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26580" y="1426464"/>
            <a:ext cx="16139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 = สรุปกลับเข้าตัว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926580" y="1901952"/>
            <a:ext cx="1613916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รวมผลจากทุกหัวแล้วเขียนกลับลงใน "มัน"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ตอนนี้ "มัน" = มัน (ที่หมายถึงกาแฟ) ส่งต่อไปชั้นถัดไป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Feed-forward = neural network แบบสัปดาห์ 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98448"/>
            <a:ext cx="3931920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 1 (Fashion-MNIST)</a:t>
            </a:r>
            <a:endParaRPr lang="en-US" sz="150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30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Dense(128, relu) → Dense(10): ขยาย 784 → 128 → หด 10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ใน Typhoon2 (ทุกชั้น)</a:t>
            </a:r>
            <a:endParaRPr lang="en-US" sz="150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30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ขยาย 2,048 → 8,192 → หดกลับ 2,048 — สองชั้น Dense มี activation คั่น แค่ตัวเลขใหญ่กว่า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ต่างกัน 3 จุดเล็ก ๆ</a:t>
            </a:r>
            <a:endParaRPr lang="en-US" sz="150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30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 bias · activation เป็น SiLU (ReLU โค้งนุ่ม) · มี "ประตู" จึงเป็น 3 ตารางแทน 2 (SwiGLU)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หน้าที่ต่างจาก attention</a:t>
            </a:r>
            <a:endParaRPr lang="en-US" sz="150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30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attention = รวบรวมข้อมูลจากเพื่อน · feed-forward = เอาที่รวบรวมมาคิดต่อคนเดียว (ทีละ token ไม่เห็นตัวอื่น)</a:t>
            </a:r>
            <a:endParaRPr lang="en-US" sz="1500" dirty="0"/>
          </a:p>
        </p:txBody>
      </p:sp>
      <p:pic>
        <p:nvPicPr>
          <p:cNvPr id="9" name="Image 0" descr="/home/claude/week3/slides/fig/05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870036"/>
            <a:ext cx="4114800" cy="22446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config.json คืออะไร — พิมพ์เขียว ไม่ใช่ตัวบ้าน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2609088" cy="3387852"/>
          </a:xfrm>
          <a:prstGeom prst="roundRect">
            <a:avLst>
              <a:gd name="adj" fmla="val 3505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1426464"/>
            <a:ext cx="231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ดาวน์โหลดโมเดลได้ 2 อย่าง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03504" y="1901952"/>
            <a:ext cx="2316480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 weight: ตัวเลขพันกว่าล้านค่า ≈ 2.5 GB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config.json: ข้อความไม่กี่สิบบรรทัด บอกว่าต้องประกอบโครง network หน้าตาแบบไหน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67456" y="1298448"/>
            <a:ext cx="2609088" cy="3387852"/>
          </a:xfrm>
          <a:prstGeom prst="roundRect">
            <a:avLst>
              <a:gd name="adj" fmla="val 3505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13760" y="1426464"/>
            <a:ext cx="231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ไลบรารีทำอะไรตอนโหลด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413760" y="1901952"/>
            <a:ext cx="2316480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 config → สร้างโครงเปล่า → เทตัวเลขจาก weight ลงไป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ถ้าโครงไม่ตรง weight ก็ใส่ไม่ลง — พิมพ์เขียวบ้านกับวัสดุก่อสร้าง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77712" y="1298448"/>
            <a:ext cx="2609088" cy="3387852"/>
          </a:xfrm>
          <a:prstGeom prst="roundRect">
            <a:avLst>
              <a:gd name="adj" fmla="val 3505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24016" y="1426464"/>
            <a:ext cx="231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ทำไมต้องอ่านให้เป็น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224016" y="1901952"/>
            <a:ext cx="2316480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ทุกค่าใน config คือ "การตัดสินใจออกแบบ" ที่คนเลือกก่อนเทรน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อ่านแล้วรู้ทันทีว่าโมเดลกว้าง/ลึก/รู้จักกี่คำ และคำนวณจำนวนพารามิเตอร์ได้โดยไม่ต้องโหลด weight เลย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 config.json (1/2): ขนาดของตารางต่าง ๆ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280160"/>
                <a:gridCol w="301752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ค่าใน config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Typhoon2-1B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ภาษาคน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กำหนดชิ้นไหนในภาพ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architectures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LlamaForCausalLM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ประกอบตามแบบ Llama · CausalLM = ทำนายคำถัดไป มองได้เฉพาะคำก่อนหน้า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ลำดับชิ้นทั้งภาพ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vocab_size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128,256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รู้จัก token กี่แบบ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จำนวนแถวของตาราง Embedding และจำนวนช่องคะแนนของ Output head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hidden_size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2,048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vector ของแต่ละ token ยาวเท่าไร (ความกว้าง) — ไหลผ่านทุกชั้นขนาดไม่เปลี่ยน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ความกว้างของทุกชิ้น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num_hidden_layers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ซ้อน block กี่ชั้น (ความลึก)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จำนวนชั้นในกองซ้อน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intermediate_size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8,192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feed-forward ขยาย 2,048 → 8,192 → หดกลับ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ส่วนที่ป่องของ feed-forward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tie_word_embeddings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true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output head ใช้ตาราง embedding ตัวเดิมกลับด้าน ไม่มีตารางที่สอง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เส้นเชื่อม Embedding ↔ Output head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 config.json (2/2): attention และ context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280160"/>
                <a:gridCol w="301752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ค่าใน config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Typhoon2-1B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ภาษาคน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กำหนดชิ้นไหนในภาพ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num_attention_heads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32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attention ถาม 32 คำถามพร้อมกัน (แต่ละหัวจับความสัมพันธ์คนละแบบ)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จำนวนช่อง Q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head_dim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64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แต่ละหัวได้ vector ยาวเท่าไร = 2,048 ÷ 32 (Llama ไม่เขียนใน config เพราะคำนวณได้)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ขนาดของช่องเล็ก ๆ ใน Q, K, V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num_key_value_heads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ป้ายชื่อ (K) และเนื้อหา (V) มีแค่ 8 ชุด ให้ 32 คำถามแบ่งกันใช้ = GQA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ช่อง K, V (กว้าง 8 × 64 = 512)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max_position_embeddings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131,072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รับ prompt + คำตอบ รวมกันได้ยาวสุดกี่ token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ไม้บรรทัดตำแหน่ง (RoPE)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5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คำนวณจำนวนพารามิเตอร์ด้วยมือ — ทำเหมือนสัปดาห์ 1</a:t>
            </a:r>
            <a:endParaRPr lang="en-US" sz="2400" dirty="0"/>
          </a:p>
        </p:txBody>
      </p:sp>
      <p:pic>
        <p:nvPicPr>
          <p:cNvPr id="8" name="Image 0" descr="/home/claude/week3/slides/fig/06_para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0171" y="1298448"/>
            <a:ext cx="6523658" cy="2148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630168"/>
            <a:ext cx="4023360" cy="1056132"/>
          </a:xfrm>
          <a:prstGeom prst="roundRect">
            <a:avLst>
              <a:gd name="adj" fmla="val 6926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" y="3758184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703320"/>
            <a:ext cx="347472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feed-forward กินพารามิเตอร์มากกว่า attention เกือบ 5 เท่า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3630168"/>
            <a:ext cx="4023360" cy="1056132"/>
          </a:xfrm>
          <a:prstGeom prst="roundRect">
            <a:avLst>
              <a:gd name="adj" fmla="val 6926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3758184"/>
            <a:ext cx="201168" cy="201168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74920" y="3703320"/>
            <a:ext cx="347472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embedding อย่างเดียวคิดเป็นราว 21% — ขนาด vocab จึงเป็นการตัดสินใจที่มีราคา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5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นับพารามิเตอร์ด้วยมือใน 5 ขั้น — กฎเดียว: ตารางกว้าง × ยาว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420624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ขั้น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คิดอย่างไร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Embedding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128,256 แถว × 2,048 คอลัมน์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262.7 ล้าน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Attention (1 ชั้น)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 2,048×2,048 + K 2,048×512 + V 2,048×512 + O 2,048×2,048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10.5 ล้าน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Feed-forward (1 ชั้น)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 ตาราง × 2,048 × 8,192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50.3 ล้าน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ซ้อน 16 ชั้น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(10.5 + 50.3) × 16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973 ล้าน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รวม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262.7 + 973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1,236 ล้าน ≈ 1.24B ✓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0462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" y="4283964"/>
            <a:ext cx="164592" cy="164592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4046220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Feed-forward กิน 65% · Embedding 21% · Attention แค่ 14% — คนมักคิดว่า attention คือตัวใหญ่ แต่ไม่ใช่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5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สี่ข้อที่ต่างจากสูตร (784 × 128) + 128 ของสัปดาห์ 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98448"/>
            <a:ext cx="8229600" cy="2519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 bias</a:t>
            </a:r>
            <a:endParaRPr lang="en-US" sz="150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30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Llama ไม่ใช้ bias ในชั้น linear จึงไม่มี "+128" — เหลือแค่ผลคูณของขนาดตาราง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ไม่นับ normalization (เพราะเล็กมาก)</a:t>
            </a:r>
            <a:endParaRPr lang="en-US" sz="150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30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RMSNorm มีพารามิเตอร์แค่ 2,048 ตัวต่อจุด รวมทั้งโมเดลไม่ถึง 0.01%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ไม่นับ output head</a:t>
            </a:r>
            <a:endParaRPr lang="en-US" sz="150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30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tie_word_embeddings = true → ใช้ตาราง embedding ตัวเดียวกัน (ประหยัดไป 262.7 ล้าน)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 และ V เล็กกว่า Q</a:t>
            </a:r>
            <a:endParaRPr lang="en-US" sz="150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30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เพราะมีแค่ 8 หัว × 64 = 512 (GQA) ไม่ใช่ 2,048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9547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4238244"/>
            <a:ext cx="164592" cy="164592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954780"/>
            <a:ext cx="7635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รวมทั้งโมเดล ≈ 262.7 + 16 × 60.8 ≈ 1,236 ล้าน ≈ 1.24B — ตรงกับชื่อ "1B" และตรงกับที่โค้ดจะนับได้ใน Lab 1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6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 เทคนิคที่ Llama ปรับจากต้นฉบับ — จำแค่ "ทำอะไร" พอ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1906524" cy="3387852"/>
          </a:xfrm>
          <a:prstGeom prst="roundRect">
            <a:avLst>
              <a:gd name="adj" fmla="val 4796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1426464"/>
            <a:ext cx="16139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RMSNorm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03504" y="1901952"/>
            <a:ext cx="1613916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ตัวปรับขนาด vector ก่อนเข้า attention และ feed-forward (33 จุดทั้งโมเดล)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ถ้าไม่ปรับ ตัวเลขจะโตขึ้นเรื่อย ๆ เมื่อผ่าน 16 ชั้นจนเทรนไม่เสถียร — แนวคิดเดียวกับ Batch Norm สัปดาห์ 1 แต่คำนวณน้อยกว่า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564892" y="1298448"/>
            <a:ext cx="1906524" cy="3387852"/>
          </a:xfrm>
          <a:prstGeom prst="roundRect">
            <a:avLst>
              <a:gd name="adj" fmla="val 4796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11196" y="1426464"/>
            <a:ext cx="16139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RoPE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711196" y="1901952"/>
            <a:ext cx="1613916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วิธีบอก "ตำแหน่ง" ของ token — เพราะ attention เทียบ Q กับ K โดยไม่รู้ลำดับ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แทนที่จะบวกตารางตำแหน่ง ใช้วิธี "หมุน" vector ตามตำแหน่ง ไม่มีพารามิเตอร์ และขยาย context ได้ยาว (131k)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72584" y="1298448"/>
            <a:ext cx="1906524" cy="3387852"/>
          </a:xfrm>
          <a:prstGeom prst="roundRect">
            <a:avLst>
              <a:gd name="adj" fmla="val 4796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18888" y="1426464"/>
            <a:ext cx="16139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GQA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818888" y="1901952"/>
            <a:ext cx="1613916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ป้ายชื่อ (K) และเนื้อหา (V) มีแค่ 8 ชุด ให้คำถาม (Q) 32 หัวแบ่งกันใช้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คุ้มเพราะตอน generate ต้องเก็บ K, V ของทุก token เก่าไว้ — เหลือ 8 ชุด หน่วยความจำลด 4 เท่า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780276" y="1298448"/>
            <a:ext cx="1906524" cy="3387852"/>
          </a:xfrm>
          <a:prstGeom prst="roundRect">
            <a:avLst>
              <a:gd name="adj" fmla="val 479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26580" y="1426464"/>
            <a:ext cx="16139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SwiGLU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926580" y="1901952"/>
            <a:ext cx="1613916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feed-forward แบบมี "ประตู": ตาราง gate ตัดสินว่าช่องไหนควรเปิด ตาราง up ให้เนื้อหา คูณกันแล้วหดด้วย down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จึงมี 3 ตาราง (50.3 ล้าน/ชั้น) แทน 2 — เรียนรู้ได้ดีกว่าเมื่อพารามิเตอร์เท่ากัน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6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GQA: ทำไมหัว key/value แค่ 8 ก็พอ</a:t>
            </a:r>
            <a:endParaRPr lang="en-US" sz="2400" dirty="0"/>
          </a:p>
        </p:txBody>
      </p:sp>
      <p:pic>
        <p:nvPicPr>
          <p:cNvPr id="8" name="Image 0" descr="/home/claude/week3/slides/fig/07_gq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060" y="1298448"/>
            <a:ext cx="6975879" cy="2148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" y="3758184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ตอน generate โมเดลต้องจำ key/value ของทุก token ที่ผ่านมา (KV cache) — token ละ 2 × 16 ชั้น × 8 หัว × 64 × 2 ไบต์ = 32 KB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6136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89376" y="3758184"/>
            <a:ext cx="201168" cy="201168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7284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context เต็ม 131,072 token ≈ 4.3 GB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6552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3536" y="3758184"/>
            <a:ext cx="201168" cy="20116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7700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ถ้าไม่มี GQA ≈ 17 GB เกิน GPU T4 (≈ 15 GB)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7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Typhoon2 เกิดจาก Llama อย่างไร</a:t>
            </a:r>
            <a:endParaRPr lang="en-US" sz="2400" dirty="0"/>
          </a:p>
        </p:txBody>
      </p:sp>
      <p:pic>
        <p:nvPicPr>
          <p:cNvPr id="8" name="Image 0" descr="/home/claude/week3/slides/fig/08_typhoon_from_ll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707" y="1298448"/>
            <a:ext cx="7480586" cy="2148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" y="3758184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Continual pretraining = เทรนต่อด้วยวิธีเดียวกับ pretraining แต่ใช้ข้อมูลไทย+อังกฤษ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6136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89376" y="3758184"/>
            <a:ext cx="201168" cy="201168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7284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Post-training = สอนทำตามคำสั่ง + ปรับตามความชอบของมนุษย์ (ตระกูลเดียวกับ RLHF สัปดาห์ 2)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6552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3536" y="3758184"/>
            <a:ext cx="201168" cy="20116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7700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config และ tokenizer เหมือน Llama 3.2-1B ทุกค่า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8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เทียบกับ Qwen3-1.7B: "ดีไซน์" คือการเลือกตัวเลข</a:t>
            </a:r>
            <a:endParaRPr lang="en-US" sz="2400" dirty="0"/>
          </a:p>
        </p:txBody>
      </p:sp>
      <p:pic>
        <p:nvPicPr>
          <p:cNvPr id="8" name="Image 0" descr="/home/claude/week3/slides/fig/09_typhoon_vs_qw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188" y="1298448"/>
            <a:ext cx="7315624" cy="2148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630168"/>
            <a:ext cx="4023360" cy="1056132"/>
          </a:xfrm>
          <a:prstGeom prst="roundRect">
            <a:avLst>
              <a:gd name="adj" fmla="val 6926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" y="3758184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703320"/>
            <a:ext cx="347472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hidden_size เท่ากัน แต่ Qwen3 เลือกชั้นมาก/feed-forward แคบ, หัว attention น้อยแต่ใหญ่ (16 × 128), vocab ใหญ่กว่า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3630168"/>
            <a:ext cx="4023360" cy="1056132"/>
          </a:xfrm>
          <a:prstGeom prst="roundRect">
            <a:avLst>
              <a:gd name="adj" fmla="val 6926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3758184"/>
            <a:ext cx="201168" cy="201168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74920" y="3703320"/>
            <a:ext cx="347472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ขนาดไม่เท่ากัน จึงเทียบได้แค่ "ทางเลือก" ไม่ใช่ "ใครดีกว่า"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8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tokenizer ต่างกัน → ประโยคเดียวกันใช้ token ไม่เท่ากัน</a:t>
            </a:r>
            <a:endParaRPr lang="en-US" sz="2400" dirty="0"/>
          </a:p>
        </p:txBody>
      </p:sp>
      <p:pic>
        <p:nvPicPr>
          <p:cNvPr id="8" name="Image 0" descr="/home/claude/week3/slides/fig/C_tokeniz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898" y="1298448"/>
            <a:ext cx="8150204" cy="2148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" y="3758184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ต่อจาก Lab 1.2 สัปดาห์ 2: ภาษาไทยใช้ token มากกว่าภาษาอังกฤษ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6136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89376" y="3758184"/>
            <a:ext cx="201168" cy="201168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7284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จำนวน token มีผลตรงต่อค่าใช้จ่ายและความยาว context ที่ใช้ได้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6552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3536" y="3758184"/>
            <a:ext cx="201168" cy="20116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7700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ภาพนี้เป็นเชิงแนวคิด จำนวนจริงดูใน Lab 1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9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แล้ว ChatGPT / Claude ล่ะ — ผ่าดูได้ไหม</a:t>
            </a:r>
            <a:endParaRPr lang="en-US" sz="2400" dirty="0"/>
          </a:p>
        </p:txBody>
      </p:sp>
      <p:pic>
        <p:nvPicPr>
          <p:cNvPr id="8" name="Image 0" descr="/home/claude/week3/slides/fig/D_open_vs_clos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707" y="1298448"/>
            <a:ext cx="7480586" cy="2148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630168"/>
            <a:ext cx="8229600" cy="1056132"/>
          </a:xfrm>
          <a:prstGeom prst="roundRect">
            <a:avLst>
              <a:gd name="adj" fmla="val 6926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" y="3758184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703320"/>
            <a:ext cx="768096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โมเดลปิดผ่าไม่ได้ แต่หลักการเดียวกัน (token → ทำนาย token ถัดไป) ใช้อธิบายพฤติกรรมของมันได้ — ช่วงบ่าย Lab 3 จะยิง prompt เดียวกันเข้า Typhoon2 กับ ChatGPT/Claude เทียบกัน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766560" y="1280160"/>
            <a:ext cx="2194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0" b="1" dirty="0">
                <a:solidFill>
                  <a:srgbClr val="2740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B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สาธิตสด · Lab 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ผ่าโมเดลด้วยโค้ด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ผู้สอนรัน notebook บนจอ · นักศึกษาเปิด Lab1_Anatomy_TH.ipynb ตามได้ · ทุกขั้นโยงกลับทฤษฎีที่เพิ่งพูด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147572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1147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1.1–1.2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1.1 · อ่านพิมพ์เขียวโดยไม่โหลด weight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129784" cy="3387852"/>
          </a:xfrm>
          <a:prstGeom prst="roundRect">
            <a:avLst>
              <a:gd name="adj" fmla="val 2159"/>
            </a:avLst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426464"/>
            <a:ext cx="480060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cfg_t = AutoConfig.from_pretrained(TYPHOON)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cfg_q = AutoConfig.from_pretrained(QWEN)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f in ["vocab_size", "hidden_size",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"num_hidden_layers", "num_attention_heads",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"num_key_value_heads", "intermediate_size"]: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print(f, getattr(cfg_t, f), getattr(cfg_q, f))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          Typhoon2 | Qwen3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vocab_size             128256 | 151936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hidden_size              2048 |   2048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num_hidden_layers          16 |     28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num_attention_heads        32 |     16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num_key_value_heads         8 |      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intermediate_size        8192 |   6144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815584" y="1298448"/>
            <a:ext cx="2871216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AutoConfig อ่านแค่ไฟล์ config.json → เร็ว ไม่กินหน่วยความจำ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เทียบกับตาราง config ในสไลด์ "อ่าน config.json" (ขั้นที่ 4): ตรงทุกค่า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Qwen3 ต้องใช้ transformers 4.51 ขึ้นไป (มีในเซลล์ติดตั้ง)</a:t>
            </a:r>
            <a:endParaRPr lang="en-US" sz="125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1.2 ต่อ: ให้ tokenizer สองตัวตัดประโยคไทยเดียวกัน แล้วนับ token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147572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1147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1.3–1.4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1.3–1.4 · โครงสร้างจริง และนับพารามิเตอร์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129784" cy="3387852"/>
          </a:xfrm>
          <a:prstGeom prst="roundRect">
            <a:avLst>
              <a:gd name="adj" fmla="val 2159"/>
            </a:avLst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426464"/>
            <a:ext cx="480060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AutoModelForCausalLM.from_pretrained(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TYPHOON, torch_dtype=torch.float16,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device_map="auto")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print(model)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embed_tokens: Embedding(128256, 2048)   &lt;- (1)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layers: ModuleList(0-15)                &lt;- (2) x16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self_attn: q_proj 2048-&gt;2048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  k_proj 2048-&gt;512   &lt;- GQA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mlp: gate/up 2048-&gt;8192, down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norm: LlamaRMSNorm               &lt;- (3)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lm_head: Linear(2048 -&gt; 128256)  &lt;- (4)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นับพารามิเตอร์แยกตามชิ้น (โค้ดเต็มใน notebook)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embedding     262.7 ล้าน (21%)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attention     167.8 ล้าน (14%)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feed-forward  805.3 ล้าน (65%)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รวม ≈ 1,236 ล้าน ≈ 1.24B  ✓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815584" y="1298448"/>
            <a:ext cx="2871216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โหลดแค่ Typhoon2 ตัวเดียวแบบ float16 (ไม่โหลด Qwen3 เพื่อไม่ให้เกิน RAM ของ Colab ฟรี)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print(model) เรียงตามชิ้น ①–④ พอดี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สังเกต k_proj เล็กกว่า q_proj — นั่นคือ GQA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named_parameters() นับ weight ที่ผูกกัน (tie) ครั้งเดียว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147572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1147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1.5–1.6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1.5 · ส่ง tensor ผ่านทีละชิ้น แล้วดู shape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129784" cy="3387852"/>
          </a:xfrm>
          <a:prstGeom prst="roundRect">
            <a:avLst>
              <a:gd name="adj" fmla="val 2159"/>
            </a:avLst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426464"/>
            <a:ext cx="480060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"เมืองหลวงของประเทศไทยคือ"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 = tok_t(text, return_tensors="pt")   # (1, N)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forward hook = ดักดู output ของแต่ละชิ้น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hook_on(model.model.embed_tokens, "(1) embed")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hook_on(model.model.layers[0],   "(2) layer 0")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hook_on(model.model.layers[15],  "(2) layer 15")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hook_on(model.lm_head,           "(4) lm_head")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= model(**enc)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(1) embed     (1, N, 2048)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(2) layer 0   (1, N, 2048)   &lt;- ไม่เปลี่ยน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(2) layer 15  (1, N, 2048)   &lt;- ตลอด 16 ชั้น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(4) lm_head   (1, N, 128256) &lt;- ขนาด vocab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probs = softmax(out.logits[0, -1])  # token ถัดไป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815584" y="1298448"/>
            <a:ext cx="2871216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shape (1 × N × 2,048) คงที่ตลอด 16 ชั้น — ทุกชั้นรับและส่ง vector ขนาดเดิม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เปลี่ยนเป็น 128,256 (ขนาด vocab) เฉพาะที่ output head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logits ของตำแหน่งสุดท้าย เมื่อผ่าน softmax คือ "ความน่าจะเป็นของ token ถัดไป" ในสไลด์ "ประโยคเดียวที่จะใช้ทั้งวัน"</a:t>
            </a:r>
            <a:endParaRPr lang="en-US" sz="125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1.6 (เสริม): คำนวณ KV cache ว่า context เต็มใช้กี่ GB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303020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1303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สรุปส่วนที่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หลังจบส่วนที่ 1 นักศึกษาควรพูดได้ว่า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7863840" cy="1737360"/>
          </a:xfrm>
          <a:prstGeom prst="roundRect">
            <a:avLst>
              <a:gd name="adj" fmla="val 6316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1417320"/>
            <a:ext cx="7406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"โมเดลนี้เป็น decoder-only 16 ชั้น กว้าง 2,048 มีพารามิเตอร์ราว 1.2 พันล้าน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ต่อยอดจาก Llama 3.2 ด้วยข้อมูลไทย และทุกชิ้นข้างในคือ neural network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ที่ผมเคยเทรนมาแล้วในสัปดาห์แรก"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33756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ถ้ายังพูดไม่ได้ ให้กลับไปดูสไลด์ 'ประกอบโมเดลทีละชิ้น' และตารางอ่าน config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766560" y="1280160"/>
            <a:ext cx="2194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0" b="1" dirty="0">
                <a:solidFill>
                  <a:srgbClr val="2740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B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การเทรน การ fine-tune และการเตรียมข้อมูล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งานของเราควร prompt, RAG หรือ fine-tune · LoRA ทำไมเทรนแค่ 0.3% ก็พอ · ข้อมูลต้องหน้าตาอย่างไร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สามวิธีสอนโมเดล — แก้คนละที่ในสมการเดียวกัน</a:t>
            </a:r>
            <a:endParaRPr lang="en-US" sz="2400" dirty="0"/>
          </a:p>
        </p:txBody>
      </p:sp>
      <p:pic>
        <p:nvPicPr>
          <p:cNvPr id="8" name="Image 0" descr="/home/claude/week3/slides/fig/02_equ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7661" y="1298448"/>
            <a:ext cx="5748679" cy="2148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630168"/>
            <a:ext cx="8229600" cy="1056132"/>
          </a:xfrm>
          <a:prstGeom prst="roundRect">
            <a:avLst>
              <a:gd name="adj" fmla="val 6926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" y="3758184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703320"/>
            <a:ext cx="768096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คำตอบ = โมเดล(input) จึงมีแค่สองที่ให้แก้: prompt และ RAG แก้ที่ input (คำสั่ง / ข้อมูลอ้างอิง) ส่วน fine-tune แก้ที่ตัวโมเดล (weight)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เลือกวิธีให้ตรงปัญหา</a:t>
            </a:r>
            <a:endParaRPr lang="en-US" sz="24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03120"/>
                <a:gridCol w="310896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วิธี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แก้ที่ไหน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เหมาะกับ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ต้นทุน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Prompt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input — ข้อความคำสั่ง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งานที่โมเดลทำได้อยู่แล้ว แค่ต้องบอกให้ชัด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ต่ำสุด ทำได้ทันที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RAG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input — แนบเอกสารที่ค้นมาได้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ความรู้ที่เปลี่ยนบ่อยหรือมีมาก: คู่มือ กฎระเบียบ ข้อมูลองค์กร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ปานกลาง ต้องมีระบบค้น (สัปดาห์ 4)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Fine-tune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ตัวโมเดล — weight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สไตล์ รูปแบบคำตอบ ทักษะเฉพาะ ที่ prompt แล้วยังไม่ได้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สูงกว่า ต้องเตรียมข้อมูลและเทรน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0462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" y="4283964"/>
            <a:ext cx="164592" cy="164592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4046220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กฎง่าย ๆ: ลอง prompt ก่อนเสมอ · "โมเดลไม่รู้ข้อเท็จจริง" → ใช้ RAG · "โมเดลรู้แต่ตอบไม่ถูกแบบ" → จึงค่อย fine-tune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ลำดับการตัดสินใจ</a:t>
            </a:r>
            <a:endParaRPr lang="en-US" sz="2400" dirty="0"/>
          </a:p>
        </p:txBody>
      </p:sp>
      <p:pic>
        <p:nvPicPr>
          <p:cNvPr id="8" name="Image 0" descr="/home/claude/week3/slides/fig/10_deci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169" y="1298448"/>
            <a:ext cx="7899661" cy="338785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Pretraining vs Fine-tuning: เทรนเหมือนกัน ต่างที่ข้อมูลและจุดเริ่ม</a:t>
            </a:r>
            <a:endParaRPr lang="en-US" sz="2400" dirty="0"/>
          </a:p>
        </p:txBody>
      </p:sp>
      <p:pic>
        <p:nvPicPr>
          <p:cNvPr id="8" name="Image 0" descr="/home/claude/week3/slides/fig/B_pretrain_vs_finetu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6706" y="1298448"/>
            <a:ext cx="5690589" cy="2148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630168"/>
            <a:ext cx="8229600" cy="1056132"/>
          </a:xfrm>
          <a:prstGeom prst="roundRect">
            <a:avLst>
              <a:gd name="adj" fmla="val 6926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" y="3758184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703320"/>
            <a:ext cx="768096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Fine-tuning เริ่มจากโมเดลที่เทรนมาแล้ว ใช้ข้อมูลหลักร้อยถึงหลักหมื่น ใช้ GPU ตัวเดียวเป็นนาทีถึงชั่วโมง — หลักการเดียวกับ transfer learning ที่ fine-tune ResNet กับดาต้าเซ็ตเล็กในสัปดาห์ 1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LoRA: แช่แข็ง weight เดิม แล้วเทรนแค่ตารางผอม ๆ</a:t>
            </a:r>
            <a:endParaRPr lang="en-US" sz="2400" dirty="0"/>
          </a:p>
        </p:txBody>
      </p:sp>
      <p:pic>
        <p:nvPicPr>
          <p:cNvPr id="8" name="Image 0" descr="/home/claude/week3/slides/fig/11_lo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8956" y="1298448"/>
            <a:ext cx="5466089" cy="2148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630168"/>
            <a:ext cx="4023360" cy="1056132"/>
          </a:xfrm>
          <a:prstGeom prst="roundRect">
            <a:avLst>
              <a:gd name="adj" fmla="val 6926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" y="3758184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703320"/>
            <a:ext cx="347472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ปัญหาของ fine-tune เต็ม: ต้องเก็บ gradient + optimizer ของทุกค่า ≈ 16 ไบต์/พารามิเตอร์ (weight + gradient + ค่าที่ Adam ต้องจำ) ≈ 20 GB มากกว่า T4 (≈ 15 GB)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3630168"/>
            <a:ext cx="4023360" cy="1056132"/>
          </a:xfrm>
          <a:prstGeom prst="roundRect">
            <a:avLst>
              <a:gd name="adj" fmla="val 6926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3758184"/>
            <a:ext cx="201168" cy="201168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74920" y="3703320"/>
            <a:ext cx="347472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LoRA เทรนเฉพาะ A, B แล้วรวมกลับเข้า W ตอนใช้ หรือเก็บแยกก็ได้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 LoRA เทรนแค่ ~0.3% ก็พอ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98448"/>
            <a:ext cx="8229600" cy="2519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การปรับโมเดลให้ทำงานใหม่ ไม่ต้องขยับ weight ทุกทิศทาง — แค่ไม่กี่ทิศทางก็พอ (low-rank)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แทนการเปลี่ยนแปลงของตาราง 2,048 × 2,048 (4.2 ล้านค่า) ด้วยตารางผอมสองตาราง 2,048 × r และ r × 2,048</a:t>
            </a:r>
            <a:endParaRPr lang="en-US" sz="150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30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 = 16 → 65,536 ค่า = 1.6% ของตารางเดิม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ใส่ใน Q, K, V, O ครบ 16 ชั้น → รวม ≈ 3.4 ล้านค่า ≈ 0.28% ของโมเดล</a:t>
            </a:r>
            <a:endParaRPr lang="en-US" sz="150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30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K, V เล็กกว่า (2,048 × 16 + 16 × 512) เพราะกว้างแค่ 512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9547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4238244"/>
            <a:ext cx="164592" cy="164592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954780"/>
            <a:ext cx="7635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ใน Lab 4 ให้นักศึกษาคำนวณตัวเลขนี้ก่อนรัน แล้วเทียบกับที่โค้ดพิมพ์ออกมา (คาดว่า ≈ 3.4 ล้าน)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QLoRA และไฟล์ adapter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4014216" cy="3387852"/>
          </a:xfrm>
          <a:prstGeom prst="roundRect">
            <a:avLst>
              <a:gd name="adj" fmla="val 2699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1444752"/>
            <a:ext cx="365760" cy="36576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60704" y="1426464"/>
            <a:ext cx="3264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QLoRA = LoRA + โมเดลหลัก 4-bit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03504" y="1901952"/>
            <a:ext cx="3721608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เก็บตัวเลขแต่ละตัวด้วย 4 บิตแทน 16 → ตาราง weight หลักเล็กลงราว 4 เท่า (embedding ยังเก็บ 16-bit) แลกกับความแม่นยำเล็กน้อย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ทำให้โมเดล 1B–8B fine-tune บน GPU T4 ของ Colab ฟรีได้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โมเดล 1B จริง ๆ ใช้ LoRA แบบ 16-bit ก็พอ — ในแล็บใช้ 4-bit เพื่อให้วิธีเดียวกันใช้กับโมเดลใหญ่กว่าได้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72584" y="1298448"/>
            <a:ext cx="4014216" cy="3387852"/>
          </a:xfrm>
          <a:prstGeom prst="roundRect">
            <a:avLst>
              <a:gd name="adj" fmla="val 2699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18888" y="1444752"/>
            <a:ext cx="365760" cy="365760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18888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276088" y="1426464"/>
            <a:ext cx="3264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ผลลัพธ์คือไฟล์ adapter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818888" y="1901952"/>
            <a:ext cx="3721608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LoRA ที่เทรนเสร็จเป็นไฟล์ไม่กี่สิบ MB แยกจากโมเดลหลัก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สลับ "ทักษะ" ได้โดยไม่ต้องเก็บโมเดลใหม่ทั้งตัว — โมเดลหลัก 1 ตัว + adapter หลายตัว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เวลาใช้งานจะรวม (merge) กลับเข้า weight เดิม หรือเก็บแยกแล้วบวกตอนรันก็ได้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chat template คือ "บทละคร" ที่มีป้ายบอกว่าใครพูด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4800600" cy="3387852"/>
          </a:xfrm>
          <a:prstGeom prst="roundRect">
            <a:avLst>
              <a:gd name="adj" fmla="val 2159"/>
            </a:avLst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426464"/>
            <a:ext cx="4471416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สิ่งที่เราเขียน (3 ข้อความ)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[ผู้กำกับ / system] คุณคือระบบวิเคราะห์รีวิว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[ลูกค้า   / user]   กาแฟดีแต่รอนานมาก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[ผู้ช่วย  / assistant] {"sentiment": "ผสม", ...}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สิ่งที่โมเดลเห็นจริง (ไลบรารีใส่ป้ายให้)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&lt;|start_header_id|&gt;system&lt;|end_header_id|&gt;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คุณคือระบบวิเคราะห์รีวิว&lt;|eot_id|&gt;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&lt;|start_header_id|&gt;user&lt;|end_header_id|&gt;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กาแฟดีแต่รอนานมาก&lt;|eot_id|&gt;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&lt;|start_header_id|&gt;assistant&lt;|end_header_id|&gt;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{"sentiment": "ผสม", ...}&lt;|eot_id|&gt;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1298448"/>
            <a:ext cx="3200400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โมเดลรับได้แค่ข้อความยาวต่อกันแล้วเขียนต่อ — ไม่มีช่อง "คำสั่ง" แยก จึงใช้ป้ายพิเศษคั่นเหมือนชื่อตัวละครในบทละคร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แต่ละป้ายเป็น token พิเศษ 1 token · &lt;|eot_id|&gt; = "จบบทพูดคนนี้" โมเดลพ่นออกมาเองเมื่อตอบเสร็จ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โมเดลไม่ได้ "เข้าใจ" ว่าอะไรคือคำสั่ง — มันเห็นป้าย system/user/assistant มาเยอะจนรู้ว่าหลังป้ายไหนควรเขียนอะไร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หลังป้าย assistant คือจุดที่โมเดลเริ่มเขียน — Lab 2 เห็นของจริงพร้อมบรรทัดวันที่ที่ template เติมเอง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รูปแบบข้อมูลที่โมเดล instruct ต้องการ: chat template</a:t>
            </a:r>
            <a:endParaRPr lang="en-US" sz="2400" dirty="0"/>
          </a:p>
        </p:txBody>
      </p:sp>
      <p:pic>
        <p:nvPicPr>
          <p:cNvPr id="8" name="Image 0" descr="/home/claude/week3/slides/fig/12_chat_templ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364" y="1298448"/>
            <a:ext cx="6737272" cy="2148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" y="3758184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โมเดล instruct ถูกเทรนมาให้เห็นบทสนทนาในรูปแบบตายตัว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6136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89376" y="3758184"/>
            <a:ext cx="201168" cy="201168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7284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เราเตรียมแค่ข้อความ 3 ส่วน (system / user / assistant) ไลบรารีเติม token พิเศษให้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6552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3536" y="3758184"/>
            <a:ext cx="201168" cy="20116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7700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คิด loss เฉพาะส่วนคำตอบ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chat template ของ Llama 3 / Typhoon2 หน้าตาจริง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8229600" cy="2519172"/>
          </a:xfrm>
          <a:prstGeom prst="roundRect">
            <a:avLst>
              <a:gd name="adj" fmla="val 2904"/>
            </a:avLst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426464"/>
            <a:ext cx="7900416" cy="2263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&lt;|begin_of_text|&gt;&lt;|start_header_id|&gt;system&lt;|end_header_id|&gt;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Cutting Knowledge Date: December 2023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 Date: 26 Jul 2024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คุณคือระบบวิเคราะห์รีวิวร้านกาแฟ&lt;|eot_id|&gt;&lt;|start_header_id|&gt;user&lt;|end_header_id|&gt;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กาแฟดีแต่รอนานมาก&lt;|eot_id|&gt;&lt;|start_header_id|&gt;assistant&lt;|end_header_id|&gt;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{"sentiment": "ผสม", "issues": ["กาแฟดี", "รอนานมาก"]}&lt;|eot_id|&gt;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9547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4238244"/>
            <a:ext cx="164592" cy="164592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954780"/>
            <a:ext cx="7635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template จริงเติมบรรทัดวันที่ให้อัตโนมัติ (Today Date จะเป็นวันที่รันจริง — นักศึกษาจะเห็นเองใน Lab 2) · สองข้อที่ต้องตั้งให้ถูก: คิด loss เฉพาะส่วน assistant และตอนใช้งานต้องใช้ system prompt เดียวกับตอนเทรน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input กับ label ของ LLM มาจากไหน — ไม่ต้องมีใครติดป้าย</a:t>
            </a:r>
            <a:endParaRPr lang="en-US" sz="24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โมเดลภาพ (สัปดาห์ 1)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โมเดลภาษา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input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รูปเสื้อ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คำทั้งหมดก่อนหน้า: "กาแฟ ดี แต่ รอ"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label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"เสื้อยืด" — คนต้องติดป้ายแยกทีละรูป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คำถัดไปในประโยคเดิม: "นาน" — ซ่อนอยู่ในข้อความอยู่แล้ว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 ตัวอย่างให้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 คู่ input → label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หลายคู่: กาแฟ→ดี · กาแฟ ดี→แต่ · กาแฟ ดี แต่→รอ · …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ตอน fine-tune แบบ chat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บทสนทนา 1 ก้อน = input · label = ก้อนเดียวกันเลื่อนไป 1 token โดย "ปิดตา" (mask) ส่วน system/user → คิด loss เฉพาะคำตอบ assistant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0462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" y="4283964"/>
            <a:ext cx="164592" cy="164592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4046220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หลักการเดียวกับสัปดาห์ 1 ทุกประการ: มี input มี label เทียบกันแล้วปรับ weight — ต่างแค่ label มาจากข้อความเอง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5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การเตรียมข้อมูล 3 กรณี — เป้าหมายเดียวกัน</a:t>
            </a:r>
            <a:endParaRPr lang="en-US" sz="2400" dirty="0"/>
          </a:p>
        </p:txBody>
      </p:sp>
      <p:pic>
        <p:nvPicPr>
          <p:cNvPr id="8" name="Image 0" descr="/home/claude/week3/slides/fig/13_data_pr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15924"/>
            <a:ext cx="5486400" cy="23529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72200" y="1298448"/>
            <a:ext cx="2514600" cy="1019556"/>
          </a:xfrm>
          <a:prstGeom prst="roundRect">
            <a:avLst>
              <a:gd name="adj" fmla="val 7175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0216" y="1426464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0" y="1371600"/>
            <a:ext cx="196596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ได้ "คู่ input → output" ที่โมเดลควรเลียนแบบ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72200" y="2482596"/>
            <a:ext cx="2514600" cy="1019556"/>
          </a:xfrm>
          <a:prstGeom prst="roundRect">
            <a:avLst>
              <a:gd name="adj" fmla="val 7175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0216" y="2610612"/>
            <a:ext cx="201168" cy="201168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83680" y="2555748"/>
            <a:ext cx="196596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output ต้องเป็นของจริงหรือคนตรวจแล้วเสมอ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72200" y="3666744"/>
            <a:ext cx="2514600" cy="1019556"/>
          </a:xfrm>
          <a:prstGeom prst="roundRect">
            <a:avLst>
              <a:gd name="adj" fmla="val 7175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00216" y="3794760"/>
            <a:ext cx="201168" cy="20116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0" y="3739896"/>
            <a:ext cx="196596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หลักร้อยตัวอย่างก็เริ่มเห็นผลสำหรับงานสไตล์และรูปแบบ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5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JSON คืออะไร — และทำไมแล็บถึงให้โมเดลตอบเป็น JSON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3977640" cy="3387852"/>
          </a:xfrm>
          <a:prstGeom prst="roundRect">
            <a:avLst>
              <a:gd name="adj" fmla="val 2159"/>
            </a:avLst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426464"/>
            <a:ext cx="3648456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{"sentiment": "ผสม",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"issues": ["กาแฟดี", "รอนานมาก"],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"price": 350}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กฎมีแค่นี้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{ }   = 1 ก้อนข้อมูล ข้างในเป็นคู่ "ชื่อ": ค่า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[ ]   = รายการหลายค่า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ค่า    = "ข้อความ" / ตัวเลข / true / false / ก้อนซ้อน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โปรแกรมอ่านได้บรรทัดเดียว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 = json.loads(output)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obj["sentiment"]        # → "ผสม"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obj["issues"][1]        # → "รอนานมาก"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298448"/>
            <a:ext cx="4023360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คำตอบของโมเดลมักถูกเอาไปใช้ต่อโดยโปรแกรม ไม่ใช่โดยคน — ถ้าตอบเป็นย่อหน้า โปรแกรมต้องเดาว่าตรงไหนคืออะไร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ผิดรูปแบบนิดเดียว (ลืมปีกกา, มีข้อความห่อ) json.loads จะล้ม → ที่มาของตัวชี้วัด "parse ผ่าน" ใน Lab 2–3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config.json ที่อ่านเมื่อเช้าก็คือไฟล์ JSON ไฟล์หนึ่ง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token แรกของคำตอบ JSON เกือบต้องเป็น { เสมอ → Lab 2 จึงวัด P(ขึ้นต้น JSON) ได้ที่ token แรก</a:t>
            </a:r>
            <a:endParaRPr lang="en-US" sz="12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5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ข้อควรระวังของแต่ละกรณี</a:t>
            </a:r>
            <a:endParaRPr lang="en-US" sz="24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46888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กรณี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ตัวอย่างโจทย์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ข้อควรระวัง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 · สไตล์งานเขียน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อยากให้โมเดลเขียนบทความแบบสำนวนของเรา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อย่าให้ LLM เขียน output ให้ เพราะจะได้สไตล์ของ LLM ไม่ใช่ของเรา · ให้ LLM ช่วยได้เฉพาะ "เขียนคำสั่งย้อนกลับ" จากงานจริง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 · ข้อมูลเฉพาะทาง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คู่มือ/ระเบียบองค์กร อยากให้ตอบในแบบขององค์กร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fine-tune สอน "วิธีตอบ" (อ้างเลขข้อ ใช้ศัพท์ภายใน ปฏิเสธเมื่อไม่แน่ใจ) — ตัวข้อเท็จจริงควรมาจาก RAG เพราะ fine-tune ไม่ได้ "จำ" ได้แม่นและแก้ทีหลังยาก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 · งานเฉพาะรูปแบบ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สกัดข้อมูลเป็น JSON / จัดหมวดหมู่ (ต่อจากการบ้านรีวิวสัปดาห์ 2)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output ทุกข้อต้อง parse ได้ · คลาสไหนตัวอย่างน้อย โมเดลจะเรียนได้ไม่ดี · การกระจายของข้อมูลต้องใกล้กับที่จะใช้จริง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6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ข้อผิดพลาดที่พบบ่อยตอน fine-tune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1906524" cy="3387852"/>
          </a:xfrm>
          <a:prstGeom prst="roundRect">
            <a:avLst>
              <a:gd name="adj" fmla="val 4796"/>
            </a:avLst>
          </a:prstGeom>
          <a:solidFill>
            <a:srgbClr val="F8E0DC"/>
          </a:solidFill>
          <a:ln w="12700">
            <a:solidFill>
              <a:srgbClr val="F8E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1444752"/>
            <a:ext cx="365760" cy="36576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60704" y="1426464"/>
            <a:ext cx="11567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ข้อมูลน้อยแต่เทรนนาน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03504" y="1901952"/>
            <a:ext cx="1613916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โมเดลท่องจำตัวอย่าง แล้วตอบอย่างอื่นแย่ลง = overfitting จากสัปดาห์ 1 กลับมาในร่างใหม่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แก้: มี eval set แล้วหยุดเมื่อ eval loss ไม่ลด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564892" y="1298448"/>
            <a:ext cx="1906524" cy="3387852"/>
          </a:xfrm>
          <a:prstGeom prst="roundRect">
            <a:avLst>
              <a:gd name="adj" fmla="val 4796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11196" y="1444752"/>
            <a:ext cx="365760" cy="36576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11196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168396" y="1426464"/>
            <a:ext cx="11567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ข้อมูลไม่สะอาด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2711196" y="1901952"/>
            <a:ext cx="1613916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output สะกดผิด รูปแบบไม่ตรงกัน ตัวอย่างขัดแย้งกันเอง → โมเดลเรียนความไม่สม่ำเสมอไปด้วย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คุณภาพสำคัญกว่าจำนวน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72584" y="1298448"/>
            <a:ext cx="1906524" cy="3387852"/>
          </a:xfrm>
          <a:prstGeom prst="roundRect">
            <a:avLst>
              <a:gd name="adj" fmla="val 4796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18888" y="1444752"/>
            <a:ext cx="365760" cy="36576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18888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276088" y="1426464"/>
            <a:ext cx="11567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ไม่มีชุดทดสอบก่อนเริ่ม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818888" y="1901952"/>
            <a:ext cx="1613916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ไม่รู้ว่าดีขึ้นจริงหรือแค่รู้สึกว่าดีขึ้น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ควรมีชุดทดสอบ 10–20 ข้อพร้อมคำตอบที่ต้องการก่อนเทรนเสมอ — และแยกชุด "ปรับ prompt" (dev) กับชุด "ตัดสิน" (test)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780276" y="1298448"/>
            <a:ext cx="1906524" cy="3387852"/>
          </a:xfrm>
          <a:prstGeom prst="roundRect">
            <a:avLst>
              <a:gd name="adj" fmla="val 4796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26580" y="1444752"/>
            <a:ext cx="365760" cy="365760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2658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383780" y="1426464"/>
            <a:ext cx="11567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ลืมเทียบกับ prompt ที่ดี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926580" y="1901952"/>
            <a:ext cx="1613916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บางครั้ง prompt เต็ม (รูปแบบ + few-shot) ให้ผลเท่า fine-tune โดยไม่ต้องเทรนเลย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4 จะเทียบกันตรง ๆ บนชุด test เดียวกัน</a:t>
            </a:r>
            <a:endParaRPr lang="en-US" sz="12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303020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1303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สรุปส่วนที่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หลังจบส่วนที่ 2 นักศึกษาควรพูดได้ว่า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7863840" cy="1737360"/>
          </a:xfrm>
          <a:prstGeom prst="roundRect">
            <a:avLst>
              <a:gd name="adj" fmla="val 6316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1417320"/>
            <a:ext cx="7406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"งานนี้ควร prompt / RAG / fine-tune เพราะ...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 fine-tune ผมต้องเตรียมคู่ input → output ในรูป chat template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ประมาณ ... ตัวอย่าง และวัดผลด้วยชุดทดสอบที่แยกไว้"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33756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ลองเติมประโยคนี้ด้วยงานของตัวเอง 1 งาน</a:t>
            </a:r>
            <a:endParaRPr lang="en-US" sz="13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766560" y="1280160"/>
            <a:ext cx="2194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0" b="1" dirty="0">
                <a:solidFill>
                  <a:srgbClr val="2740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B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Prompt ทำงานอย่างไรในโมเดล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เปลี่ยนการ prompt จาก "เคล็ดลับที่ต้องท่อง" เป็นสิ่งที่อธิบายได้จากกลไก · prompt ดีกับไม่ดีต่างกันตรงไหน "ข้างใน" โมเดล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เส้นทางของ prompt: 6 ขั้นจากข้อความถึงคำตอบ</a:t>
            </a:r>
            <a:endParaRPr lang="en-US" sz="2400" dirty="0"/>
          </a:p>
        </p:txBody>
      </p:sp>
      <p:pic>
        <p:nvPicPr>
          <p:cNvPr id="8" name="Image 0" descr="/home/claude/week3/slides/fig/14_prompt_p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15924"/>
            <a:ext cx="5486400" cy="23529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72200" y="1298448"/>
            <a:ext cx="2514600" cy="3387852"/>
          </a:xfrm>
          <a:prstGeom prst="roundRect">
            <a:avLst>
              <a:gd name="adj" fmla="val 2909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0216" y="1426464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0" y="1371600"/>
            <a:ext cx="1965960" cy="3241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system prompt, few-shot และคำถาม ล้วนเป็นแค่ token ที่ต่อกันข้างหน้า — โมเดลไม่ได้ "รู้ว่านี่คือคำสั่ง" มันแค่ทำนาย token ถัดไป โดยมี token เหล่านั้นให้ attention ดึงข้อมูล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 ①–③: ก่อนถึงโมเดล ทุกอย่างกลายเป็นตัวเลขแล้ว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98448"/>
            <a:ext cx="8229600" cy="2519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① Chat template</a:t>
            </a:r>
            <a:endParaRPr lang="en-US" sz="150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30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ข้อความถูกห่อด้วย token พิเศษ system / user / assistant แบบเดียวกับข้อมูลที่ใช้เทรน (ส่วนที่ 2 ขั้นที่ 4)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② Tokenize</a:t>
            </a:r>
            <a:endParaRPr lang="en-US" sz="150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30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ตัดเป็น token แล้วแปลงเป็น id — จำนวน token คือสิ่งที่เสียเงินและกิน context (prompt ยาว = แพงขึ้น)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③ Embedding</a:t>
            </a:r>
            <a:endParaRPr lang="en-US" sz="150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30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 token กลายเป็น vector ยาว 2,048 — ณ จุดนี้ "คำสั่ง" กับ "คำถาม" ไม่มีอะไรต่างกันในสายตาโมเดล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④–⑥ ต่อไป</a:t>
            </a:r>
            <a:endParaRPr lang="en-US" sz="150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30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ผ่าน 16 ชั้น (attention ดึงจาก token ก่อนหน้า) → logits → softmax → sampling เลือก 1 token แล้ววนกลับ ③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9547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4238244"/>
            <a:ext cx="164592" cy="164592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954780"/>
            <a:ext cx="7635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logits = คะแนนดิบของทุก token ก่อนเข้า softmax (เห็นแล้วใน Lab 1.5 และจะใช้อีกใน Lab 2)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 prompt ถึงมีผล — อธิบายจากกลไก 3 อย่าง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2609088" cy="3387852"/>
          </a:xfrm>
          <a:prstGeom prst="roundRect">
            <a:avLst>
              <a:gd name="adj" fmla="val 3505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1444752"/>
            <a:ext cx="365760" cy="36576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60704" y="1426464"/>
            <a:ext cx="185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Attention ดึงได้เฉพาะสิ่งใน context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03504" y="1901952"/>
            <a:ext cx="2316480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สิ่งที่ไม่ได้เขียนไว้ โมเดลต้อง "เดา" จากที่เคยเห็นตอนเทรน — สาเหตุหลักอย่างหนึ่งของ hallucination (สัปดาห์ 2)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 การให้บริบทคือการเปลี่ยนจาก "เดา" เป็น "ดึง"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67456" y="1298448"/>
            <a:ext cx="2609088" cy="3387852"/>
          </a:xfrm>
          <a:prstGeom prst="roundRect">
            <a:avLst>
              <a:gd name="adj" fmla="val 3505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13760" y="1444752"/>
            <a:ext cx="365760" cy="365760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1376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870960" y="1426464"/>
            <a:ext cx="185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Instruction tuning ทำให้ตอบสนองรูปแบบคำสั่ง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3413760" y="1901952"/>
            <a:ext cx="2316480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post-training (base → instruct, RLHF ในสัปดาห์ 2) ให้โมเดลเห็นตัวอย่างจำนวนมากว่า "คำสั่งแบบนี้ตามด้วยคำตอบแบบนี้"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 คำสั่งชัด + ระบุรูปแบบ = "เรียก" รูปแบบที่มันเคยเรียน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77712" y="1298448"/>
            <a:ext cx="2609088" cy="3387852"/>
          </a:xfrm>
          <a:prstGeom prst="roundRect">
            <a:avLst>
              <a:gd name="adj" fmla="val 3505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24016" y="1444752"/>
            <a:ext cx="365760" cy="36576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24016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81216" y="1426464"/>
            <a:ext cx="185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Sampling เลือกจากการกระจายความน่าจะเป็น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224016" y="1901952"/>
            <a:ext cx="2316480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prompt คลุมเครือ → ความน่าจะเป็นกระจายหลายทาง → ผลเปลี่ยนทุกครั้งที่รัน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prompt ชัด → เกาะกลุ่ม → ผลนิ่ง (temperature/top-p จาก Lab 3 สัปดาห์ 2 คุมความเด็ดขาดในการเลือก)</a:t>
            </a:r>
            <a:endParaRPr lang="en-US" sz="12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prompt ดี vs ไม่ดี: โจทย์เดียวกัน (สรุปรีวิวเป็น JSON)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129784" cy="3387852"/>
          </a:xfrm>
          <a:prstGeom prst="roundRect">
            <a:avLst>
              <a:gd name="adj" fmla="val 2159"/>
            </a:avLst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426464"/>
            <a:ext cx="480060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· คลุมเครือ (ไม่ได้บอกด้วยซ้ำว่าอยากได้ JSON)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สรุปรีวิวนี้หน่อย: กาแฟดีแต่รอนานมาก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 · สั้น (ขอ JSON แต่ไม่บอกรูปแบบ ไม่มีตัวอย่าง)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สรุปรีวิวนี้เป็น JSON: กาแฟดีแต่รอนานมาก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 · เต็ม (4 ส่วน)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[บทบาท]   คุณคือระบบวิเคราะห์รีวิวร้านกาแฟ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[รูปแบบ]  ตอบเป็น JSON เท่านั้น ไม่ต้องอธิบาย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field: sentiment (บวก/ลบ/ผสม), issues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[ตัวอย่าง] รีวิว "ขนมอร่อย ที่จอดรถหายาก" 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{"sentiment": "ผสม",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"issues": ["ขนมอร่อย", "ที่จอดรถหายาก"]}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[รีวิว]   ตอนนี้วิเคราะห์รีวิวนี้: กาแฟดีแต่รอนานมาก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815584" y="1298448"/>
            <a:ext cx="2871216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ระดับ B อยู่ตรงกลางเพื่อให้การเทียบยุติธรรม — ถ้า B ได้ผลใกล้ C แปลว่าโจทย์นี้แค่ "ขอ JSON" ก็พอ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 C แยกเป็น 4 ส่วน เพราะ Lab 2 จะ "ถอด" ทีละส่วนเพื่อดูว่าส่วนไหนทำงาน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 ยาวกว่า A หลายเท่า = ต้นทุน token ที่แลกมา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ต่อไปจะตามทั้งสามระดับไปตามเส้นทาง 6 ขั้น (ตัวอย่างในสไลด์ถัดไปเทียบแค่ A กับ C ให้เห็นภาพ)</a:t>
            </a:r>
            <a:endParaRPr lang="en-US" sz="12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ตามดูทีละขั้น: ที่ token แรกของคำตอบต่างกันอย่างไร</a:t>
            </a:r>
            <a:endParaRPr lang="en-US" sz="2400" dirty="0"/>
          </a:p>
        </p:txBody>
      </p:sp>
      <p:pic>
        <p:nvPicPr>
          <p:cNvPr id="8" name="Image 0" descr="/home/claude/week3/slides/fig/15_good_vs_b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8456"/>
            <a:ext cx="5486400" cy="314783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72200" y="1298448"/>
            <a:ext cx="2514600" cy="1019556"/>
          </a:xfrm>
          <a:prstGeom prst="roundRect">
            <a:avLst>
              <a:gd name="adj" fmla="val 7175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0216" y="1426464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0" y="1371600"/>
            <a:ext cx="196596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 ④: attention รายส่วนไปตกที่ตัวอย่างและคำสั่งรูปแบบ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72200" y="2482596"/>
            <a:ext cx="2514600" cy="1019556"/>
          </a:xfrm>
          <a:prstGeom prst="roundRect">
            <a:avLst>
              <a:gd name="adj" fmla="val 7175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0216" y="2610612"/>
            <a:ext cx="201168" cy="201168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83680" y="2555748"/>
            <a:ext cx="196596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 ⑤: prompt ไม่ดี → ความน่าจะเป็นกระจาย, prompt ดี → เกาะกลุ่มที่ token ที่ขึ้นต้น JSON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72200" y="3666744"/>
            <a:ext cx="2514600" cy="1019556"/>
          </a:xfrm>
          <a:prstGeom prst="roundRect">
            <a:avLst>
              <a:gd name="adj" fmla="val 7175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00216" y="3794760"/>
            <a:ext cx="201168" cy="20116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0" y="3739896"/>
            <a:ext cx="196596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"กระจาย/เกาะกลุ่ม" วัดเป็นตัวเลขเดียวด้วย entropy (บิต): 0 = มั่นใจ token เดียว, 3 ≈ ลังเลระหว่าง 8 token (ตัวเลขในภาพสมมติ ค่าจริงดูใน Lab 2)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ข้อควรระวังตอนดู attention: attention sink</a:t>
            </a:r>
            <a:endParaRPr lang="en-US" sz="2400" dirty="0"/>
          </a:p>
        </p:txBody>
      </p:sp>
      <p:pic>
        <p:nvPicPr>
          <p:cNvPr id="8" name="Image 0" descr="/home/claude/week3/slides/fig/A_attention_s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0702" y="1298448"/>
            <a:ext cx="6622596" cy="2148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" y="3758184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heatmap ดิบมักเห็นน้ำหนักกองที่ token แรกและ token พิเศษ — ปกติของโมเดลตระกูลนี้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6136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89376" y="3758184"/>
            <a:ext cx="201168" cy="201168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7284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ต้องตัด token พิเศษออก normalize ใหม่ แล้วรวมเป็นรายส่วน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6552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3536" y="3758184"/>
            <a:ext cx="201168" cy="20116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7700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attention เป็นเพียง "ร่องรอย" ไม่ใช่คำอธิบาย — หลักฐานจริงคือการถอด prompt ทีละส่วน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ระวังตอนวัดความน่าจะเป็น: "ขึ้นต้น JSON" มีหลาย token</a:t>
            </a:r>
            <a:endParaRPr lang="en-US" sz="2400" dirty="0"/>
          </a:p>
        </p:txBody>
      </p:sp>
      <p:pic>
        <p:nvPicPr>
          <p:cNvPr id="8" name="Image 0" descr="/home/claude/week3/slides/fig/G_json_gro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98448"/>
            <a:ext cx="8229600" cy="178132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262651"/>
            <a:ext cx="4023360" cy="1423649"/>
          </a:xfrm>
          <a:prstGeom prst="roundRect">
            <a:avLst>
              <a:gd name="adj" fmla="val 5138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" y="3390667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335803"/>
            <a:ext cx="3474720" cy="1277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tokenizer อาจมี {" เป็น token เดียว และโมเดลเล็กมักขึ้นต้นด้วย ```json — ดูแค่ "{" ตัวเดียวจะได้ค่าต่ำทั้งที่โมเดลกำลังจะตอบ JSON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3262651"/>
            <a:ext cx="4023360" cy="1423649"/>
          </a:xfrm>
          <a:prstGeom prst="roundRect">
            <a:avLst>
              <a:gd name="adj" fmla="val 5138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3390667"/>
            <a:ext cx="201168" cy="201168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74920" y="3335803"/>
            <a:ext cx="3474720" cy="1277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ตอน parse ให้ตัด ``` ออกก่อน json.loads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 ⑥: รัน 5 ครั้ง แล้วถอดทีละส่วน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98448"/>
            <a:ext cx="8229600" cy="2519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ทุกระดับ (A/B/C) วัดด้วยตัวชี้วัดชุดเดียวกัน</a:t>
            </a:r>
            <a:endParaRPr lang="en-US" sz="150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30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จำนวน token (ต้นทุน) · entropy ของ token แรก (กระจาย/เกาะกลุ่ม) · P(ขึ้นต้น JSON) · อัตรา parse ผ่านเมื่อรัน 5 ครั้งที่ temperature 0.7</a:t>
            </a:r>
            <a:endParaRPr lang="en-US" sz="150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30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คาด: A → C token เพิ่ม entropy ลด P(JSON) เพิ่ม parse ผ่านเพิ่ม — แต่ค่าจริงอาจไม่สวย และนั่นคือประเด็นอภิปราย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ถอด prompt C ทีละส่วน (เหลือ 3 ส่วน)</a:t>
            </a:r>
            <a:endParaRPr lang="en-US" sz="150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30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− บทบาท / − คำสั่งรูปแบบ / − ตัวอย่าง แล้ววัดด้วยตัวชี้วัดชุดเดิม</a:t>
            </a:r>
            <a:endParaRPr lang="en-US" sz="150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30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นี่คือหลักฐานที่หนักแน่นที่สุดว่า "ส่วนไหนของ prompt ทำงาน"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คำตอบไม่จำเป็นต้องเหมือนกันทุกโจทย์</a:t>
            </a:r>
            <a:endParaRPr lang="en-US" sz="150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30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โจทย์ที่ต้องการรูปแบบ → คำสั่งรูปแบบและตัวอย่างมักสำคัญที่สุด · โจทย์ที่ต้องการน้ำเสียง → บทบาทสำคัญกว่า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9547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4238244"/>
            <a:ext cx="164592" cy="164592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954780"/>
            <a:ext cx="7635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ทั้งหมดนี้คือ Lab 2 ของบ่ายนี้ — นักศึกษาจะได้ตัวเลขจริงของตัวเอง</a:t>
            </a:r>
            <a:endParaRPr lang="en-US" sz="13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 prompt 5 ข้อ — แต่ละข้อมีเหตุผลจากกลไก</a:t>
            </a:r>
            <a:endParaRPr lang="en-US" sz="24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743200"/>
                <a:gridCol w="3749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หลักการ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ทำอย่างไร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เหตุผลจากกลไก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ให้บริบท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ใส่ข้อมูลที่ต้องใช้ตอบลงไปใน prompt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attention ดึงได้เฉพาะสิ่งใน context · ลดการเดา = ลด hallucination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ระบุรูปแบบ output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บอกชัด: JSON / ตาราง / 3 ข้อ / ไม่เกิน 50 คำ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โมเดลทำนาย "รูปแบบ" เก่งกว่าทำนาย "ความตั้งใจ" ที่ไม่ได้พูด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ให้ตัวอย่าง (few-shot)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ใส่คู่ input → output 1–3 คู่ก่อนโจทย์จริง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เรียนรูปแบบจาก context ได้ทันที (in-context learning) เหมือน fine-tune ชั่วคราวโดยไม่เปลี่ยน weight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ให้คิดเป็นขั้น (CoT)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"อธิบายเหตุผลทีละขั้นก่อนสรุป"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โมเดลทำนายทีละ token — ให้มันเขียนขั้นกลางออกมา = token ถัดไปมีข้อมูลระหว่างทางให้ดึง (โมเดลเล็กได้ประโยชน์น้อยกว่า)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กำหนดบทบาท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"คุณคือนักบัญชีที่อธิบายให้คนทั่วไปฟัง"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เปลี่ยนการกระจายความน่าจะเป็นไปยังกลุ่มคำและน้ำเสียงที่พบคู่กับบทบาทนั้น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0462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" y="4283964"/>
            <a:ext cx="164592" cy="164592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4046220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3 ไล่ระดับทีละตัวแปร: L0 zero-shot → L1 + รูปแบบ → L2 + few-shot → L3 + บทบาท (CoT ทดลองแยก) แล้ววัดคะแนนบนชุด dev — คะแนนนับ "รูปแบบถูก" ด้วย</a:t>
            </a:r>
            <a:endParaRPr lang="en-US" sz="13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5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กรอบสรุปของวัน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7863840" cy="1737360"/>
          </a:xfrm>
          <a:prstGeom prst="roundRect">
            <a:avLst>
              <a:gd name="adj" fmla="val 6316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1417320"/>
            <a:ext cx="7406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Fine-tune เปลี่ยน "ตัวโมเดล"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Prompt เปลี่ยน "คำสั่ง" ใน input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RAG เปลี่ยน "ข้อมูลอ้างอิง" ใน input (ค้นมาใส่ให้อัตโนมัติ)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33756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ทั้งหมดคือการแก้หนึ่งในสองตำแหน่งของสมการ คำตอบ = โมเดล(input) · RAG เป็นเนื้อหาสัปดาห์ 4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บ่ายนี้ลงมือ prompt (Lab 2–3) และ fine-tune (Lab 4) แล้วปิดด้วยการเทียบ 3 แนวทาง: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(1) zero-shot (2) prompt เต็ม (รูปแบบ + few-shot) (3) fine-tune + prompt สั้น</a:t>
            </a:r>
            <a:endParaRPr lang="en-US" sz="13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303020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1303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สรุปส่วนที่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หลังจบส่วนที่ 3 นักศึกษาควรพูดได้ว่า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7863840" cy="1737360"/>
          </a:xfrm>
          <a:prstGeom prst="roundRect">
            <a:avLst>
              <a:gd name="adj" fmla="val 6316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1417320"/>
            <a:ext cx="7406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"prompt นี้ดีกว่าเพราะให้บริบทที่ attention ดึงได้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ระบุรูปแบบที่โมเดลเคยเห็น และทำให้ความน่าจะเป็นของ token แรกเกาะกลุ่ม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ผลจึงนิ่งและถูกรูปแบบ"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33756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ไม่ใช่ "เพราะมันเป็นเคล็ดลับที่เขาบอกกันมา"</a:t>
            </a:r>
            <a:endParaRPr lang="en-US" sz="13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ช่วงบ่าย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บ่ายนี้ทำอะไร</a:t>
            </a:r>
            <a:endParaRPr lang="en-US" sz="2400" dirty="0"/>
          </a:p>
        </p:txBody>
      </p:sp>
      <p:pic>
        <p:nvPicPr>
          <p:cNvPr id="8" name="Image 0" descr="/home/claude/week3/slides/fig/E_lab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98448"/>
            <a:ext cx="8229600" cy="207543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556763"/>
            <a:ext cx="2621280" cy="1129537"/>
          </a:xfrm>
          <a:prstGeom prst="roundRect">
            <a:avLst>
              <a:gd name="adj" fmla="val 6476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" y="3684779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629915"/>
            <a:ext cx="2072640" cy="983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ทุกแล็บบน Colab T4 ด้วย Typhoon2-1B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61360" y="3556763"/>
            <a:ext cx="2621280" cy="1129537"/>
          </a:xfrm>
          <a:prstGeom prst="roundRect">
            <a:avLst>
              <a:gd name="adj" fmla="val 6476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89376" y="3684779"/>
            <a:ext cx="201168" cy="201168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72840" y="3629915"/>
            <a:ext cx="2072640" cy="983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3 ใช้ชุด dev 10 ข้อปรับ prompt และ Lab 4 เปิดชุด test 20 ข้อครั้งแรกเพื่อเทียบ 3 แนวทาง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65520" y="3556763"/>
            <a:ext cx="2621280" cy="1129537"/>
          </a:xfrm>
          <a:prstGeom prst="roundRect">
            <a:avLst>
              <a:gd name="adj" fmla="val 6476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3536" y="3684779"/>
            <a:ext cx="201168" cy="20116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77000" y="3629915"/>
            <a:ext cx="2072640" cy="983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เซลล์ติดตั้งของ Lab 4 ให้รันในช่วงพักก่อนเริ่ม Lab 4 (ใช้ 2–5 นาที)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ช่วงเช้า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60350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สรุปช่วงเช้า 3 ข้อ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98448"/>
            <a:ext cx="8229600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· LLM = ฟังก์ชันทำนาย token ถัดไป ประกอบจากชิ้นส่วน 4 ประเภทที่ล้วนเป็น neural network แบบสัปดาห์ 1</a:t>
            </a:r>
            <a:endParaRPr lang="en-US" sz="130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10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Typhoon2-1B = โครงสร้าง Llama 3.2 (16 ชั้น กว้าง 2,048 ≈ 1.24B) ที่เทรนต่อด้วยข้อมูลไทย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· จะสอนโมเดลเพิ่ม มีสองที่ให้แก้: input (prompt, RAG) หรือ weight (fine-tune ด้วย LoRA ≈ 0.3% ของโมเดล)</a:t>
            </a:r>
            <a:endParaRPr lang="en-US" sz="130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10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 fine-tune = คู่ input → output ในรูป chat template · แยกชุด dev / test เสมอ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· prompt มีผลเพราะ attention ดึงได้เฉพาะสิ่งใน context, instruction tuning ตอบสนองรูปแบบคำสั่ง และ sampling เลือกจากการกระจาย</a:t>
            </a:r>
            <a:endParaRPr lang="en-US" sz="130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10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prompt ดี = ทำให้ความน่าจะเป็นของ token แรก "เกาะกลุ่ม" — วัดได้จริงใน Lab 2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ดร.ธีรพงศ์ อรชร</dc:creator>
  <cp:lastModifiedBy>ดร.ธีรพงศ์ อรชร</cp:lastModifiedBy>
  <cp:revision>1</cp:revision>
  <dcterms:created xsi:type="dcterms:W3CDTF">2026-09-26T17:26:16Z</dcterms:created>
  <dcterms:modified xsi:type="dcterms:W3CDTF">2026-09-26T17:26:16Z</dcterms:modified>
</cp:coreProperties>
</file>